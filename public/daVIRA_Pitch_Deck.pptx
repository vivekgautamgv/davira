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571500"/>
            <a:ext cx="10953750" cy="55245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2500" y="952500"/>
            <a:ext cx="7620000" cy="228600"/>
          </a:xfrm>
          <a:prstGeom prst="rect">
            <a:avLst/>
          </a:prstGeom>
          <a:noFill/>
        </p:spPr>
        <p:txBody>
          <a:bodyPr wrap="square" lIns="0" tIns="0" rIns="0" bIns="0">
            <a:spAutoFit/>
          </a:bodyPr>
          <a:lstStyle/>
          <a:p>
            <a:pPr algn="l">
              <a:defRPr sz="1050" b="1">
                <a:solidFill>
                  <a:srgbClr val="0284C7"/>
                </a:solidFill>
                <a:latin typeface="Arial"/>
              </a:defRPr>
            </a:pPr>
            <a:r>
              <a:t>INSTITUTIONAL ON-CHAIN ALPHA &amp; ALGORITHMIC TRADING</a:t>
            </a:r>
          </a:p>
        </p:txBody>
      </p:sp>
      <p:sp>
        <p:nvSpPr>
          <p:cNvPr id="5" name="TextBox 4"/>
          <p:cNvSpPr txBox="1"/>
          <p:nvPr/>
        </p:nvSpPr>
        <p:spPr>
          <a:xfrm>
            <a:off x="952500" y="1276350"/>
            <a:ext cx="9525000" cy="685800"/>
          </a:xfrm>
          <a:prstGeom prst="rect">
            <a:avLst/>
          </a:prstGeom>
          <a:noFill/>
        </p:spPr>
        <p:txBody>
          <a:bodyPr wrap="square" lIns="0" tIns="0" rIns="0" bIns="0">
            <a:spAutoFit/>
          </a:bodyPr>
          <a:lstStyle/>
          <a:p>
            <a:pPr algn="l">
              <a:defRPr sz="4050" b="1">
                <a:solidFill>
                  <a:srgbClr val="0F172A"/>
                </a:solidFill>
                <a:latin typeface="Arial"/>
              </a:defRPr>
            </a:pPr>
            <a:r>
              <a:t>daVIRA Intelligence</a:t>
            </a:r>
          </a:p>
        </p:txBody>
      </p:sp>
      <p:sp>
        <p:nvSpPr>
          <p:cNvPr id="6" name="TextBox 5"/>
          <p:cNvSpPr txBox="1"/>
          <p:nvPr/>
        </p:nvSpPr>
        <p:spPr>
          <a:xfrm>
            <a:off x="952500" y="2038349"/>
            <a:ext cx="9525000" cy="342900"/>
          </a:xfrm>
          <a:prstGeom prst="rect">
            <a:avLst/>
          </a:prstGeom>
          <a:noFill/>
        </p:spPr>
        <p:txBody>
          <a:bodyPr wrap="square" lIns="0" tIns="0" rIns="0" bIns="0">
            <a:spAutoFit/>
          </a:bodyPr>
          <a:lstStyle/>
          <a:p>
            <a:pPr algn="l">
              <a:defRPr sz="1650" b="0">
                <a:solidFill>
                  <a:srgbClr val="475569"/>
                </a:solidFill>
                <a:latin typeface="Arial"/>
              </a:defRPr>
            </a:pPr>
            <a:r>
              <a:t>Building the Premier Quantitative Powerhouse from India to the Globe</a:t>
            </a:r>
          </a:p>
        </p:txBody>
      </p:sp>
      <p:sp>
        <p:nvSpPr>
          <p:cNvPr id="7" name="Rounded Rectangle 6"/>
          <p:cNvSpPr/>
          <p:nvPr/>
        </p:nvSpPr>
        <p:spPr>
          <a:xfrm>
            <a:off x="952500" y="2667000"/>
            <a:ext cx="2400300" cy="20002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52500" y="2667000"/>
            <a:ext cx="2400300" cy="3810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4900" y="2838450"/>
            <a:ext cx="2095499" cy="419100"/>
          </a:xfrm>
          <a:prstGeom prst="rect">
            <a:avLst/>
          </a:prstGeom>
          <a:noFill/>
        </p:spPr>
        <p:txBody>
          <a:bodyPr wrap="square" lIns="0" tIns="0" rIns="0" bIns="0">
            <a:spAutoFit/>
          </a:bodyPr>
          <a:lstStyle/>
          <a:p>
            <a:pPr algn="l">
              <a:defRPr sz="1200" b="1">
                <a:solidFill>
                  <a:srgbClr val="0F172A"/>
                </a:solidFill>
                <a:latin typeface="Arial"/>
              </a:defRPr>
            </a:pPr>
            <a:r>
              <a:t>Multi-Chain Smart Money</a:t>
            </a:r>
          </a:p>
        </p:txBody>
      </p:sp>
      <p:sp>
        <p:nvSpPr>
          <p:cNvPr id="10" name="TextBox 9"/>
          <p:cNvSpPr txBox="1"/>
          <p:nvPr/>
        </p:nvSpPr>
        <p:spPr>
          <a:xfrm>
            <a:off x="1104900" y="3314700"/>
            <a:ext cx="2095499" cy="1200150"/>
          </a:xfrm>
          <a:prstGeom prst="rect">
            <a:avLst/>
          </a:prstGeom>
          <a:noFill/>
        </p:spPr>
        <p:txBody>
          <a:bodyPr wrap="square" lIns="0" tIns="0" rIns="0" bIns="0">
            <a:spAutoFit/>
          </a:bodyPr>
          <a:lstStyle/>
          <a:p>
            <a:pPr algn="l">
              <a:defRPr sz="975" b="0">
                <a:solidFill>
                  <a:srgbClr val="475569"/>
                </a:solidFill>
                <a:latin typeface="Arial"/>
              </a:defRPr>
            </a:pPr>
            <a:r>
              <a:t>Real-time 4-way flow decomposition &amp; sub-minute wallet radar on Hyperliquid &amp; cross-chain DEXs.</a:t>
            </a:r>
          </a:p>
        </p:txBody>
      </p:sp>
      <p:sp>
        <p:nvSpPr>
          <p:cNvPr id="11" name="Rounded Rectangle 10"/>
          <p:cNvSpPr/>
          <p:nvPr/>
        </p:nvSpPr>
        <p:spPr>
          <a:xfrm>
            <a:off x="3505200" y="2667000"/>
            <a:ext cx="2400300" cy="20002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05200" y="2667000"/>
            <a:ext cx="2400300" cy="38100"/>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2838450"/>
            <a:ext cx="2095499" cy="419100"/>
          </a:xfrm>
          <a:prstGeom prst="rect">
            <a:avLst/>
          </a:prstGeom>
          <a:noFill/>
        </p:spPr>
        <p:txBody>
          <a:bodyPr wrap="square" lIns="0" tIns="0" rIns="0" bIns="0">
            <a:spAutoFit/>
          </a:bodyPr>
          <a:lstStyle/>
          <a:p>
            <a:pPr algn="l">
              <a:defRPr sz="1200" b="1">
                <a:solidFill>
                  <a:srgbClr val="0F172A"/>
                </a:solidFill>
                <a:latin typeface="Arial"/>
              </a:defRPr>
            </a:pPr>
            <a:r>
              <a:t>Cross-Asset Whole Market</a:t>
            </a:r>
          </a:p>
        </p:txBody>
      </p:sp>
      <p:sp>
        <p:nvSpPr>
          <p:cNvPr id="14" name="TextBox 13"/>
          <p:cNvSpPr txBox="1"/>
          <p:nvPr/>
        </p:nvSpPr>
        <p:spPr>
          <a:xfrm>
            <a:off x="3657600" y="3314700"/>
            <a:ext cx="2095499" cy="1200150"/>
          </a:xfrm>
          <a:prstGeom prst="rect">
            <a:avLst/>
          </a:prstGeom>
          <a:noFill/>
        </p:spPr>
        <p:txBody>
          <a:bodyPr wrap="square" lIns="0" tIns="0" rIns="0" bIns="0">
            <a:spAutoFit/>
          </a:bodyPr>
          <a:lstStyle/>
          <a:p>
            <a:pPr algn="l">
              <a:defRPr sz="975" b="0">
                <a:solidFill>
                  <a:srgbClr val="475569"/>
                </a:solidFill>
                <a:latin typeface="Arial"/>
              </a:defRPr>
            </a:pPr>
            <a:r>
              <a:t>Unified real-time tracking of crypto, US equities (NVDA, TSLA), and commodities (Gold, Oil).</a:t>
            </a:r>
          </a:p>
        </p:txBody>
      </p:sp>
      <p:sp>
        <p:nvSpPr>
          <p:cNvPr id="15" name="Rounded Rectangle 14"/>
          <p:cNvSpPr/>
          <p:nvPr/>
        </p:nvSpPr>
        <p:spPr>
          <a:xfrm>
            <a:off x="6057900" y="2667000"/>
            <a:ext cx="2400300" cy="20002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57900" y="2667000"/>
            <a:ext cx="2400300" cy="38100"/>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0300" y="2838450"/>
            <a:ext cx="2095499" cy="419100"/>
          </a:xfrm>
          <a:prstGeom prst="rect">
            <a:avLst/>
          </a:prstGeom>
          <a:noFill/>
        </p:spPr>
        <p:txBody>
          <a:bodyPr wrap="square" lIns="0" tIns="0" rIns="0" bIns="0">
            <a:spAutoFit/>
          </a:bodyPr>
          <a:lstStyle/>
          <a:p>
            <a:pPr algn="l">
              <a:defRPr sz="1200" b="1">
                <a:solidFill>
                  <a:srgbClr val="0F172A"/>
                </a:solidFill>
                <a:latin typeface="Arial"/>
              </a:defRPr>
            </a:pPr>
            <a:r>
              <a:t>LLM Intelligence Copilot</a:t>
            </a:r>
          </a:p>
        </p:txBody>
      </p:sp>
      <p:sp>
        <p:nvSpPr>
          <p:cNvPr id="18" name="TextBox 17"/>
          <p:cNvSpPr txBox="1"/>
          <p:nvPr/>
        </p:nvSpPr>
        <p:spPr>
          <a:xfrm>
            <a:off x="6210300" y="3314700"/>
            <a:ext cx="2095499" cy="1200150"/>
          </a:xfrm>
          <a:prstGeom prst="rect">
            <a:avLst/>
          </a:prstGeom>
          <a:noFill/>
        </p:spPr>
        <p:txBody>
          <a:bodyPr wrap="square" lIns="0" tIns="0" rIns="0" bIns="0">
            <a:spAutoFit/>
          </a:bodyPr>
          <a:lstStyle/>
          <a:p>
            <a:pPr algn="l">
              <a:defRPr sz="975" b="0">
                <a:solidFill>
                  <a:srgbClr val="475569"/>
                </a:solidFill>
                <a:latin typeface="Arial"/>
              </a:defRPr>
            </a:pPr>
            <a:r>
              <a:t>Natural language portfolio audits and market discovery: 'Everything just a prompt away'.</a:t>
            </a:r>
          </a:p>
        </p:txBody>
      </p:sp>
      <p:sp>
        <p:nvSpPr>
          <p:cNvPr id="19" name="Rounded Rectangle 18"/>
          <p:cNvSpPr/>
          <p:nvPr/>
        </p:nvSpPr>
        <p:spPr>
          <a:xfrm>
            <a:off x="8610600" y="2667000"/>
            <a:ext cx="2400300" cy="20002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10600" y="2667000"/>
            <a:ext cx="2400300" cy="38100"/>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63000" y="2838450"/>
            <a:ext cx="2095499" cy="419100"/>
          </a:xfrm>
          <a:prstGeom prst="rect">
            <a:avLst/>
          </a:prstGeom>
          <a:noFill/>
        </p:spPr>
        <p:txBody>
          <a:bodyPr wrap="square" lIns="0" tIns="0" rIns="0" bIns="0">
            <a:spAutoFit/>
          </a:bodyPr>
          <a:lstStyle/>
          <a:p>
            <a:pPr algn="l">
              <a:defRPr sz="1200" b="1">
                <a:solidFill>
                  <a:srgbClr val="0F172A"/>
                </a:solidFill>
                <a:latin typeface="Arial"/>
              </a:defRPr>
            </a:pPr>
            <a:r>
              <a:t>Live Product &amp; Monetization</a:t>
            </a:r>
          </a:p>
        </p:txBody>
      </p:sp>
      <p:sp>
        <p:nvSpPr>
          <p:cNvPr id="22" name="TextBox 21"/>
          <p:cNvSpPr txBox="1"/>
          <p:nvPr/>
        </p:nvSpPr>
        <p:spPr>
          <a:xfrm>
            <a:off x="8763000" y="3314700"/>
            <a:ext cx="2095499" cy="1200150"/>
          </a:xfrm>
          <a:prstGeom prst="rect">
            <a:avLst/>
          </a:prstGeom>
          <a:noFill/>
        </p:spPr>
        <p:txBody>
          <a:bodyPr wrap="square" lIns="0" tIns="0" rIns="0" bIns="0">
            <a:spAutoFit/>
          </a:bodyPr>
          <a:lstStyle/>
          <a:p>
            <a:pPr algn="l">
              <a:defRPr sz="975" b="0">
                <a:solidFill>
                  <a:srgbClr val="475569"/>
                </a:solidFill>
                <a:latin typeface="Arial"/>
              </a:defRPr>
            </a:pPr>
            <a:r>
              <a:t>Operational V1 terminal indexing 2,000+ top wallets. Live individual subscription: $10/month.</a:t>
            </a:r>
          </a:p>
        </p:txBody>
      </p:sp>
      <p:sp>
        <p:nvSpPr>
          <p:cNvPr id="23" name="Rounded Rectangle 22"/>
          <p:cNvSpPr/>
          <p:nvPr/>
        </p:nvSpPr>
        <p:spPr>
          <a:xfrm>
            <a:off x="952500" y="4857750"/>
            <a:ext cx="10267950" cy="85725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1100" y="5010150"/>
            <a:ext cx="9810750" cy="228600"/>
          </a:xfrm>
          <a:prstGeom prst="rect">
            <a:avLst/>
          </a:prstGeom>
          <a:noFill/>
        </p:spPr>
        <p:txBody>
          <a:bodyPr wrap="square" lIns="0" tIns="0" rIns="0" bIns="0">
            <a:spAutoFit/>
          </a:bodyPr>
          <a:lstStyle/>
          <a:p>
            <a:pPr algn="l">
              <a:defRPr sz="1050" b="1">
                <a:solidFill>
                  <a:srgbClr val="0F172A"/>
                </a:solidFill>
                <a:latin typeface="Arial"/>
              </a:defRPr>
            </a:pPr>
            <a:r>
              <a:t>FOUNDER: VIVEK GAUTAM  |  Ex-GoQuant  ·  QuantInsti Alumnus  ·  Quantitative Analyst at Leading Crypto Firm</a:t>
            </a:r>
          </a:p>
        </p:txBody>
      </p:sp>
      <p:sp>
        <p:nvSpPr>
          <p:cNvPr id="25" name="TextBox 24"/>
          <p:cNvSpPr txBox="1"/>
          <p:nvPr/>
        </p:nvSpPr>
        <p:spPr>
          <a:xfrm>
            <a:off x="1181100" y="5276850"/>
            <a:ext cx="9810750" cy="228600"/>
          </a:xfrm>
          <a:prstGeom prst="rect">
            <a:avLst/>
          </a:prstGeom>
          <a:noFill/>
        </p:spPr>
        <p:txBody>
          <a:bodyPr wrap="square" lIns="0" tIns="0" rIns="0" bIns="0">
            <a:spAutoFit/>
          </a:bodyPr>
          <a:lstStyle/>
          <a:p>
            <a:pPr algn="l">
              <a:defRPr sz="975" b="0">
                <a:solidFill>
                  <a:srgbClr val="475569"/>
                </a:solidFill>
                <a:latin typeface="Arial"/>
              </a:defRPr>
            </a:pPr>
            <a:r>
              <a:t>Active Commercial Tier: $10 / Month Individual Plan  ·  Target: Strategic Seed Venture Partners &amp; Institutional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02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01 / EXECUTIVE OVERVIEW</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Executive Summary: Transparent On-Chain Alpha to Market Making</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35718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3571875" cy="47625"/>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150" y="1857375"/>
            <a:ext cx="3143250" cy="266700"/>
          </a:xfrm>
          <a:prstGeom prst="rect">
            <a:avLst/>
          </a:prstGeom>
          <a:noFill/>
        </p:spPr>
        <p:txBody>
          <a:bodyPr wrap="square" lIns="0" tIns="0" rIns="0" bIns="0">
            <a:spAutoFit/>
          </a:bodyPr>
          <a:lstStyle/>
          <a:p>
            <a:pPr algn="l">
              <a:defRPr sz="1350" b="1">
                <a:solidFill>
                  <a:srgbClr val="0F172A"/>
                </a:solidFill>
                <a:latin typeface="Arial"/>
              </a:defRPr>
            </a:pPr>
            <a:r>
              <a:t>The Market Shift</a:t>
            </a:r>
          </a:p>
        </p:txBody>
      </p:sp>
      <p:sp>
        <p:nvSpPr>
          <p:cNvPr id="12" name="TextBox 11"/>
          <p:cNvSpPr txBox="1"/>
          <p:nvPr/>
        </p:nvSpPr>
        <p:spPr>
          <a:xfrm>
            <a:off x="819150" y="2143125"/>
            <a:ext cx="3143250" cy="209550"/>
          </a:xfrm>
          <a:prstGeom prst="rect">
            <a:avLst/>
          </a:prstGeom>
          <a:noFill/>
        </p:spPr>
        <p:txBody>
          <a:bodyPr wrap="square" lIns="0" tIns="0" rIns="0" bIns="0">
            <a:spAutoFit/>
          </a:bodyPr>
          <a:lstStyle/>
          <a:p>
            <a:pPr algn="l">
              <a:defRPr sz="975" b="1">
                <a:solidFill>
                  <a:srgbClr val="0284C7"/>
                </a:solidFill>
                <a:latin typeface="Arial"/>
              </a:defRPr>
            </a:pPr>
            <a:r>
              <a:t>DeFi Liquidity Migration</a:t>
            </a:r>
          </a:p>
        </p:txBody>
      </p:sp>
      <p:sp>
        <p:nvSpPr>
          <p:cNvPr id="13" name="TextBox 12"/>
          <p:cNvSpPr txBox="1"/>
          <p:nvPr/>
        </p:nvSpPr>
        <p:spPr>
          <a:xfrm>
            <a:off x="819150" y="2476500"/>
            <a:ext cx="3143250" cy="3571875"/>
          </a:xfrm>
          <a:prstGeom prst="rect">
            <a:avLst/>
          </a:prstGeom>
          <a:noFill/>
        </p:spPr>
        <p:txBody>
          <a:bodyPr wrap="square" lIns="0" tIns="0" rIns="0" bIns="0">
            <a:spAutoFit/>
          </a:bodyPr>
          <a:lstStyle/>
          <a:p>
            <a:pPr>
              <a:spcAft>
                <a:spcPts val="1200"/>
              </a:spcAft>
              <a:defRPr sz="975">
                <a:solidFill>
                  <a:srgbClr val="475569"/>
                </a:solidFill>
                <a:latin typeface="Arial"/>
              </a:defRPr>
            </a:pPr>
            <a:r>
              <a:t>•  Perpetual trading volume is migrating permanently on-chain ($2B–$5B/day on Hyperliquid alone).</a:t>
            </a:r>
          </a:p>
          <a:p>
            <a:pPr>
              <a:spcAft>
                <a:spcPts val="1200"/>
              </a:spcAft>
              <a:defRPr sz="975">
                <a:solidFill>
                  <a:srgbClr val="475569"/>
                </a:solidFill>
                <a:latin typeface="Arial"/>
              </a:defRPr>
            </a:pPr>
            <a:r>
              <a:t>•  Tokenized US equities (NVDA, TSLA) and commodities (Gold, Oil) now trade on DEXs.</a:t>
            </a:r>
          </a:p>
          <a:p>
            <a:pPr>
              <a:spcAft>
                <a:spcPts val="1200"/>
              </a:spcAft>
              <a:defRPr sz="975">
                <a:solidFill>
                  <a:srgbClr val="475569"/>
                </a:solidFill>
                <a:latin typeface="Arial"/>
              </a:defRPr>
            </a:pPr>
            <a:r>
              <a:t>•  Institutions lack transparent, low-latency intelligence on who is driving market moves.</a:t>
            </a:r>
          </a:p>
          <a:p>
            <a:pPr>
              <a:spcAft>
                <a:spcPts val="1200"/>
              </a:spcAft>
              <a:defRPr sz="975">
                <a:solidFill>
                  <a:srgbClr val="475569"/>
                </a:solidFill>
                <a:latin typeface="Arial"/>
              </a:defRPr>
            </a:pPr>
            <a:r>
              <a:t>•  Legacy analytics tools offer noisy vanity scores, mistaking short covers for genuine spot demand.</a:t>
            </a:r>
          </a:p>
        </p:txBody>
      </p:sp>
      <p:sp>
        <p:nvSpPr>
          <p:cNvPr id="14" name="Rounded Rectangle 13"/>
          <p:cNvSpPr/>
          <p:nvPr/>
        </p:nvSpPr>
        <p:spPr>
          <a:xfrm>
            <a:off x="4371975" y="1666875"/>
            <a:ext cx="35718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71975" y="1666875"/>
            <a:ext cx="3571875" cy="47625"/>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1525" y="1857375"/>
            <a:ext cx="3143250" cy="266700"/>
          </a:xfrm>
          <a:prstGeom prst="rect">
            <a:avLst/>
          </a:prstGeom>
          <a:noFill/>
        </p:spPr>
        <p:txBody>
          <a:bodyPr wrap="square" lIns="0" tIns="0" rIns="0" bIns="0">
            <a:spAutoFit/>
          </a:bodyPr>
          <a:lstStyle/>
          <a:p>
            <a:pPr algn="l">
              <a:defRPr sz="1350" b="1">
                <a:solidFill>
                  <a:srgbClr val="0F172A"/>
                </a:solidFill>
                <a:latin typeface="Arial"/>
              </a:defRPr>
            </a:pPr>
            <a:r>
              <a:t>Current Traction</a:t>
            </a:r>
          </a:p>
        </p:txBody>
      </p:sp>
      <p:sp>
        <p:nvSpPr>
          <p:cNvPr id="17" name="TextBox 16"/>
          <p:cNvSpPr txBox="1"/>
          <p:nvPr/>
        </p:nvSpPr>
        <p:spPr>
          <a:xfrm>
            <a:off x="4581525" y="2143125"/>
            <a:ext cx="3143250" cy="209550"/>
          </a:xfrm>
          <a:prstGeom prst="rect">
            <a:avLst/>
          </a:prstGeom>
          <a:noFill/>
        </p:spPr>
        <p:txBody>
          <a:bodyPr wrap="square" lIns="0" tIns="0" rIns="0" bIns="0">
            <a:spAutoFit/>
          </a:bodyPr>
          <a:lstStyle/>
          <a:p>
            <a:pPr algn="l">
              <a:defRPr sz="975" b="1">
                <a:solidFill>
                  <a:srgbClr val="059669"/>
                </a:solidFill>
                <a:latin typeface="Arial"/>
              </a:defRPr>
            </a:pPr>
            <a:r>
              <a:t>Live Working V1 Terminal</a:t>
            </a:r>
          </a:p>
        </p:txBody>
      </p:sp>
      <p:sp>
        <p:nvSpPr>
          <p:cNvPr id="18" name="TextBox 17"/>
          <p:cNvSpPr txBox="1"/>
          <p:nvPr/>
        </p:nvSpPr>
        <p:spPr>
          <a:xfrm>
            <a:off x="4581525" y="2476500"/>
            <a:ext cx="3143250" cy="3571875"/>
          </a:xfrm>
          <a:prstGeom prst="rect">
            <a:avLst/>
          </a:prstGeom>
          <a:noFill/>
        </p:spPr>
        <p:txBody>
          <a:bodyPr wrap="square" lIns="0" tIns="0" rIns="0" bIns="0">
            <a:spAutoFit/>
          </a:bodyPr>
          <a:lstStyle/>
          <a:p>
            <a:pPr>
              <a:spcAft>
                <a:spcPts val="1200"/>
              </a:spcAft>
              <a:defRPr sz="975">
                <a:solidFill>
                  <a:srgbClr val="475569"/>
                </a:solidFill>
                <a:latin typeface="Arial"/>
              </a:defRPr>
            </a:pPr>
            <a:r>
              <a:t>•  daVIRA V1 is fully operational: indexing 2,000+ top wallets with zero floating-point drift.</a:t>
            </a:r>
          </a:p>
          <a:p>
            <a:pPr>
              <a:spcAft>
                <a:spcPts val="1200"/>
              </a:spcAft>
              <a:defRPr sz="975">
                <a:solidFill>
                  <a:srgbClr val="475569"/>
                </a:solidFill>
                <a:latin typeface="Arial"/>
              </a:defRPr>
            </a:pPr>
            <a:r>
              <a:t>•  Proprietary 4-way flow decomposition isolates new leverage from position exits &amp; short covers.</a:t>
            </a:r>
          </a:p>
          <a:p>
            <a:pPr>
              <a:spcAft>
                <a:spcPts val="1200"/>
              </a:spcAft>
              <a:defRPr sz="975">
                <a:solidFill>
                  <a:srgbClr val="475569"/>
                </a:solidFill>
                <a:latin typeface="Arial"/>
              </a:defRPr>
            </a:pPr>
            <a:r>
              <a:t>•  Live pricing actively deployed: $10/month for individual traders and retail quants.</a:t>
            </a:r>
          </a:p>
          <a:p>
            <a:pPr>
              <a:spcAft>
                <a:spcPts val="1200"/>
              </a:spcAft>
              <a:defRPr sz="975">
                <a:solidFill>
                  <a:srgbClr val="475569"/>
                </a:solidFill>
                <a:latin typeface="Arial"/>
              </a:defRPr>
            </a:pPr>
            <a:r>
              <a:t>•  Built-in execution drag stress testing (0, 5, 10, 25 bps) ensures copy-trading viability.</a:t>
            </a:r>
          </a:p>
        </p:txBody>
      </p:sp>
      <p:sp>
        <p:nvSpPr>
          <p:cNvPr id="19" name="Rounded Rectangle 18"/>
          <p:cNvSpPr/>
          <p:nvPr/>
        </p:nvSpPr>
        <p:spPr>
          <a:xfrm>
            <a:off x="8134350" y="1666875"/>
            <a:ext cx="35718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34350" y="1666875"/>
            <a:ext cx="3571875" cy="47625"/>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43900" y="1857375"/>
            <a:ext cx="3143250" cy="266700"/>
          </a:xfrm>
          <a:prstGeom prst="rect">
            <a:avLst/>
          </a:prstGeom>
          <a:noFill/>
        </p:spPr>
        <p:txBody>
          <a:bodyPr wrap="square" lIns="0" tIns="0" rIns="0" bIns="0">
            <a:spAutoFit/>
          </a:bodyPr>
          <a:lstStyle/>
          <a:p>
            <a:pPr algn="l">
              <a:defRPr sz="1350" b="1">
                <a:solidFill>
                  <a:srgbClr val="0F172A"/>
                </a:solidFill>
                <a:latin typeface="Arial"/>
              </a:defRPr>
            </a:pPr>
            <a:r>
              <a:t>The 3-Phase Plan</a:t>
            </a:r>
          </a:p>
        </p:txBody>
      </p:sp>
      <p:sp>
        <p:nvSpPr>
          <p:cNvPr id="22" name="TextBox 21"/>
          <p:cNvSpPr txBox="1"/>
          <p:nvPr/>
        </p:nvSpPr>
        <p:spPr>
          <a:xfrm>
            <a:off x="8343900" y="2143125"/>
            <a:ext cx="3143250" cy="209550"/>
          </a:xfrm>
          <a:prstGeom prst="rect">
            <a:avLst/>
          </a:prstGeom>
          <a:noFill/>
        </p:spPr>
        <p:txBody>
          <a:bodyPr wrap="square" lIns="0" tIns="0" rIns="0" bIns="0">
            <a:spAutoFit/>
          </a:bodyPr>
          <a:lstStyle/>
          <a:p>
            <a:pPr algn="l">
              <a:defRPr sz="975" b="1">
                <a:solidFill>
                  <a:srgbClr val="7C3AED"/>
                </a:solidFill>
                <a:latin typeface="Arial"/>
              </a:defRPr>
            </a:pPr>
            <a:r>
              <a:t>Evolution to Market Maker</a:t>
            </a:r>
          </a:p>
        </p:txBody>
      </p:sp>
      <p:sp>
        <p:nvSpPr>
          <p:cNvPr id="23" name="TextBox 22"/>
          <p:cNvSpPr txBox="1"/>
          <p:nvPr/>
        </p:nvSpPr>
        <p:spPr>
          <a:xfrm>
            <a:off x="8343900" y="2476500"/>
            <a:ext cx="3143250" cy="3571875"/>
          </a:xfrm>
          <a:prstGeom prst="rect">
            <a:avLst/>
          </a:prstGeom>
          <a:noFill/>
        </p:spPr>
        <p:txBody>
          <a:bodyPr wrap="square" lIns="0" tIns="0" rIns="0" bIns="0">
            <a:spAutoFit/>
          </a:bodyPr>
          <a:lstStyle/>
          <a:p>
            <a:pPr>
              <a:spcAft>
                <a:spcPts val="1200"/>
              </a:spcAft>
              <a:defRPr sz="975">
                <a:solidFill>
                  <a:srgbClr val="475569"/>
                </a:solidFill>
                <a:latin typeface="Arial"/>
              </a:defRPr>
            </a:pPr>
            <a:r>
              <a:t>•  Phase 1: Multi-Chain Smart Money &amp; Macro Terminal + LLM ('Everything a prompt away').</a:t>
            </a:r>
          </a:p>
          <a:p>
            <a:pPr>
              <a:spcAft>
                <a:spcPts val="1200"/>
              </a:spcAft>
              <a:defRPr sz="975">
                <a:solidFill>
                  <a:srgbClr val="475569"/>
                </a:solidFill>
                <a:latin typeface="Arial"/>
              </a:defRPr>
            </a:pPr>
            <a:r>
              <a:t>•  Phase 2: daVIRA Capital (Proprietary Trading Desk) deploying firm capital on flow alpha.</a:t>
            </a:r>
          </a:p>
          <a:p>
            <a:pPr>
              <a:spcAft>
                <a:spcPts val="1200"/>
              </a:spcAft>
              <a:defRPr sz="975">
                <a:solidFill>
                  <a:srgbClr val="475569"/>
                </a:solidFill>
                <a:latin typeface="Arial"/>
              </a:defRPr>
            </a:pPr>
            <a:r>
              <a:t>•  Phase 3: Algorithmic Market Maker ('The Wintermute of India') quoting CEX/DEX liquidity.</a:t>
            </a:r>
          </a:p>
          <a:p>
            <a:pPr>
              <a:spcAft>
                <a:spcPts val="1200"/>
              </a:spcAft>
              <a:defRPr sz="975">
                <a:solidFill>
                  <a:srgbClr val="475569"/>
                </a:solidFill>
                <a:latin typeface="Arial"/>
              </a:defRPr>
            </a:pPr>
            <a:r>
              <a:t>•  Methodical progression: Software revenue funds prop desk, compounding into high-volume MM.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03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02 / MARKET PARADIGM</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The Paradigm Shift: Crypto Liquidity is Moving On-Chain</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2619375" cy="104774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2619375" cy="3810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050" y="1809750"/>
            <a:ext cx="2286000" cy="400050"/>
          </a:xfrm>
          <a:prstGeom prst="rect">
            <a:avLst/>
          </a:prstGeom>
          <a:noFill/>
        </p:spPr>
        <p:txBody>
          <a:bodyPr wrap="square" lIns="0" tIns="0" rIns="0" bIns="0">
            <a:spAutoFit/>
          </a:bodyPr>
          <a:lstStyle/>
          <a:p>
            <a:pPr algn="l">
              <a:defRPr sz="2100" b="1">
                <a:solidFill>
                  <a:srgbClr val="0284C7"/>
                </a:solidFill>
                <a:latin typeface="Arial"/>
              </a:defRPr>
            </a:pPr>
            <a:r>
              <a:t>$4.2T+</a:t>
            </a:r>
          </a:p>
        </p:txBody>
      </p:sp>
      <p:sp>
        <p:nvSpPr>
          <p:cNvPr id="12" name="TextBox 11"/>
          <p:cNvSpPr txBox="1"/>
          <p:nvPr/>
        </p:nvSpPr>
        <p:spPr>
          <a:xfrm>
            <a:off x="781050" y="2247900"/>
            <a:ext cx="2286000" cy="342900"/>
          </a:xfrm>
          <a:prstGeom prst="rect">
            <a:avLst/>
          </a:prstGeom>
          <a:noFill/>
        </p:spPr>
        <p:txBody>
          <a:bodyPr wrap="square" lIns="0" tIns="0" rIns="0" bIns="0">
            <a:spAutoFit/>
          </a:bodyPr>
          <a:lstStyle/>
          <a:p>
            <a:pPr algn="l">
              <a:defRPr sz="900" b="0">
                <a:solidFill>
                  <a:srgbClr val="475569"/>
                </a:solidFill>
                <a:latin typeface="Arial"/>
              </a:defRPr>
            </a:pPr>
            <a:r>
              <a:t>Annualized On-Chain Perp Volume</a:t>
            </a:r>
          </a:p>
        </p:txBody>
      </p:sp>
      <p:sp>
        <p:nvSpPr>
          <p:cNvPr id="13" name="Rounded Rectangle 12"/>
          <p:cNvSpPr/>
          <p:nvPr/>
        </p:nvSpPr>
        <p:spPr>
          <a:xfrm>
            <a:off x="3419475" y="1666875"/>
            <a:ext cx="2619375" cy="104774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19475" y="1666875"/>
            <a:ext cx="2619375" cy="38100"/>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0925" y="1809750"/>
            <a:ext cx="2286000" cy="400050"/>
          </a:xfrm>
          <a:prstGeom prst="rect">
            <a:avLst/>
          </a:prstGeom>
          <a:noFill/>
        </p:spPr>
        <p:txBody>
          <a:bodyPr wrap="square" lIns="0" tIns="0" rIns="0" bIns="0">
            <a:spAutoFit/>
          </a:bodyPr>
          <a:lstStyle/>
          <a:p>
            <a:pPr algn="l">
              <a:defRPr sz="2100" b="1">
                <a:solidFill>
                  <a:srgbClr val="059669"/>
                </a:solidFill>
                <a:latin typeface="Arial"/>
              </a:defRPr>
            </a:pPr>
            <a:r>
              <a:t>2,000+</a:t>
            </a:r>
          </a:p>
        </p:txBody>
      </p:sp>
      <p:sp>
        <p:nvSpPr>
          <p:cNvPr id="16" name="TextBox 15"/>
          <p:cNvSpPr txBox="1"/>
          <p:nvPr/>
        </p:nvSpPr>
        <p:spPr>
          <a:xfrm>
            <a:off x="3590925" y="2247900"/>
            <a:ext cx="2286000" cy="342900"/>
          </a:xfrm>
          <a:prstGeom prst="rect">
            <a:avLst/>
          </a:prstGeom>
          <a:noFill/>
        </p:spPr>
        <p:txBody>
          <a:bodyPr wrap="square" lIns="0" tIns="0" rIns="0" bIns="0">
            <a:spAutoFit/>
          </a:bodyPr>
          <a:lstStyle/>
          <a:p>
            <a:pPr algn="l">
              <a:defRPr sz="900" b="0">
                <a:solidFill>
                  <a:srgbClr val="475569"/>
                </a:solidFill>
                <a:latin typeface="Arial"/>
              </a:defRPr>
            </a:pPr>
            <a:r>
              <a:t>Leaderboard Wallets Controlling 78% Alpha</a:t>
            </a:r>
          </a:p>
        </p:txBody>
      </p:sp>
      <p:sp>
        <p:nvSpPr>
          <p:cNvPr id="17" name="Rounded Rectangle 16"/>
          <p:cNvSpPr/>
          <p:nvPr/>
        </p:nvSpPr>
        <p:spPr>
          <a:xfrm>
            <a:off x="6229350" y="1666875"/>
            <a:ext cx="2619375" cy="104774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29350" y="1666875"/>
            <a:ext cx="2619375" cy="38100"/>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809750"/>
            <a:ext cx="2286000" cy="400050"/>
          </a:xfrm>
          <a:prstGeom prst="rect">
            <a:avLst/>
          </a:prstGeom>
          <a:noFill/>
        </p:spPr>
        <p:txBody>
          <a:bodyPr wrap="square" lIns="0" tIns="0" rIns="0" bIns="0">
            <a:spAutoFit/>
          </a:bodyPr>
          <a:lstStyle/>
          <a:p>
            <a:pPr algn="l">
              <a:defRPr sz="2100" b="1">
                <a:solidFill>
                  <a:srgbClr val="D97706"/>
                </a:solidFill>
                <a:latin typeface="Arial"/>
              </a:defRPr>
            </a:pPr>
            <a:r>
              <a:t>80%+</a:t>
            </a:r>
          </a:p>
        </p:txBody>
      </p:sp>
      <p:sp>
        <p:nvSpPr>
          <p:cNvPr id="20" name="TextBox 19"/>
          <p:cNvSpPr txBox="1"/>
          <p:nvPr/>
        </p:nvSpPr>
        <p:spPr>
          <a:xfrm>
            <a:off x="6400800" y="2247900"/>
            <a:ext cx="2286000" cy="342900"/>
          </a:xfrm>
          <a:prstGeom prst="rect">
            <a:avLst/>
          </a:prstGeom>
          <a:noFill/>
        </p:spPr>
        <p:txBody>
          <a:bodyPr wrap="square" lIns="0" tIns="0" rIns="0" bIns="0">
            <a:spAutoFit/>
          </a:bodyPr>
          <a:lstStyle/>
          <a:p>
            <a:pPr algn="l">
              <a:defRPr sz="900" b="0">
                <a:solidFill>
                  <a:srgbClr val="475569"/>
                </a:solidFill>
                <a:latin typeface="Arial"/>
              </a:defRPr>
            </a:pPr>
            <a:r>
              <a:t>Volume Handled by Algo Traders &amp; Prop Desks</a:t>
            </a:r>
          </a:p>
        </p:txBody>
      </p:sp>
      <p:sp>
        <p:nvSpPr>
          <p:cNvPr id="21" name="Rounded Rectangle 20"/>
          <p:cNvSpPr/>
          <p:nvPr/>
        </p:nvSpPr>
        <p:spPr>
          <a:xfrm>
            <a:off x="9039225" y="1666875"/>
            <a:ext cx="2619375" cy="104774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39225" y="1666875"/>
            <a:ext cx="2619375" cy="38100"/>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10675" y="1809750"/>
            <a:ext cx="2286000" cy="400050"/>
          </a:xfrm>
          <a:prstGeom prst="rect">
            <a:avLst/>
          </a:prstGeom>
          <a:noFill/>
        </p:spPr>
        <p:txBody>
          <a:bodyPr wrap="square" lIns="0" tIns="0" rIns="0" bIns="0">
            <a:spAutoFit/>
          </a:bodyPr>
          <a:lstStyle/>
          <a:p>
            <a:pPr algn="l">
              <a:defRPr sz="2100" b="1">
                <a:solidFill>
                  <a:srgbClr val="7C3AED"/>
                </a:solidFill>
                <a:latin typeface="Arial"/>
              </a:defRPr>
            </a:pPr>
            <a:r>
              <a:t>0</a:t>
            </a:r>
          </a:p>
        </p:txBody>
      </p:sp>
      <p:sp>
        <p:nvSpPr>
          <p:cNvPr id="24" name="TextBox 23"/>
          <p:cNvSpPr txBox="1"/>
          <p:nvPr/>
        </p:nvSpPr>
        <p:spPr>
          <a:xfrm>
            <a:off x="9210675" y="2247900"/>
            <a:ext cx="2286000" cy="342900"/>
          </a:xfrm>
          <a:prstGeom prst="rect">
            <a:avLst/>
          </a:prstGeom>
          <a:noFill/>
        </p:spPr>
        <p:txBody>
          <a:bodyPr wrap="square" lIns="0" tIns="0" rIns="0" bIns="0">
            <a:spAutoFit/>
          </a:bodyPr>
          <a:lstStyle/>
          <a:p>
            <a:pPr algn="l">
              <a:defRPr sz="900" b="0">
                <a:solidFill>
                  <a:srgbClr val="475569"/>
                </a:solidFill>
                <a:latin typeface="Arial"/>
              </a:defRPr>
            </a:pPr>
            <a:r>
              <a:t>Tier-1 Global Crypto Market Makers in India</a:t>
            </a:r>
          </a:p>
        </p:txBody>
      </p:sp>
      <p:sp>
        <p:nvSpPr>
          <p:cNvPr id="25" name="Rounded Rectangle 24"/>
          <p:cNvSpPr/>
          <p:nvPr/>
        </p:nvSpPr>
        <p:spPr>
          <a:xfrm>
            <a:off x="609600" y="2952750"/>
            <a:ext cx="5334000" cy="328612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600" y="2952750"/>
            <a:ext cx="5334000" cy="3810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8200" y="3143250"/>
            <a:ext cx="4857750" cy="266700"/>
          </a:xfrm>
          <a:prstGeom prst="rect">
            <a:avLst/>
          </a:prstGeom>
          <a:noFill/>
        </p:spPr>
        <p:txBody>
          <a:bodyPr wrap="square" lIns="0" tIns="0" rIns="0" bIns="0">
            <a:spAutoFit/>
          </a:bodyPr>
          <a:lstStyle/>
          <a:p>
            <a:pPr algn="l">
              <a:defRPr sz="1350" b="1">
                <a:solidFill>
                  <a:srgbClr val="0F172A"/>
                </a:solidFill>
                <a:latin typeface="Arial"/>
              </a:defRPr>
            </a:pPr>
            <a:r>
              <a:t>The Centralized Exchange Exodus</a:t>
            </a:r>
          </a:p>
        </p:txBody>
      </p:sp>
      <p:sp>
        <p:nvSpPr>
          <p:cNvPr id="28" name="TextBox 27"/>
          <p:cNvSpPr txBox="1"/>
          <p:nvPr/>
        </p:nvSpPr>
        <p:spPr>
          <a:xfrm>
            <a:off x="838200" y="3429000"/>
            <a:ext cx="4857750" cy="209550"/>
          </a:xfrm>
          <a:prstGeom prst="rect">
            <a:avLst/>
          </a:prstGeom>
          <a:noFill/>
        </p:spPr>
        <p:txBody>
          <a:bodyPr wrap="square" lIns="0" tIns="0" rIns="0" bIns="0">
            <a:spAutoFit/>
          </a:bodyPr>
          <a:lstStyle/>
          <a:p>
            <a:pPr algn="l">
              <a:defRPr sz="975" b="1">
                <a:solidFill>
                  <a:srgbClr val="0284C7"/>
                </a:solidFill>
                <a:latin typeface="Arial"/>
              </a:defRPr>
            </a:pPr>
            <a:r>
              <a:t>Opaque Orderbooks → Verifiable On-Chain Flows</a:t>
            </a:r>
          </a:p>
        </p:txBody>
      </p:sp>
      <p:sp>
        <p:nvSpPr>
          <p:cNvPr id="29" name="TextBox 28"/>
          <p:cNvSpPr txBox="1"/>
          <p:nvPr/>
        </p:nvSpPr>
        <p:spPr>
          <a:xfrm>
            <a:off x="838200" y="3762374"/>
            <a:ext cx="4857750" cy="2333625"/>
          </a:xfrm>
          <a:prstGeom prst="rect">
            <a:avLst/>
          </a:prstGeom>
          <a:noFill/>
        </p:spPr>
        <p:txBody>
          <a:bodyPr wrap="square" lIns="0" tIns="0" rIns="0" bIns="0">
            <a:spAutoFit/>
          </a:bodyPr>
          <a:lstStyle/>
          <a:p>
            <a:pPr>
              <a:spcAft>
                <a:spcPts val="1200"/>
              </a:spcAft>
              <a:defRPr sz="975">
                <a:solidFill>
                  <a:srgbClr val="475569"/>
                </a:solidFill>
                <a:latin typeface="Arial"/>
              </a:defRPr>
            </a:pPr>
            <a:r>
              <a:t>•  Post-FTX, global institutional trading volume is migrating permanently to on-chain perpetual DEXs like Hyperliquid, dYdX, and Solana perps.</a:t>
            </a:r>
          </a:p>
          <a:p>
            <a:pPr>
              <a:spcAft>
                <a:spcPts val="1200"/>
              </a:spcAft>
              <a:defRPr sz="975">
                <a:solidFill>
                  <a:srgbClr val="475569"/>
                </a:solidFill>
                <a:latin typeface="Arial"/>
              </a:defRPr>
            </a:pPr>
            <a:r>
              <a:t>•  On-chain execution provides complete cryptographic auditability: every single trade, liquidation, position increase, and wallet margin balance is publicly verifiable in real time.</a:t>
            </a:r>
          </a:p>
          <a:p>
            <a:pPr>
              <a:spcAft>
                <a:spcPts val="1200"/>
              </a:spcAft>
              <a:defRPr sz="975">
                <a:solidFill>
                  <a:srgbClr val="475569"/>
                </a:solidFill>
                <a:latin typeface="Arial"/>
              </a:defRPr>
            </a:pPr>
            <a:r>
              <a:t>•  Synthetic asset innovation (HIP-1) has brought tokenized US equities (NVDA, TSLA) and commodities (Gold, Crude Oil) on-chain, unlocking 24/7 cross-asset macro trading.</a:t>
            </a:r>
          </a:p>
        </p:txBody>
      </p:sp>
      <p:sp>
        <p:nvSpPr>
          <p:cNvPr id="30" name="Rounded Rectangle 29"/>
          <p:cNvSpPr/>
          <p:nvPr/>
        </p:nvSpPr>
        <p:spPr>
          <a:xfrm>
            <a:off x="6229350" y="2952750"/>
            <a:ext cx="5334000" cy="328612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29350" y="2952750"/>
            <a:ext cx="5334000" cy="38100"/>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57950" y="3143250"/>
            <a:ext cx="4857750" cy="266700"/>
          </a:xfrm>
          <a:prstGeom prst="rect">
            <a:avLst/>
          </a:prstGeom>
          <a:noFill/>
        </p:spPr>
        <p:txBody>
          <a:bodyPr wrap="square" lIns="0" tIns="0" rIns="0" bIns="0">
            <a:spAutoFit/>
          </a:bodyPr>
          <a:lstStyle/>
          <a:p>
            <a:pPr algn="l">
              <a:defRPr sz="1350" b="1">
                <a:solidFill>
                  <a:srgbClr val="0F172A"/>
                </a:solidFill>
                <a:latin typeface="Arial"/>
              </a:defRPr>
            </a:pPr>
            <a:r>
              <a:t>The India Opportunity</a:t>
            </a:r>
          </a:p>
        </p:txBody>
      </p:sp>
      <p:sp>
        <p:nvSpPr>
          <p:cNvPr id="33" name="TextBox 32"/>
          <p:cNvSpPr txBox="1"/>
          <p:nvPr/>
        </p:nvSpPr>
        <p:spPr>
          <a:xfrm>
            <a:off x="6457950" y="3429000"/>
            <a:ext cx="4857750" cy="209550"/>
          </a:xfrm>
          <a:prstGeom prst="rect">
            <a:avLst/>
          </a:prstGeom>
          <a:noFill/>
        </p:spPr>
        <p:txBody>
          <a:bodyPr wrap="square" lIns="0" tIns="0" rIns="0" bIns="0">
            <a:spAutoFit/>
          </a:bodyPr>
          <a:lstStyle/>
          <a:p>
            <a:pPr algn="l">
              <a:defRPr sz="975" b="1">
                <a:solidFill>
                  <a:srgbClr val="059669"/>
                </a:solidFill>
                <a:latin typeface="Arial"/>
              </a:defRPr>
            </a:pPr>
            <a:r>
              <a:t>World-Class Quant Talent Without Institutional Infrastructure</a:t>
            </a:r>
          </a:p>
        </p:txBody>
      </p:sp>
      <p:sp>
        <p:nvSpPr>
          <p:cNvPr id="34" name="TextBox 33"/>
          <p:cNvSpPr txBox="1"/>
          <p:nvPr/>
        </p:nvSpPr>
        <p:spPr>
          <a:xfrm>
            <a:off x="6457950" y="3762374"/>
            <a:ext cx="4857750" cy="2333625"/>
          </a:xfrm>
          <a:prstGeom prst="rect">
            <a:avLst/>
          </a:prstGeom>
          <a:noFill/>
        </p:spPr>
        <p:txBody>
          <a:bodyPr wrap="square" lIns="0" tIns="0" rIns="0" bIns="0">
            <a:spAutoFit/>
          </a:bodyPr>
          <a:lstStyle/>
          <a:p>
            <a:pPr>
              <a:spcAft>
                <a:spcPts val="1200"/>
              </a:spcAft>
              <a:defRPr sz="975">
                <a:solidFill>
                  <a:srgbClr val="475569"/>
                </a:solidFill>
                <a:latin typeface="Arial"/>
              </a:defRPr>
            </a:pPr>
            <a:r>
              <a:t>•  India trains thousands of elite quantitative engineers, mathematical researchers, and algorithmic developers from IITs/NITs every year.</a:t>
            </a:r>
          </a:p>
          <a:p>
            <a:pPr>
              <a:spcAft>
                <a:spcPts val="1200"/>
              </a:spcAft>
              <a:defRPr sz="975">
                <a:solidFill>
                  <a:srgbClr val="475569"/>
                </a:solidFill>
                <a:latin typeface="Arial"/>
              </a:defRPr>
            </a:pPr>
            <a:r>
              <a:t>•  Despite this intellectual dominance, India lacks a premier, globally recognized crypto trading institution or tier-1 quantitative market maker like Wintermute or Jump.</a:t>
            </a:r>
          </a:p>
          <a:p>
            <a:pPr>
              <a:spcAft>
                <a:spcPts val="1200"/>
              </a:spcAft>
              <a:defRPr sz="975">
                <a:solidFill>
                  <a:srgbClr val="475569"/>
                </a:solidFill>
                <a:latin typeface="Arial"/>
              </a:defRPr>
            </a:pPr>
            <a:r>
              <a:t>•  daVIRA is uniquely positioned to capture this generational market opportunity: founded and engineered in India, built for institutional traders and funds globally.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04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03 / MARKET GAPS</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The Institutional Blindspot in Crypto Alpha &amp; Execution</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35718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3571875" cy="38100"/>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150" y="1857375"/>
            <a:ext cx="3143250" cy="266700"/>
          </a:xfrm>
          <a:prstGeom prst="rect">
            <a:avLst/>
          </a:prstGeom>
          <a:noFill/>
        </p:spPr>
        <p:txBody>
          <a:bodyPr wrap="square" lIns="0" tIns="0" rIns="0" bIns="0">
            <a:spAutoFit/>
          </a:bodyPr>
          <a:lstStyle/>
          <a:p>
            <a:pPr algn="l">
              <a:defRPr sz="1350" b="1">
                <a:solidFill>
                  <a:srgbClr val="0F172A"/>
                </a:solidFill>
                <a:latin typeface="Arial"/>
              </a:defRPr>
            </a:pPr>
            <a:r>
              <a:t>The Retail Liquidity Trap</a:t>
            </a:r>
          </a:p>
        </p:txBody>
      </p:sp>
      <p:sp>
        <p:nvSpPr>
          <p:cNvPr id="12" name="TextBox 11"/>
          <p:cNvSpPr txBox="1"/>
          <p:nvPr/>
        </p:nvSpPr>
        <p:spPr>
          <a:xfrm>
            <a:off x="819150" y="2143125"/>
            <a:ext cx="3143250" cy="209550"/>
          </a:xfrm>
          <a:prstGeom prst="rect">
            <a:avLst/>
          </a:prstGeom>
          <a:noFill/>
        </p:spPr>
        <p:txBody>
          <a:bodyPr wrap="square" lIns="0" tIns="0" rIns="0" bIns="0">
            <a:spAutoFit/>
          </a:bodyPr>
          <a:lstStyle/>
          <a:p>
            <a:pPr algn="l">
              <a:defRPr sz="975" b="1">
                <a:solidFill>
                  <a:srgbClr val="D97706"/>
                </a:solidFill>
                <a:latin typeface="Arial"/>
              </a:defRPr>
            </a:pPr>
            <a:r>
              <a:t>Exit Pumps vs Real Buying</a:t>
            </a:r>
          </a:p>
        </p:txBody>
      </p:sp>
      <p:sp>
        <p:nvSpPr>
          <p:cNvPr id="13" name="TextBox 12"/>
          <p:cNvSpPr txBox="1"/>
          <p:nvPr/>
        </p:nvSpPr>
        <p:spPr>
          <a:xfrm>
            <a:off x="819150" y="2476500"/>
            <a:ext cx="3143250" cy="3571875"/>
          </a:xfrm>
          <a:prstGeom prst="rect">
            <a:avLst/>
          </a:prstGeom>
          <a:noFill/>
        </p:spPr>
        <p:txBody>
          <a:bodyPr wrap="square" lIns="0" tIns="0" rIns="0" bIns="0">
            <a:spAutoFit/>
          </a:bodyPr>
          <a:lstStyle/>
          <a:p>
            <a:pPr>
              <a:spcAft>
                <a:spcPts val="1200"/>
              </a:spcAft>
              <a:defRPr sz="975">
                <a:solidFill>
                  <a:srgbClr val="475569"/>
                </a:solidFill>
                <a:latin typeface="Arial"/>
              </a:defRPr>
            </a:pPr>
            <a:r>
              <a:t>•  Retail traders see green candles and buy into distribution phases.</a:t>
            </a:r>
          </a:p>
          <a:p>
            <a:pPr>
              <a:spcAft>
                <a:spcPts val="1200"/>
              </a:spcAft>
              <a:defRPr sz="975">
                <a:solidFill>
                  <a:srgbClr val="475569"/>
                </a:solidFill>
                <a:latin typeface="Arial"/>
              </a:defRPr>
            </a:pPr>
            <a:r>
              <a:t>•  Short-covering squeezes are routinely mistaken for organic institutional spot demand.</a:t>
            </a:r>
          </a:p>
          <a:p>
            <a:pPr>
              <a:spcAft>
                <a:spcPts val="1200"/>
              </a:spcAft>
              <a:defRPr sz="975">
                <a:solidFill>
                  <a:srgbClr val="475569"/>
                </a:solidFill>
                <a:latin typeface="Arial"/>
              </a:defRPr>
            </a:pPr>
            <a:r>
              <a:t>•  Traders lack directional attribution: whether open interest expansion represents fresh long leverage or short covering.</a:t>
            </a:r>
          </a:p>
          <a:p>
            <a:pPr>
              <a:spcAft>
                <a:spcPts val="1200"/>
              </a:spcAft>
              <a:defRPr sz="975">
                <a:solidFill>
                  <a:srgbClr val="475569"/>
                </a:solidFill>
                <a:latin typeface="Arial"/>
              </a:defRPr>
            </a:pPr>
            <a:r>
              <a:t>•  Result: 90%+ of retail traders consistently act as exit liquidity for whales.</a:t>
            </a:r>
          </a:p>
        </p:txBody>
      </p:sp>
      <p:sp>
        <p:nvSpPr>
          <p:cNvPr id="14" name="Rounded Rectangle 13"/>
          <p:cNvSpPr/>
          <p:nvPr/>
        </p:nvSpPr>
        <p:spPr>
          <a:xfrm>
            <a:off x="4371975" y="1666875"/>
            <a:ext cx="35718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71975" y="1666875"/>
            <a:ext cx="3571875" cy="3810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1525" y="1857375"/>
            <a:ext cx="3143250" cy="266700"/>
          </a:xfrm>
          <a:prstGeom prst="rect">
            <a:avLst/>
          </a:prstGeom>
          <a:noFill/>
        </p:spPr>
        <p:txBody>
          <a:bodyPr wrap="square" lIns="0" tIns="0" rIns="0" bIns="0">
            <a:spAutoFit/>
          </a:bodyPr>
          <a:lstStyle/>
          <a:p>
            <a:pPr algn="l">
              <a:defRPr sz="1350" b="1">
                <a:solidFill>
                  <a:srgbClr val="0F172A"/>
                </a:solidFill>
                <a:latin typeface="Arial"/>
              </a:defRPr>
            </a:pPr>
            <a:r>
              <a:t>Quant Paper Alpha Failure</a:t>
            </a:r>
          </a:p>
        </p:txBody>
      </p:sp>
      <p:sp>
        <p:nvSpPr>
          <p:cNvPr id="17" name="TextBox 16"/>
          <p:cNvSpPr txBox="1"/>
          <p:nvPr/>
        </p:nvSpPr>
        <p:spPr>
          <a:xfrm>
            <a:off x="4581525" y="2143125"/>
            <a:ext cx="3143250" cy="209550"/>
          </a:xfrm>
          <a:prstGeom prst="rect">
            <a:avLst/>
          </a:prstGeom>
          <a:noFill/>
        </p:spPr>
        <p:txBody>
          <a:bodyPr wrap="square" lIns="0" tIns="0" rIns="0" bIns="0">
            <a:spAutoFit/>
          </a:bodyPr>
          <a:lstStyle/>
          <a:p>
            <a:pPr algn="l">
              <a:defRPr sz="975" b="1">
                <a:solidFill>
                  <a:srgbClr val="0284C7"/>
                </a:solidFill>
                <a:latin typeface="Arial"/>
              </a:defRPr>
            </a:pPr>
            <a:r>
              <a:t>The Hidden Drag of Execution</a:t>
            </a:r>
          </a:p>
        </p:txBody>
      </p:sp>
      <p:sp>
        <p:nvSpPr>
          <p:cNvPr id="18" name="TextBox 17"/>
          <p:cNvSpPr txBox="1"/>
          <p:nvPr/>
        </p:nvSpPr>
        <p:spPr>
          <a:xfrm>
            <a:off x="4581525" y="2476500"/>
            <a:ext cx="3143250" cy="3571875"/>
          </a:xfrm>
          <a:prstGeom prst="rect">
            <a:avLst/>
          </a:prstGeom>
          <a:noFill/>
        </p:spPr>
        <p:txBody>
          <a:bodyPr wrap="square" lIns="0" tIns="0" rIns="0" bIns="0">
            <a:spAutoFit/>
          </a:bodyPr>
          <a:lstStyle/>
          <a:p>
            <a:pPr>
              <a:spcAft>
                <a:spcPts val="1200"/>
              </a:spcAft>
              <a:defRPr sz="975">
                <a:solidFill>
                  <a:srgbClr val="475569"/>
                </a:solidFill>
                <a:latin typeface="Arial"/>
              </a:defRPr>
            </a:pPr>
            <a:r>
              <a:t>•  Wallet leaderboards show hundreds of 'paper-profitable' wallets that look miraculous.</a:t>
            </a:r>
          </a:p>
          <a:p>
            <a:pPr>
              <a:spcAft>
                <a:spcPts val="1200"/>
              </a:spcAft>
              <a:defRPr sz="975">
                <a:solidFill>
                  <a:srgbClr val="475569"/>
                </a:solidFill>
                <a:latin typeface="Arial"/>
              </a:defRPr>
            </a:pPr>
            <a:r>
              <a:t>•  In live execution, copycat strategies collapse due to adverse taker fees, exchange funding rate drag, and slippage.</a:t>
            </a:r>
          </a:p>
          <a:p>
            <a:pPr>
              <a:spcAft>
                <a:spcPts val="1200"/>
              </a:spcAft>
              <a:defRPr sz="975">
                <a:solidFill>
                  <a:srgbClr val="475569"/>
                </a:solidFill>
                <a:latin typeface="Arial"/>
              </a:defRPr>
            </a:pPr>
            <a:r>
              <a:t>•  High-frequency toxic scalpers cannot be replicated by human or institutional swing traders.</a:t>
            </a:r>
          </a:p>
          <a:p>
            <a:pPr>
              <a:spcAft>
                <a:spcPts val="1200"/>
              </a:spcAft>
              <a:defRPr sz="975">
                <a:solidFill>
                  <a:srgbClr val="475569"/>
                </a:solidFill>
                <a:latin typeface="Arial"/>
              </a:defRPr>
            </a:pPr>
            <a:r>
              <a:t>•  Result: Truncated capital and catastrophic drawdown when attempting to mirror top wallets.</a:t>
            </a:r>
          </a:p>
        </p:txBody>
      </p:sp>
      <p:sp>
        <p:nvSpPr>
          <p:cNvPr id="19" name="Rounded Rectangle 18"/>
          <p:cNvSpPr/>
          <p:nvPr/>
        </p:nvSpPr>
        <p:spPr>
          <a:xfrm>
            <a:off x="8134350" y="1666875"/>
            <a:ext cx="35718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34350" y="1666875"/>
            <a:ext cx="3571875" cy="38100"/>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43900" y="1857375"/>
            <a:ext cx="3143250" cy="266700"/>
          </a:xfrm>
          <a:prstGeom prst="rect">
            <a:avLst/>
          </a:prstGeom>
          <a:noFill/>
        </p:spPr>
        <p:txBody>
          <a:bodyPr wrap="square" lIns="0" tIns="0" rIns="0" bIns="0">
            <a:spAutoFit/>
          </a:bodyPr>
          <a:lstStyle/>
          <a:p>
            <a:pPr algn="l">
              <a:defRPr sz="1350" b="1">
                <a:solidFill>
                  <a:srgbClr val="0F172A"/>
                </a:solidFill>
                <a:latin typeface="Arial"/>
              </a:defRPr>
            </a:pPr>
            <a:r>
              <a:t>Prop Firm Latency &amp; Spoofing</a:t>
            </a:r>
          </a:p>
        </p:txBody>
      </p:sp>
      <p:sp>
        <p:nvSpPr>
          <p:cNvPr id="22" name="TextBox 21"/>
          <p:cNvSpPr txBox="1"/>
          <p:nvPr/>
        </p:nvSpPr>
        <p:spPr>
          <a:xfrm>
            <a:off x="8343900" y="2143125"/>
            <a:ext cx="3143250" cy="209550"/>
          </a:xfrm>
          <a:prstGeom prst="rect">
            <a:avLst/>
          </a:prstGeom>
          <a:noFill/>
        </p:spPr>
        <p:txBody>
          <a:bodyPr wrap="square" lIns="0" tIns="0" rIns="0" bIns="0">
            <a:spAutoFit/>
          </a:bodyPr>
          <a:lstStyle/>
          <a:p>
            <a:pPr algn="l">
              <a:defRPr sz="975" b="1">
                <a:solidFill>
                  <a:srgbClr val="7C3AED"/>
                </a:solidFill>
                <a:latin typeface="Arial"/>
              </a:defRPr>
            </a:pPr>
            <a:r>
              <a:t>Stale SQL &amp; Sybil Whales</a:t>
            </a:r>
          </a:p>
        </p:txBody>
      </p:sp>
      <p:sp>
        <p:nvSpPr>
          <p:cNvPr id="23" name="TextBox 22"/>
          <p:cNvSpPr txBox="1"/>
          <p:nvPr/>
        </p:nvSpPr>
        <p:spPr>
          <a:xfrm>
            <a:off x="8343900" y="2476500"/>
            <a:ext cx="3143250" cy="3571875"/>
          </a:xfrm>
          <a:prstGeom prst="rect">
            <a:avLst/>
          </a:prstGeom>
          <a:noFill/>
        </p:spPr>
        <p:txBody>
          <a:bodyPr wrap="square" lIns="0" tIns="0" rIns="0" bIns="0">
            <a:spAutoFit/>
          </a:bodyPr>
          <a:lstStyle/>
          <a:p>
            <a:pPr>
              <a:spcAft>
                <a:spcPts val="1200"/>
              </a:spcAft>
              <a:defRPr sz="975">
                <a:solidFill>
                  <a:srgbClr val="475569"/>
                </a:solidFill>
                <a:latin typeface="Arial"/>
              </a:defRPr>
            </a:pPr>
            <a:r>
              <a:t>•  Proprietary trading desks waste hours writing bespoke Dune SQL queries that produce stale signals 15 minutes late.</a:t>
            </a:r>
          </a:p>
          <a:p>
            <a:pPr>
              <a:spcAft>
                <a:spcPts val="1200"/>
              </a:spcAft>
              <a:defRPr sz="975">
                <a:solidFill>
                  <a:srgbClr val="475569"/>
                </a:solidFill>
                <a:latin typeface="Arial"/>
              </a:defRPr>
            </a:pPr>
            <a:r>
              <a:t>•  Single whale entities split orders across 10+ sub-wallets to manufacture artificial consensus on leaderboards.</a:t>
            </a:r>
          </a:p>
          <a:p>
            <a:pPr>
              <a:spcAft>
                <a:spcPts val="1200"/>
              </a:spcAft>
              <a:defRPr sz="975">
                <a:solidFill>
                  <a:srgbClr val="475569"/>
                </a:solidFill>
                <a:latin typeface="Arial"/>
              </a:defRPr>
            </a:pPr>
            <a:r>
              <a:t>•  Existing tools provide zero wallet continuity tracking when top traders cycle addresses.</a:t>
            </a:r>
          </a:p>
          <a:p>
            <a:pPr>
              <a:spcAft>
                <a:spcPts val="1200"/>
              </a:spcAft>
              <a:defRPr sz="975">
                <a:solidFill>
                  <a:srgbClr val="475569"/>
                </a:solidFill>
                <a:latin typeface="Arial"/>
              </a:defRPr>
            </a:pPr>
            <a:r>
              <a:t>•  Result: Prop desks operate with lagging data and blind spots against spoofed consensus.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05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04 / THE SOLUTION</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daVIRA Intelligence: Mathematical Rigor &amp; Execution Reality</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5334000" cy="2190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5334000" cy="38100"/>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150" y="1838324"/>
            <a:ext cx="4857750" cy="247649"/>
          </a:xfrm>
          <a:prstGeom prst="rect">
            <a:avLst/>
          </a:prstGeom>
          <a:noFill/>
        </p:spPr>
        <p:txBody>
          <a:bodyPr wrap="square" lIns="0" tIns="0" rIns="0" bIns="0">
            <a:spAutoFit/>
          </a:bodyPr>
          <a:lstStyle/>
          <a:p>
            <a:pPr algn="l">
              <a:defRPr sz="1275" b="1">
                <a:solidFill>
                  <a:srgbClr val="0F172A"/>
                </a:solidFill>
                <a:latin typeface="Arial"/>
              </a:defRPr>
            </a:pPr>
            <a:r>
              <a:t>4-Way Flow Decomposition</a:t>
            </a:r>
          </a:p>
        </p:txBody>
      </p:sp>
      <p:sp>
        <p:nvSpPr>
          <p:cNvPr id="12" name="TextBox 11"/>
          <p:cNvSpPr txBox="1"/>
          <p:nvPr/>
        </p:nvSpPr>
        <p:spPr>
          <a:xfrm>
            <a:off x="819150" y="2105025"/>
            <a:ext cx="4857750" cy="190500"/>
          </a:xfrm>
          <a:prstGeom prst="rect">
            <a:avLst/>
          </a:prstGeom>
          <a:noFill/>
        </p:spPr>
        <p:txBody>
          <a:bodyPr wrap="square" lIns="0" tIns="0" rIns="0" bIns="0">
            <a:spAutoFit/>
          </a:bodyPr>
          <a:lstStyle/>
          <a:p>
            <a:pPr algn="l">
              <a:defRPr sz="975" b="1">
                <a:solidFill>
                  <a:srgbClr val="059669"/>
                </a:solidFill>
                <a:latin typeface="Arial"/>
              </a:defRPr>
            </a:pPr>
            <a:r>
              <a:t>Isolating Aggressive Leverage</a:t>
            </a:r>
          </a:p>
        </p:txBody>
      </p:sp>
      <p:sp>
        <p:nvSpPr>
          <p:cNvPr id="13" name="TextBox 12"/>
          <p:cNvSpPr txBox="1"/>
          <p:nvPr/>
        </p:nvSpPr>
        <p:spPr>
          <a:xfrm>
            <a:off x="819150" y="2371725"/>
            <a:ext cx="4857750" cy="1381125"/>
          </a:xfrm>
          <a:prstGeom prst="rect">
            <a:avLst/>
          </a:prstGeom>
          <a:noFill/>
        </p:spPr>
        <p:txBody>
          <a:bodyPr wrap="square" lIns="0" tIns="0" rIns="0" bIns="0">
            <a:spAutoFit/>
          </a:bodyPr>
          <a:lstStyle/>
          <a:p>
            <a:pPr>
              <a:spcAft>
                <a:spcPts val="600"/>
              </a:spcAft>
              <a:defRPr sz="937">
                <a:solidFill>
                  <a:srgbClr val="475569"/>
                </a:solidFill>
                <a:latin typeface="Arial"/>
              </a:defRPr>
            </a:pPr>
            <a:r>
              <a:t>✔  Deconstructs every on-chain fill into 4 distinct directional vectors: New Longs, Short Covers, New Shorts, and Long Exits.</a:t>
            </a:r>
          </a:p>
          <a:p>
            <a:pPr>
              <a:spcAft>
                <a:spcPts val="600"/>
              </a:spcAft>
              <a:defRPr sz="937">
                <a:solidFill>
                  <a:srgbClr val="475569"/>
                </a:solidFill>
                <a:latin typeface="Arial"/>
              </a:defRPr>
            </a:pPr>
            <a:r>
              <a:t>✔  Instantly exposes whether rising Open Interest is driven by genuine institutional leverage or forced short liquidations.</a:t>
            </a:r>
          </a:p>
          <a:p>
            <a:pPr>
              <a:spcAft>
                <a:spcPts val="600"/>
              </a:spcAft>
              <a:defRPr sz="937">
                <a:solidFill>
                  <a:srgbClr val="475569"/>
                </a:solidFill>
                <a:latin typeface="Arial"/>
              </a:defRPr>
            </a:pPr>
            <a:r>
              <a:t>✔  Eliminates the #1 source of retail losses: buying into exhausted short squeezes.</a:t>
            </a:r>
          </a:p>
        </p:txBody>
      </p:sp>
      <p:sp>
        <p:nvSpPr>
          <p:cNvPr id="14" name="Rounded Rectangle 13"/>
          <p:cNvSpPr/>
          <p:nvPr/>
        </p:nvSpPr>
        <p:spPr>
          <a:xfrm>
            <a:off x="6229350" y="1666875"/>
            <a:ext cx="5334000" cy="2190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29350" y="1666875"/>
            <a:ext cx="5334000" cy="3810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8900" y="1838324"/>
            <a:ext cx="4857750" cy="247649"/>
          </a:xfrm>
          <a:prstGeom prst="rect">
            <a:avLst/>
          </a:prstGeom>
          <a:noFill/>
        </p:spPr>
        <p:txBody>
          <a:bodyPr wrap="square" lIns="0" tIns="0" rIns="0" bIns="0">
            <a:spAutoFit/>
          </a:bodyPr>
          <a:lstStyle/>
          <a:p>
            <a:pPr algn="l">
              <a:defRPr sz="1275" b="1">
                <a:solidFill>
                  <a:srgbClr val="0F172A"/>
                </a:solidFill>
                <a:latin typeface="Arial"/>
              </a:defRPr>
            </a:pPr>
            <a:r>
              <a:t>Execution Drag Stress Testing</a:t>
            </a:r>
          </a:p>
        </p:txBody>
      </p:sp>
      <p:sp>
        <p:nvSpPr>
          <p:cNvPr id="17" name="TextBox 16"/>
          <p:cNvSpPr txBox="1"/>
          <p:nvPr/>
        </p:nvSpPr>
        <p:spPr>
          <a:xfrm>
            <a:off x="6438900" y="2105025"/>
            <a:ext cx="4857750" cy="190500"/>
          </a:xfrm>
          <a:prstGeom prst="rect">
            <a:avLst/>
          </a:prstGeom>
          <a:noFill/>
        </p:spPr>
        <p:txBody>
          <a:bodyPr wrap="square" lIns="0" tIns="0" rIns="0" bIns="0">
            <a:spAutoFit/>
          </a:bodyPr>
          <a:lstStyle/>
          <a:p>
            <a:pPr algn="l">
              <a:defRPr sz="975" b="1">
                <a:solidFill>
                  <a:srgbClr val="0284C7"/>
                </a:solidFill>
                <a:latin typeface="Arial"/>
              </a:defRPr>
            </a:pPr>
            <a:r>
              <a:t>Realism Before Capital Risk</a:t>
            </a:r>
          </a:p>
        </p:txBody>
      </p:sp>
      <p:sp>
        <p:nvSpPr>
          <p:cNvPr id="18" name="TextBox 17"/>
          <p:cNvSpPr txBox="1"/>
          <p:nvPr/>
        </p:nvSpPr>
        <p:spPr>
          <a:xfrm>
            <a:off x="6438900" y="2371725"/>
            <a:ext cx="4857750" cy="1381125"/>
          </a:xfrm>
          <a:prstGeom prst="rect">
            <a:avLst/>
          </a:prstGeom>
          <a:noFill/>
        </p:spPr>
        <p:txBody>
          <a:bodyPr wrap="square" lIns="0" tIns="0" rIns="0" bIns="0">
            <a:spAutoFit/>
          </a:bodyPr>
          <a:lstStyle/>
          <a:p>
            <a:pPr>
              <a:spcAft>
                <a:spcPts val="600"/>
              </a:spcAft>
              <a:defRPr sz="937">
                <a:solidFill>
                  <a:srgbClr val="475569"/>
                </a:solidFill>
                <a:latin typeface="Arial"/>
              </a:defRPr>
            </a:pPr>
            <a:r>
              <a:t>✔  Simulates live copy-trading performance across tiered taker fee and slippage hurdles: 0, 5, 10, and 25 bps.</a:t>
            </a:r>
          </a:p>
          <a:p>
            <a:pPr>
              <a:spcAft>
                <a:spcPts val="600"/>
              </a:spcAft>
              <a:defRPr sz="937">
                <a:solidFill>
                  <a:srgbClr val="475569"/>
                </a:solidFill>
                <a:latin typeface="Arial"/>
              </a:defRPr>
            </a:pPr>
            <a:r>
              <a:t>✔  Automatically calculates median trade holding duration to filter out toxic HFT scalpers from actionable swing alpha.</a:t>
            </a:r>
          </a:p>
          <a:p>
            <a:pPr>
              <a:spcAft>
                <a:spcPts val="600"/>
              </a:spcAft>
              <a:defRPr sz="937">
                <a:solidFill>
                  <a:srgbClr val="475569"/>
                </a:solidFill>
                <a:latin typeface="Arial"/>
              </a:defRPr>
            </a:pPr>
            <a:r>
              <a:t>✔  Guarantees that surfaced alpha can actually be captured with real capital in live order books.</a:t>
            </a:r>
          </a:p>
        </p:txBody>
      </p:sp>
      <p:sp>
        <p:nvSpPr>
          <p:cNvPr id="19" name="Rounded Rectangle 18"/>
          <p:cNvSpPr/>
          <p:nvPr/>
        </p:nvSpPr>
        <p:spPr>
          <a:xfrm>
            <a:off x="609600" y="4000500"/>
            <a:ext cx="5334000" cy="2190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09600" y="4000500"/>
            <a:ext cx="5334000" cy="38100"/>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150" y="4171950"/>
            <a:ext cx="4857750" cy="247649"/>
          </a:xfrm>
          <a:prstGeom prst="rect">
            <a:avLst/>
          </a:prstGeom>
          <a:noFill/>
        </p:spPr>
        <p:txBody>
          <a:bodyPr wrap="square" lIns="0" tIns="0" rIns="0" bIns="0">
            <a:spAutoFit/>
          </a:bodyPr>
          <a:lstStyle/>
          <a:p>
            <a:pPr algn="l">
              <a:defRPr sz="1275" b="1">
                <a:solidFill>
                  <a:srgbClr val="0F172A"/>
                </a:solidFill>
                <a:latin typeface="Arial"/>
              </a:defRPr>
            </a:pPr>
            <a:r>
              <a:t>Cohort Consensus &amp; Anti-Spoofing</a:t>
            </a:r>
          </a:p>
        </p:txBody>
      </p:sp>
      <p:sp>
        <p:nvSpPr>
          <p:cNvPr id="22" name="TextBox 21"/>
          <p:cNvSpPr txBox="1"/>
          <p:nvPr/>
        </p:nvSpPr>
        <p:spPr>
          <a:xfrm>
            <a:off x="819150" y="4438650"/>
            <a:ext cx="4857750" cy="190500"/>
          </a:xfrm>
          <a:prstGeom prst="rect">
            <a:avLst/>
          </a:prstGeom>
          <a:noFill/>
        </p:spPr>
        <p:txBody>
          <a:bodyPr wrap="square" lIns="0" tIns="0" rIns="0" bIns="0">
            <a:spAutoFit/>
          </a:bodyPr>
          <a:lstStyle/>
          <a:p>
            <a:pPr algn="l">
              <a:defRPr sz="975" b="1">
                <a:solidFill>
                  <a:srgbClr val="D97706"/>
                </a:solidFill>
                <a:latin typeface="Arial"/>
              </a:defRPr>
            </a:pPr>
            <a:r>
              <a:t>Institutional Whale Radar</a:t>
            </a:r>
          </a:p>
        </p:txBody>
      </p:sp>
      <p:sp>
        <p:nvSpPr>
          <p:cNvPr id="23" name="TextBox 22"/>
          <p:cNvSpPr txBox="1"/>
          <p:nvPr/>
        </p:nvSpPr>
        <p:spPr>
          <a:xfrm>
            <a:off x="819150" y="4705350"/>
            <a:ext cx="4857750" cy="1381125"/>
          </a:xfrm>
          <a:prstGeom prst="rect">
            <a:avLst/>
          </a:prstGeom>
          <a:noFill/>
        </p:spPr>
        <p:txBody>
          <a:bodyPr wrap="square" lIns="0" tIns="0" rIns="0" bIns="0">
            <a:spAutoFit/>
          </a:bodyPr>
          <a:lstStyle/>
          <a:p>
            <a:pPr>
              <a:spcAft>
                <a:spcPts val="600"/>
              </a:spcAft>
              <a:defRPr sz="937">
                <a:solidFill>
                  <a:srgbClr val="475569"/>
                </a:solidFill>
                <a:latin typeface="Arial"/>
              </a:defRPr>
            </a:pPr>
            <a:r>
              <a:t>✔  Applies 'one-wallet-one-vote' consensus metrics across top 2,000 wallets to detect true multi-desk directional agreement.</a:t>
            </a:r>
          </a:p>
          <a:p>
            <a:pPr>
              <a:spcAft>
                <a:spcPts val="600"/>
              </a:spcAft>
              <a:defRPr sz="937">
                <a:solidFill>
                  <a:srgbClr val="475569"/>
                </a:solidFill>
                <a:latin typeface="Arial"/>
              </a:defRPr>
            </a:pPr>
            <a:r>
              <a:t>✔  Largest-contributor sensitivity analysis isolates single-whale concentration and synthetic sybil volume.</a:t>
            </a:r>
          </a:p>
          <a:p>
            <a:pPr>
              <a:spcAft>
                <a:spcPts val="600"/>
              </a:spcAft>
              <a:defRPr sz="937">
                <a:solidFill>
                  <a:srgbClr val="475569"/>
                </a:solidFill>
                <a:latin typeface="Arial"/>
              </a:defRPr>
            </a:pPr>
            <a:r>
              <a:t>✔  Sub-minute position change alerts surface accumulation patterns before market breakouts occur.</a:t>
            </a:r>
          </a:p>
        </p:txBody>
      </p:sp>
      <p:sp>
        <p:nvSpPr>
          <p:cNvPr id="24" name="Rounded Rectangle 23"/>
          <p:cNvSpPr/>
          <p:nvPr/>
        </p:nvSpPr>
        <p:spPr>
          <a:xfrm>
            <a:off x="6229350" y="4000500"/>
            <a:ext cx="5334000" cy="2190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29350" y="4000500"/>
            <a:ext cx="5334000" cy="38100"/>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900" y="4171950"/>
            <a:ext cx="4857750" cy="247649"/>
          </a:xfrm>
          <a:prstGeom prst="rect">
            <a:avLst/>
          </a:prstGeom>
          <a:noFill/>
        </p:spPr>
        <p:txBody>
          <a:bodyPr wrap="square" lIns="0" tIns="0" rIns="0" bIns="0">
            <a:spAutoFit/>
          </a:bodyPr>
          <a:lstStyle/>
          <a:p>
            <a:pPr algn="l">
              <a:defRPr sz="1275" b="1">
                <a:solidFill>
                  <a:srgbClr val="0F172A"/>
                </a:solidFill>
                <a:latin typeface="Arial"/>
              </a:defRPr>
            </a:pPr>
            <a:r>
              <a:t>Pre-Move Volatility Radar</a:t>
            </a:r>
          </a:p>
        </p:txBody>
      </p:sp>
      <p:sp>
        <p:nvSpPr>
          <p:cNvPr id="27" name="TextBox 26"/>
          <p:cNvSpPr txBox="1"/>
          <p:nvPr/>
        </p:nvSpPr>
        <p:spPr>
          <a:xfrm>
            <a:off x="6438900" y="4438650"/>
            <a:ext cx="4857750" cy="190500"/>
          </a:xfrm>
          <a:prstGeom prst="rect">
            <a:avLst/>
          </a:prstGeom>
          <a:noFill/>
        </p:spPr>
        <p:txBody>
          <a:bodyPr wrap="square" lIns="0" tIns="0" rIns="0" bIns="0">
            <a:spAutoFit/>
          </a:bodyPr>
          <a:lstStyle/>
          <a:p>
            <a:pPr algn="l">
              <a:defRPr sz="975" b="1">
                <a:solidFill>
                  <a:srgbClr val="7C3AED"/>
                </a:solidFill>
                <a:latin typeface="Arial"/>
              </a:defRPr>
            </a:pPr>
            <a:r>
              <a:t>Front-Running Information Asymmetry</a:t>
            </a:r>
          </a:p>
        </p:txBody>
      </p:sp>
      <p:sp>
        <p:nvSpPr>
          <p:cNvPr id="28" name="TextBox 27"/>
          <p:cNvSpPr txBox="1"/>
          <p:nvPr/>
        </p:nvSpPr>
        <p:spPr>
          <a:xfrm>
            <a:off x="6438900" y="4705350"/>
            <a:ext cx="4857750" cy="1381125"/>
          </a:xfrm>
          <a:prstGeom prst="rect">
            <a:avLst/>
          </a:prstGeom>
          <a:noFill/>
        </p:spPr>
        <p:txBody>
          <a:bodyPr wrap="square" lIns="0" tIns="0" rIns="0" bIns="0">
            <a:spAutoFit/>
          </a:bodyPr>
          <a:lstStyle/>
          <a:p>
            <a:pPr>
              <a:spcAft>
                <a:spcPts val="600"/>
              </a:spcAft>
              <a:defRPr sz="937">
                <a:solidFill>
                  <a:srgbClr val="475569"/>
                </a:solidFill>
                <a:latin typeface="Arial"/>
              </a:defRPr>
            </a:pPr>
            <a:r>
              <a:t>✔  Detects anomalous wallet positioning 15 to 60 minutes ahead of scheduled macro releases and market-moving events.</a:t>
            </a:r>
          </a:p>
          <a:p>
            <a:pPr>
              <a:spcAft>
                <a:spcPts val="600"/>
              </a:spcAft>
              <a:defRPr sz="937">
                <a:solidFill>
                  <a:srgbClr val="475569"/>
                </a:solidFill>
                <a:latin typeface="Arial"/>
              </a:defRPr>
            </a:pPr>
            <a:r>
              <a:t>✔  Tracks smart money rebalancing into defensive cash or aggressive perp leverage in real time.</a:t>
            </a:r>
          </a:p>
          <a:p>
            <a:pPr>
              <a:spcAft>
                <a:spcPts val="600"/>
              </a:spcAft>
              <a:defRPr sz="937">
                <a:solidFill>
                  <a:srgbClr val="475569"/>
                </a:solidFill>
                <a:latin typeface="Arial"/>
              </a:defRPr>
            </a:pPr>
            <a:r>
              <a:t>✔  Provides institutional and retail traders with an asymmetric informational advantage.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06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05 / USER IMPACT</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Smart-Money Tracking Empowering Every Tier of Trader</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5334000" cy="2190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5334000" cy="38100"/>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150" y="1838324"/>
            <a:ext cx="4857750" cy="247649"/>
          </a:xfrm>
          <a:prstGeom prst="rect">
            <a:avLst/>
          </a:prstGeom>
          <a:noFill/>
        </p:spPr>
        <p:txBody>
          <a:bodyPr wrap="square" lIns="0" tIns="0" rIns="0" bIns="0">
            <a:spAutoFit/>
          </a:bodyPr>
          <a:lstStyle/>
          <a:p>
            <a:pPr algn="l">
              <a:defRPr sz="1275" b="1">
                <a:solidFill>
                  <a:srgbClr val="0F172A"/>
                </a:solidFill>
                <a:latin typeface="Arial"/>
              </a:defRPr>
            </a:pPr>
            <a:r>
              <a:t>Normal &amp; Retail Crypto Traders</a:t>
            </a:r>
          </a:p>
        </p:txBody>
      </p:sp>
      <p:sp>
        <p:nvSpPr>
          <p:cNvPr id="12" name="TextBox 11"/>
          <p:cNvSpPr txBox="1"/>
          <p:nvPr/>
        </p:nvSpPr>
        <p:spPr>
          <a:xfrm>
            <a:off x="819150" y="2105025"/>
            <a:ext cx="4857750" cy="190500"/>
          </a:xfrm>
          <a:prstGeom prst="rect">
            <a:avLst/>
          </a:prstGeom>
          <a:noFill/>
        </p:spPr>
        <p:txBody>
          <a:bodyPr wrap="square" lIns="0" tIns="0" rIns="0" bIns="0">
            <a:spAutoFit/>
          </a:bodyPr>
          <a:lstStyle/>
          <a:p>
            <a:pPr algn="l">
              <a:defRPr sz="975" b="1">
                <a:solidFill>
                  <a:srgbClr val="059669"/>
                </a:solidFill>
                <a:latin typeface="Arial"/>
              </a:defRPr>
            </a:pPr>
            <a:r>
              <a:t>Never Be Exit Liquidity Again</a:t>
            </a:r>
          </a:p>
        </p:txBody>
      </p:sp>
      <p:sp>
        <p:nvSpPr>
          <p:cNvPr id="13" name="TextBox 12"/>
          <p:cNvSpPr txBox="1"/>
          <p:nvPr/>
        </p:nvSpPr>
        <p:spPr>
          <a:xfrm>
            <a:off x="819150" y="2371725"/>
            <a:ext cx="4857750" cy="1381125"/>
          </a:xfrm>
          <a:prstGeom prst="rect">
            <a:avLst/>
          </a:prstGeom>
          <a:noFill/>
        </p:spPr>
        <p:txBody>
          <a:bodyPr wrap="square" lIns="0" tIns="0" rIns="0" bIns="0">
            <a:spAutoFit/>
          </a:bodyPr>
          <a:lstStyle/>
          <a:p>
            <a:pPr>
              <a:spcAft>
                <a:spcPts val="600"/>
              </a:spcAft>
              <a:defRPr sz="937">
                <a:solidFill>
                  <a:srgbClr val="475569"/>
                </a:solidFill>
                <a:latin typeface="Arial"/>
              </a:defRPr>
            </a:pPr>
            <a:r>
              <a:t>•  Pain: Buying top of pumps due to confusing short-covering squeezes with organic institutional accumulation.</a:t>
            </a:r>
          </a:p>
          <a:p>
            <a:pPr>
              <a:spcAft>
                <a:spcPts val="600"/>
              </a:spcAft>
              <a:defRPr sz="937">
                <a:solidFill>
                  <a:srgbClr val="475569"/>
                </a:solidFill>
                <a:latin typeface="Arial"/>
              </a:defRPr>
            </a:pPr>
            <a:r>
              <a:t>•  daVIRA Edge: 4-way flow decomposition clearly highlights whether smart money is opening fresh long leverage or distributing into retail FOMO.</a:t>
            </a:r>
          </a:p>
          <a:p>
            <a:pPr>
              <a:spcAft>
                <a:spcPts val="600"/>
              </a:spcAft>
              <a:defRPr sz="937">
                <a:solidFill>
                  <a:srgbClr val="475569"/>
                </a:solidFill>
                <a:latin typeface="Arial"/>
              </a:defRPr>
            </a:pPr>
            <a:r>
              <a:t>•  Active Price: $10/month accessible plan brings Wall Street-grade flow transparency to everyday traders.</a:t>
            </a:r>
          </a:p>
        </p:txBody>
      </p:sp>
      <p:sp>
        <p:nvSpPr>
          <p:cNvPr id="14" name="Rounded Rectangle 13"/>
          <p:cNvSpPr/>
          <p:nvPr/>
        </p:nvSpPr>
        <p:spPr>
          <a:xfrm>
            <a:off x="6229350" y="1666875"/>
            <a:ext cx="5334000" cy="2190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29350" y="1666875"/>
            <a:ext cx="5334000" cy="3810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8900" y="1838324"/>
            <a:ext cx="4857750" cy="247649"/>
          </a:xfrm>
          <a:prstGeom prst="rect">
            <a:avLst/>
          </a:prstGeom>
          <a:noFill/>
        </p:spPr>
        <p:txBody>
          <a:bodyPr wrap="square" lIns="0" tIns="0" rIns="0" bIns="0">
            <a:spAutoFit/>
          </a:bodyPr>
          <a:lstStyle/>
          <a:p>
            <a:pPr algn="l">
              <a:defRPr sz="1275" b="1">
                <a:solidFill>
                  <a:srgbClr val="0F172A"/>
                </a:solidFill>
                <a:latin typeface="Arial"/>
              </a:defRPr>
            </a:pPr>
            <a:r>
              <a:t>Individual Crypto Quants</a:t>
            </a:r>
          </a:p>
        </p:txBody>
      </p:sp>
      <p:sp>
        <p:nvSpPr>
          <p:cNvPr id="17" name="TextBox 16"/>
          <p:cNvSpPr txBox="1"/>
          <p:nvPr/>
        </p:nvSpPr>
        <p:spPr>
          <a:xfrm>
            <a:off x="6438900" y="2105025"/>
            <a:ext cx="4857750" cy="190500"/>
          </a:xfrm>
          <a:prstGeom prst="rect">
            <a:avLst/>
          </a:prstGeom>
          <a:noFill/>
        </p:spPr>
        <p:txBody>
          <a:bodyPr wrap="square" lIns="0" tIns="0" rIns="0" bIns="0">
            <a:spAutoFit/>
          </a:bodyPr>
          <a:lstStyle/>
          <a:p>
            <a:pPr algn="l">
              <a:defRPr sz="975" b="1">
                <a:solidFill>
                  <a:srgbClr val="0284C7"/>
                </a:solidFill>
                <a:latin typeface="Arial"/>
              </a:defRPr>
            </a:pPr>
            <a:r>
              <a:t>Reproducible Swing Alpha</a:t>
            </a:r>
          </a:p>
        </p:txBody>
      </p:sp>
      <p:sp>
        <p:nvSpPr>
          <p:cNvPr id="18" name="TextBox 17"/>
          <p:cNvSpPr txBox="1"/>
          <p:nvPr/>
        </p:nvSpPr>
        <p:spPr>
          <a:xfrm>
            <a:off x="6438900" y="2371725"/>
            <a:ext cx="4857750" cy="1381125"/>
          </a:xfrm>
          <a:prstGeom prst="rect">
            <a:avLst/>
          </a:prstGeom>
          <a:noFill/>
        </p:spPr>
        <p:txBody>
          <a:bodyPr wrap="square" lIns="0" tIns="0" rIns="0" bIns="0">
            <a:spAutoFit/>
          </a:bodyPr>
          <a:lstStyle/>
          <a:p>
            <a:pPr>
              <a:spcAft>
                <a:spcPts val="600"/>
              </a:spcAft>
              <a:defRPr sz="937">
                <a:solidFill>
                  <a:srgbClr val="475569"/>
                </a:solidFill>
                <a:latin typeface="Arial"/>
              </a:defRPr>
            </a:pPr>
            <a:r>
              <a:t>•  Pain: Leaderboards show high paper PnL wallets that bleed out in live execution due to uncopyable HFT latency and high fees.</a:t>
            </a:r>
          </a:p>
          <a:p>
            <a:pPr>
              <a:spcAft>
                <a:spcPts val="600"/>
              </a:spcAft>
              <a:defRPr sz="937">
                <a:solidFill>
                  <a:srgbClr val="475569"/>
                </a:solidFill>
                <a:latin typeface="Arial"/>
              </a:defRPr>
            </a:pPr>
            <a:r>
              <a:t>•  daVIRA Edge: Execution-drag stress engine (0, 5, 10, 25 bps) &amp; holding time filtering surface realistic, monetizable swing alpha.</a:t>
            </a:r>
          </a:p>
          <a:p>
            <a:pPr>
              <a:spcAft>
                <a:spcPts val="600"/>
              </a:spcAft>
              <a:defRPr sz="937">
                <a:solidFill>
                  <a:srgbClr val="475569"/>
                </a:solidFill>
                <a:latin typeface="Arial"/>
              </a:defRPr>
            </a:pPr>
            <a:r>
              <a:t>•  Value: Build and validate systematic copy-trading strategies with provable mathematical edge.</a:t>
            </a:r>
          </a:p>
        </p:txBody>
      </p:sp>
      <p:sp>
        <p:nvSpPr>
          <p:cNvPr id="19" name="Rounded Rectangle 18"/>
          <p:cNvSpPr/>
          <p:nvPr/>
        </p:nvSpPr>
        <p:spPr>
          <a:xfrm>
            <a:off x="609600" y="4000500"/>
            <a:ext cx="5334000" cy="2190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09600" y="4000500"/>
            <a:ext cx="5334000" cy="38100"/>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150" y="4171950"/>
            <a:ext cx="4857750" cy="247649"/>
          </a:xfrm>
          <a:prstGeom prst="rect">
            <a:avLst/>
          </a:prstGeom>
          <a:noFill/>
        </p:spPr>
        <p:txBody>
          <a:bodyPr wrap="square" lIns="0" tIns="0" rIns="0" bIns="0">
            <a:spAutoFit/>
          </a:bodyPr>
          <a:lstStyle/>
          <a:p>
            <a:pPr algn="l">
              <a:defRPr sz="1275" b="1">
                <a:solidFill>
                  <a:srgbClr val="0F172A"/>
                </a:solidFill>
                <a:latin typeface="Arial"/>
              </a:defRPr>
            </a:pPr>
            <a:r>
              <a:t>Proprietary Trading Firms</a:t>
            </a:r>
          </a:p>
        </p:txBody>
      </p:sp>
      <p:sp>
        <p:nvSpPr>
          <p:cNvPr id="22" name="TextBox 21"/>
          <p:cNvSpPr txBox="1"/>
          <p:nvPr/>
        </p:nvSpPr>
        <p:spPr>
          <a:xfrm>
            <a:off x="819150" y="4438650"/>
            <a:ext cx="4857750" cy="190500"/>
          </a:xfrm>
          <a:prstGeom prst="rect">
            <a:avLst/>
          </a:prstGeom>
          <a:noFill/>
        </p:spPr>
        <p:txBody>
          <a:bodyPr wrap="square" lIns="0" tIns="0" rIns="0" bIns="0">
            <a:spAutoFit/>
          </a:bodyPr>
          <a:lstStyle/>
          <a:p>
            <a:pPr algn="l">
              <a:defRPr sz="975" b="1">
                <a:solidFill>
                  <a:srgbClr val="D97706"/>
                </a:solidFill>
                <a:latin typeface="Arial"/>
              </a:defRPr>
            </a:pPr>
            <a:r>
              <a:t>Instant Cross-Desk Consensus</a:t>
            </a:r>
          </a:p>
        </p:txBody>
      </p:sp>
      <p:sp>
        <p:nvSpPr>
          <p:cNvPr id="23" name="TextBox 22"/>
          <p:cNvSpPr txBox="1"/>
          <p:nvPr/>
        </p:nvSpPr>
        <p:spPr>
          <a:xfrm>
            <a:off x="819150" y="4705350"/>
            <a:ext cx="4857750" cy="1381125"/>
          </a:xfrm>
          <a:prstGeom prst="rect">
            <a:avLst/>
          </a:prstGeom>
          <a:noFill/>
        </p:spPr>
        <p:txBody>
          <a:bodyPr wrap="square" lIns="0" tIns="0" rIns="0" bIns="0">
            <a:spAutoFit/>
          </a:bodyPr>
          <a:lstStyle/>
          <a:p>
            <a:pPr>
              <a:spcAft>
                <a:spcPts val="600"/>
              </a:spcAft>
              <a:defRPr sz="937">
                <a:solidFill>
                  <a:srgbClr val="475569"/>
                </a:solidFill>
                <a:latin typeface="Arial"/>
              </a:defRPr>
            </a:pPr>
            <a:r>
              <a:t>•  Pain: Analysts spend hours writing Dune SQL scripts, resulting in stale alpha that arrives after market volatility has passed.</a:t>
            </a:r>
          </a:p>
          <a:p>
            <a:pPr>
              <a:spcAft>
                <a:spcPts val="600"/>
              </a:spcAft>
              <a:defRPr sz="937">
                <a:solidFill>
                  <a:srgbClr val="475569"/>
                </a:solidFill>
                <a:latin typeface="Arial"/>
              </a:defRPr>
            </a:pPr>
            <a:r>
              <a:t>•  daVIRA Edge: Instant cohort-level consensus, sub-minute position alerts, and pre-move wallet radar deliver actionable signals ahead of breaks.</a:t>
            </a:r>
          </a:p>
          <a:p>
            <a:pPr>
              <a:spcAft>
                <a:spcPts val="600"/>
              </a:spcAft>
              <a:defRPr sz="937">
                <a:solidFill>
                  <a:srgbClr val="475569"/>
                </a:solidFill>
                <a:latin typeface="Arial"/>
              </a:defRPr>
            </a:pPr>
            <a:r>
              <a:t>•  Enterprise Seats: $250 – $1,000/month/seat with multi-analyst watchlists, custom webhook alerts, and API feeds.</a:t>
            </a:r>
          </a:p>
        </p:txBody>
      </p:sp>
      <p:sp>
        <p:nvSpPr>
          <p:cNvPr id="24" name="Rounded Rectangle 23"/>
          <p:cNvSpPr/>
          <p:nvPr/>
        </p:nvSpPr>
        <p:spPr>
          <a:xfrm>
            <a:off x="6229350" y="4000500"/>
            <a:ext cx="5334000" cy="2190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29350" y="4000500"/>
            <a:ext cx="5334000" cy="38100"/>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900" y="4171950"/>
            <a:ext cx="4857750" cy="247649"/>
          </a:xfrm>
          <a:prstGeom prst="rect">
            <a:avLst/>
          </a:prstGeom>
          <a:noFill/>
        </p:spPr>
        <p:txBody>
          <a:bodyPr wrap="square" lIns="0" tIns="0" rIns="0" bIns="0">
            <a:spAutoFit/>
          </a:bodyPr>
          <a:lstStyle/>
          <a:p>
            <a:pPr algn="l">
              <a:defRPr sz="1275" b="1">
                <a:solidFill>
                  <a:srgbClr val="0F172A"/>
                </a:solidFill>
                <a:latin typeface="Arial"/>
              </a:defRPr>
            </a:pPr>
            <a:r>
              <a:t>Institutional Risk Desks</a:t>
            </a:r>
          </a:p>
        </p:txBody>
      </p:sp>
      <p:sp>
        <p:nvSpPr>
          <p:cNvPr id="27" name="TextBox 26"/>
          <p:cNvSpPr txBox="1"/>
          <p:nvPr/>
        </p:nvSpPr>
        <p:spPr>
          <a:xfrm>
            <a:off x="6438900" y="4438650"/>
            <a:ext cx="4857750" cy="190500"/>
          </a:xfrm>
          <a:prstGeom prst="rect">
            <a:avLst/>
          </a:prstGeom>
          <a:noFill/>
        </p:spPr>
        <p:txBody>
          <a:bodyPr wrap="square" lIns="0" tIns="0" rIns="0" bIns="0">
            <a:spAutoFit/>
          </a:bodyPr>
          <a:lstStyle/>
          <a:p>
            <a:pPr algn="l">
              <a:defRPr sz="975" b="1">
                <a:solidFill>
                  <a:srgbClr val="7C3AED"/>
                </a:solidFill>
                <a:latin typeface="Arial"/>
              </a:defRPr>
            </a:pPr>
            <a:r>
              <a:t>Anti-Spoofing &amp; Whale Exposure</a:t>
            </a:r>
          </a:p>
        </p:txBody>
      </p:sp>
      <p:sp>
        <p:nvSpPr>
          <p:cNvPr id="28" name="TextBox 27"/>
          <p:cNvSpPr txBox="1"/>
          <p:nvPr/>
        </p:nvSpPr>
        <p:spPr>
          <a:xfrm>
            <a:off x="6438900" y="4705350"/>
            <a:ext cx="4857750" cy="1381125"/>
          </a:xfrm>
          <a:prstGeom prst="rect">
            <a:avLst/>
          </a:prstGeom>
          <a:noFill/>
        </p:spPr>
        <p:txBody>
          <a:bodyPr wrap="square" lIns="0" tIns="0" rIns="0" bIns="0">
            <a:spAutoFit/>
          </a:bodyPr>
          <a:lstStyle/>
          <a:p>
            <a:pPr>
              <a:spcAft>
                <a:spcPts val="600"/>
              </a:spcAft>
              <a:defRPr sz="937">
                <a:solidFill>
                  <a:srgbClr val="475569"/>
                </a:solidFill>
                <a:latin typeface="Arial"/>
              </a:defRPr>
            </a:pPr>
            <a:r>
              <a:t>•  Pain: Whales splitting positions across 10+ sub-wallets create the illusion of broad market consensus, baiting risk models.</a:t>
            </a:r>
          </a:p>
          <a:p>
            <a:pPr>
              <a:spcAft>
                <a:spcPts val="600"/>
              </a:spcAft>
              <a:defRPr sz="937">
                <a:solidFill>
                  <a:srgbClr val="475569"/>
                </a:solidFill>
                <a:latin typeface="Arial"/>
              </a:defRPr>
            </a:pPr>
            <a:r>
              <a:t>•  daVIRA Edge: One-wallet-one-vote agreement metrics &amp; largest-contributor sensitivity instantly expose whale concentration and spoofed consensus.</a:t>
            </a:r>
          </a:p>
          <a:p>
            <a:pPr>
              <a:spcAft>
                <a:spcPts val="600"/>
              </a:spcAft>
              <a:defRPr sz="937">
                <a:solidFill>
                  <a:srgbClr val="475569"/>
                </a:solidFill>
                <a:latin typeface="Arial"/>
              </a:defRPr>
            </a:pPr>
            <a:r>
              <a:t>•  Protection: Prevents over-leveraging into synthetic liquidity walls and illiquid copycat positioning.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07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06 / CROSS-ASSET CONVERGENCE</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Whole-Market View: Crypto, US Equities and Commodities</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10953750" cy="9525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10953750" cy="3810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150" y="1790700"/>
            <a:ext cx="10477500" cy="228600"/>
          </a:xfrm>
          <a:prstGeom prst="rect">
            <a:avLst/>
          </a:prstGeom>
          <a:noFill/>
        </p:spPr>
        <p:txBody>
          <a:bodyPr wrap="square" lIns="0" tIns="0" rIns="0" bIns="0">
            <a:spAutoFit/>
          </a:bodyPr>
          <a:lstStyle/>
          <a:p>
            <a:pPr algn="l">
              <a:defRPr sz="1200" b="1">
                <a:solidFill>
                  <a:srgbClr val="0F172A"/>
                </a:solidFill>
                <a:latin typeface="Arial"/>
              </a:defRPr>
            </a:pPr>
            <a:r>
              <a:t>The Decentralized Convergence of Global Financial Markets</a:t>
            </a:r>
          </a:p>
        </p:txBody>
      </p:sp>
      <p:sp>
        <p:nvSpPr>
          <p:cNvPr id="12" name="TextBox 11"/>
          <p:cNvSpPr txBox="1"/>
          <p:nvPr/>
        </p:nvSpPr>
        <p:spPr>
          <a:xfrm>
            <a:off x="819150" y="2057400"/>
            <a:ext cx="10477500" cy="457200"/>
          </a:xfrm>
          <a:prstGeom prst="rect">
            <a:avLst/>
          </a:prstGeom>
          <a:noFill/>
        </p:spPr>
        <p:txBody>
          <a:bodyPr wrap="square" lIns="0" tIns="0" rIns="0" bIns="0">
            <a:spAutoFit/>
          </a:bodyPr>
          <a:lstStyle/>
          <a:p>
            <a:pPr algn="l">
              <a:defRPr sz="975" b="0">
                <a:solidFill>
                  <a:srgbClr val="475569"/>
                </a:solidFill>
                <a:latin typeface="Arial"/>
              </a:defRPr>
            </a:pPr>
            <a:r>
              <a:t>Modern perpetual DEXs (Hyperliquid HIP-1, Builder DEXs) have expanded beyond crypto natives to trade synthetic US tech equities (NVDA, TSLA, AAPL), global market indices, and commodities (Gold, Crude Oil). For the first time, traders can inspect real-time global macro asset rotation through a single, verifiable on-chain wallet ledger.</a:t>
            </a:r>
          </a:p>
        </p:txBody>
      </p:sp>
      <p:sp>
        <p:nvSpPr>
          <p:cNvPr id="13" name="Rounded Rectangle 12"/>
          <p:cNvSpPr/>
          <p:nvPr/>
        </p:nvSpPr>
        <p:spPr>
          <a:xfrm>
            <a:off x="609600" y="2762250"/>
            <a:ext cx="3571875" cy="347662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9600" y="2762250"/>
            <a:ext cx="3571875" cy="38100"/>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 y="2933700"/>
            <a:ext cx="3143250" cy="247649"/>
          </a:xfrm>
          <a:prstGeom prst="rect">
            <a:avLst/>
          </a:prstGeom>
          <a:noFill/>
        </p:spPr>
        <p:txBody>
          <a:bodyPr wrap="square" lIns="0" tIns="0" rIns="0" bIns="0">
            <a:spAutoFit/>
          </a:bodyPr>
          <a:lstStyle/>
          <a:p>
            <a:pPr algn="l">
              <a:defRPr sz="1275" b="1">
                <a:solidFill>
                  <a:srgbClr val="0F172A"/>
                </a:solidFill>
                <a:latin typeface="Arial"/>
              </a:defRPr>
            </a:pPr>
            <a:r>
              <a:t>Crypto Beta &amp; Majors</a:t>
            </a:r>
          </a:p>
        </p:txBody>
      </p:sp>
      <p:sp>
        <p:nvSpPr>
          <p:cNvPr id="16" name="TextBox 15"/>
          <p:cNvSpPr txBox="1"/>
          <p:nvPr/>
        </p:nvSpPr>
        <p:spPr>
          <a:xfrm>
            <a:off x="800100" y="3200400"/>
            <a:ext cx="3143250" cy="190500"/>
          </a:xfrm>
          <a:prstGeom prst="rect">
            <a:avLst/>
          </a:prstGeom>
          <a:noFill/>
        </p:spPr>
        <p:txBody>
          <a:bodyPr wrap="square" lIns="0" tIns="0" rIns="0" bIns="0">
            <a:spAutoFit/>
          </a:bodyPr>
          <a:lstStyle/>
          <a:p>
            <a:pPr algn="l">
              <a:defRPr sz="975" b="1">
                <a:solidFill>
                  <a:srgbClr val="059669"/>
                </a:solidFill>
                <a:latin typeface="Arial"/>
              </a:defRPr>
            </a:pPr>
            <a:r>
              <a:t>BTC, ETH, SOL &amp; Altcoins</a:t>
            </a:r>
          </a:p>
        </p:txBody>
      </p:sp>
      <p:sp>
        <p:nvSpPr>
          <p:cNvPr id="17" name="TextBox 16"/>
          <p:cNvSpPr txBox="1"/>
          <p:nvPr/>
        </p:nvSpPr>
        <p:spPr>
          <a:xfrm>
            <a:off x="800100" y="3505200"/>
            <a:ext cx="3143250" cy="2571750"/>
          </a:xfrm>
          <a:prstGeom prst="rect">
            <a:avLst/>
          </a:prstGeom>
          <a:noFill/>
        </p:spPr>
        <p:txBody>
          <a:bodyPr wrap="square" lIns="0" tIns="0" rIns="0" bIns="0">
            <a:spAutoFit/>
          </a:bodyPr>
          <a:lstStyle/>
          <a:p>
            <a:pPr>
              <a:spcAft>
                <a:spcPts val="1200"/>
              </a:spcAft>
              <a:defRPr sz="975">
                <a:solidFill>
                  <a:srgbClr val="475569"/>
                </a:solidFill>
                <a:latin typeface="Arial"/>
              </a:defRPr>
            </a:pPr>
            <a:r>
              <a:t>•  Tracking smart-money leverage across major crypto perps.</a:t>
            </a:r>
          </a:p>
          <a:p>
            <a:pPr>
              <a:spcAft>
                <a:spcPts val="1200"/>
              </a:spcAft>
              <a:defRPr sz="975">
                <a:solidFill>
                  <a:srgbClr val="475569"/>
                </a:solidFill>
                <a:latin typeface="Arial"/>
              </a:defRPr>
            </a:pPr>
            <a:r>
              <a:t>•  Real-time funding rate basis arbitrage identification.</a:t>
            </a:r>
          </a:p>
          <a:p>
            <a:pPr>
              <a:spcAft>
                <a:spcPts val="1200"/>
              </a:spcAft>
              <a:defRPr sz="975">
                <a:solidFill>
                  <a:srgbClr val="475569"/>
                </a:solidFill>
                <a:latin typeface="Arial"/>
              </a:defRPr>
            </a:pPr>
            <a:r>
              <a:t>•  Sub-minute alerts when top crypto whales de-risk into stablecoins or synthetic RWA hedges.</a:t>
            </a:r>
          </a:p>
        </p:txBody>
      </p:sp>
      <p:sp>
        <p:nvSpPr>
          <p:cNvPr id="18" name="Rounded Rectangle 17"/>
          <p:cNvSpPr/>
          <p:nvPr/>
        </p:nvSpPr>
        <p:spPr>
          <a:xfrm>
            <a:off x="4371975" y="2762250"/>
            <a:ext cx="3571875" cy="347662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71975" y="2762250"/>
            <a:ext cx="3571875" cy="3810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62475" y="2933700"/>
            <a:ext cx="3143250" cy="247649"/>
          </a:xfrm>
          <a:prstGeom prst="rect">
            <a:avLst/>
          </a:prstGeom>
          <a:noFill/>
        </p:spPr>
        <p:txBody>
          <a:bodyPr wrap="square" lIns="0" tIns="0" rIns="0" bIns="0">
            <a:spAutoFit/>
          </a:bodyPr>
          <a:lstStyle/>
          <a:p>
            <a:pPr algn="l">
              <a:defRPr sz="1275" b="1">
                <a:solidFill>
                  <a:srgbClr val="0F172A"/>
                </a:solidFill>
                <a:latin typeface="Arial"/>
              </a:defRPr>
            </a:pPr>
            <a:r>
              <a:t>US Tech Equities on DEXs</a:t>
            </a:r>
          </a:p>
        </p:txBody>
      </p:sp>
      <p:sp>
        <p:nvSpPr>
          <p:cNvPr id="21" name="TextBox 20"/>
          <p:cNvSpPr txBox="1"/>
          <p:nvPr/>
        </p:nvSpPr>
        <p:spPr>
          <a:xfrm>
            <a:off x="4562475" y="3200400"/>
            <a:ext cx="3143250" cy="190500"/>
          </a:xfrm>
          <a:prstGeom prst="rect">
            <a:avLst/>
          </a:prstGeom>
          <a:noFill/>
        </p:spPr>
        <p:txBody>
          <a:bodyPr wrap="square" lIns="0" tIns="0" rIns="0" bIns="0">
            <a:spAutoFit/>
          </a:bodyPr>
          <a:lstStyle/>
          <a:p>
            <a:pPr algn="l">
              <a:defRPr sz="975" b="1">
                <a:solidFill>
                  <a:srgbClr val="0284C7"/>
                </a:solidFill>
                <a:latin typeface="Arial"/>
              </a:defRPr>
            </a:pPr>
            <a:r>
              <a:t>NVDA, TSLA, AAPL Perps</a:t>
            </a:r>
          </a:p>
        </p:txBody>
      </p:sp>
      <p:sp>
        <p:nvSpPr>
          <p:cNvPr id="22" name="TextBox 21"/>
          <p:cNvSpPr txBox="1"/>
          <p:nvPr/>
        </p:nvSpPr>
        <p:spPr>
          <a:xfrm>
            <a:off x="4562475" y="3505200"/>
            <a:ext cx="3143250" cy="2571750"/>
          </a:xfrm>
          <a:prstGeom prst="rect">
            <a:avLst/>
          </a:prstGeom>
          <a:noFill/>
        </p:spPr>
        <p:txBody>
          <a:bodyPr wrap="square" lIns="0" tIns="0" rIns="0" bIns="0">
            <a:spAutoFit/>
          </a:bodyPr>
          <a:lstStyle/>
          <a:p>
            <a:pPr>
              <a:spcAft>
                <a:spcPts val="1200"/>
              </a:spcAft>
              <a:defRPr sz="975">
                <a:solidFill>
                  <a:srgbClr val="475569"/>
                </a:solidFill>
                <a:latin typeface="Arial"/>
              </a:defRPr>
            </a:pPr>
            <a:r>
              <a:t>•  24/7 continuous price discovery and institutional positioning outside traditional NYSE market hours.</a:t>
            </a:r>
          </a:p>
          <a:p>
            <a:pPr>
              <a:spcAft>
                <a:spcPts val="1200"/>
              </a:spcAft>
              <a:defRPr sz="975">
                <a:solidFill>
                  <a:srgbClr val="475569"/>
                </a:solidFill>
                <a:latin typeface="Arial"/>
              </a:defRPr>
            </a:pPr>
            <a:r>
              <a:t>•  Observing hedge fund wallets accumulating equity perps ahead of US earnings and CPI releases.</a:t>
            </a:r>
          </a:p>
          <a:p>
            <a:pPr>
              <a:spcAft>
                <a:spcPts val="1200"/>
              </a:spcAft>
              <a:defRPr sz="975">
                <a:solidFill>
                  <a:srgbClr val="475569"/>
                </a:solidFill>
                <a:latin typeface="Arial"/>
              </a:defRPr>
            </a:pPr>
            <a:r>
              <a:t>•  Zero 13F filing lag: see equity allocations instantaneously on-chain.</a:t>
            </a:r>
          </a:p>
        </p:txBody>
      </p:sp>
      <p:sp>
        <p:nvSpPr>
          <p:cNvPr id="23" name="Rounded Rectangle 22"/>
          <p:cNvSpPr/>
          <p:nvPr/>
        </p:nvSpPr>
        <p:spPr>
          <a:xfrm>
            <a:off x="8134350" y="2762250"/>
            <a:ext cx="3571875" cy="347662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34350" y="2762250"/>
            <a:ext cx="3571875" cy="38100"/>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4849" y="2933700"/>
            <a:ext cx="3143250" cy="247649"/>
          </a:xfrm>
          <a:prstGeom prst="rect">
            <a:avLst/>
          </a:prstGeom>
          <a:noFill/>
        </p:spPr>
        <p:txBody>
          <a:bodyPr wrap="square" lIns="0" tIns="0" rIns="0" bIns="0">
            <a:spAutoFit/>
          </a:bodyPr>
          <a:lstStyle/>
          <a:p>
            <a:pPr algn="l">
              <a:defRPr sz="1275" b="1">
                <a:solidFill>
                  <a:srgbClr val="0F172A"/>
                </a:solidFill>
                <a:latin typeface="Arial"/>
              </a:defRPr>
            </a:pPr>
            <a:r>
              <a:t>Commodities &amp; Safe Havens</a:t>
            </a:r>
          </a:p>
        </p:txBody>
      </p:sp>
      <p:sp>
        <p:nvSpPr>
          <p:cNvPr id="26" name="TextBox 25"/>
          <p:cNvSpPr txBox="1"/>
          <p:nvPr/>
        </p:nvSpPr>
        <p:spPr>
          <a:xfrm>
            <a:off x="8324849" y="3200400"/>
            <a:ext cx="3143250" cy="190500"/>
          </a:xfrm>
          <a:prstGeom prst="rect">
            <a:avLst/>
          </a:prstGeom>
          <a:noFill/>
        </p:spPr>
        <p:txBody>
          <a:bodyPr wrap="square" lIns="0" tIns="0" rIns="0" bIns="0">
            <a:spAutoFit/>
          </a:bodyPr>
          <a:lstStyle/>
          <a:p>
            <a:pPr algn="l">
              <a:defRPr sz="975" b="1">
                <a:solidFill>
                  <a:srgbClr val="D97706"/>
                </a:solidFill>
                <a:latin typeface="Arial"/>
              </a:defRPr>
            </a:pPr>
            <a:r>
              <a:t>Gold &amp; Crude Oil Perps</a:t>
            </a:r>
          </a:p>
        </p:txBody>
      </p:sp>
      <p:sp>
        <p:nvSpPr>
          <p:cNvPr id="27" name="TextBox 26"/>
          <p:cNvSpPr txBox="1"/>
          <p:nvPr/>
        </p:nvSpPr>
        <p:spPr>
          <a:xfrm>
            <a:off x="8324849" y="3505200"/>
            <a:ext cx="3143250" cy="2571750"/>
          </a:xfrm>
          <a:prstGeom prst="rect">
            <a:avLst/>
          </a:prstGeom>
          <a:noFill/>
        </p:spPr>
        <p:txBody>
          <a:bodyPr wrap="square" lIns="0" tIns="0" rIns="0" bIns="0">
            <a:spAutoFit/>
          </a:bodyPr>
          <a:lstStyle/>
          <a:p>
            <a:pPr>
              <a:spcAft>
                <a:spcPts val="1200"/>
              </a:spcAft>
              <a:defRPr sz="975">
                <a:solidFill>
                  <a:srgbClr val="475569"/>
                </a:solidFill>
                <a:latin typeface="Arial"/>
              </a:defRPr>
            </a:pPr>
            <a:r>
              <a:t>•  Real-time flight-to-safety tracking: observe smart money rotating out of altcoins into Gold during geopolitical shocks.</a:t>
            </a:r>
          </a:p>
          <a:p>
            <a:pPr>
              <a:spcAft>
                <a:spcPts val="1200"/>
              </a:spcAft>
              <a:defRPr sz="975">
                <a:solidFill>
                  <a:srgbClr val="475569"/>
                </a:solidFill>
                <a:latin typeface="Arial"/>
              </a:defRPr>
            </a:pPr>
            <a:r>
              <a:t>•  Unified risk monitoring: correlation shifts between energy commodities, tech stocks, and crypto assets.</a:t>
            </a:r>
          </a:p>
          <a:p>
            <a:pPr>
              <a:spcAft>
                <a:spcPts val="1200"/>
              </a:spcAft>
              <a:defRPr sz="975">
                <a:solidFill>
                  <a:srgbClr val="475569"/>
                </a:solidFill>
                <a:latin typeface="Arial"/>
              </a:defRPr>
            </a:pPr>
            <a:r>
              <a:t>•  Single consolidated portfolio view across all asset classes.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08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07 / PRODUCT VALIDATION</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Live Working Terminal: Operational Architecture Today</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2619375" cy="9525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2619375" cy="3810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050" y="1790700"/>
            <a:ext cx="2286000" cy="361950"/>
          </a:xfrm>
          <a:prstGeom prst="rect">
            <a:avLst/>
          </a:prstGeom>
          <a:noFill/>
        </p:spPr>
        <p:txBody>
          <a:bodyPr wrap="square" lIns="0" tIns="0" rIns="0" bIns="0">
            <a:spAutoFit/>
          </a:bodyPr>
          <a:lstStyle/>
          <a:p>
            <a:pPr algn="l">
              <a:defRPr sz="1950" b="1">
                <a:solidFill>
                  <a:srgbClr val="0284C7"/>
                </a:solidFill>
                <a:latin typeface="Arial"/>
              </a:defRPr>
            </a:pPr>
            <a:r>
              <a:t>2,000+</a:t>
            </a:r>
          </a:p>
        </p:txBody>
      </p:sp>
      <p:sp>
        <p:nvSpPr>
          <p:cNvPr id="12" name="TextBox 11"/>
          <p:cNvSpPr txBox="1"/>
          <p:nvPr/>
        </p:nvSpPr>
        <p:spPr>
          <a:xfrm>
            <a:off x="781050" y="2190750"/>
            <a:ext cx="2286000" cy="342900"/>
          </a:xfrm>
          <a:prstGeom prst="rect">
            <a:avLst/>
          </a:prstGeom>
          <a:noFill/>
        </p:spPr>
        <p:txBody>
          <a:bodyPr wrap="square" lIns="0" tIns="0" rIns="0" bIns="0">
            <a:spAutoFit/>
          </a:bodyPr>
          <a:lstStyle/>
          <a:p>
            <a:pPr algn="l">
              <a:defRPr sz="900" b="0">
                <a:solidFill>
                  <a:srgbClr val="475569"/>
                </a:solidFill>
                <a:latin typeface="Arial"/>
              </a:defRPr>
            </a:pPr>
            <a:r>
              <a:t>Leaderboard Wallets Continuously Indexed</a:t>
            </a:r>
          </a:p>
        </p:txBody>
      </p:sp>
      <p:sp>
        <p:nvSpPr>
          <p:cNvPr id="13" name="Rounded Rectangle 12"/>
          <p:cNvSpPr/>
          <p:nvPr/>
        </p:nvSpPr>
        <p:spPr>
          <a:xfrm>
            <a:off x="3419475" y="1666875"/>
            <a:ext cx="2619375" cy="9525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19475" y="1666875"/>
            <a:ext cx="2619375" cy="38100"/>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0925" y="1790700"/>
            <a:ext cx="2286000" cy="361950"/>
          </a:xfrm>
          <a:prstGeom prst="rect">
            <a:avLst/>
          </a:prstGeom>
          <a:noFill/>
        </p:spPr>
        <p:txBody>
          <a:bodyPr wrap="square" lIns="0" tIns="0" rIns="0" bIns="0">
            <a:spAutoFit/>
          </a:bodyPr>
          <a:lstStyle/>
          <a:p>
            <a:pPr algn="l">
              <a:defRPr sz="1950" b="1">
                <a:solidFill>
                  <a:srgbClr val="059669"/>
                </a:solidFill>
                <a:latin typeface="Arial"/>
              </a:defRPr>
            </a:pPr>
            <a:r>
              <a:t>Sub-Minute</a:t>
            </a:r>
          </a:p>
        </p:txBody>
      </p:sp>
      <p:sp>
        <p:nvSpPr>
          <p:cNvPr id="16" name="TextBox 15"/>
          <p:cNvSpPr txBox="1"/>
          <p:nvPr/>
        </p:nvSpPr>
        <p:spPr>
          <a:xfrm>
            <a:off x="3590925" y="2190750"/>
            <a:ext cx="2286000" cy="342900"/>
          </a:xfrm>
          <a:prstGeom prst="rect">
            <a:avLst/>
          </a:prstGeom>
          <a:noFill/>
        </p:spPr>
        <p:txBody>
          <a:bodyPr wrap="square" lIns="0" tIns="0" rIns="0" bIns="0">
            <a:spAutoFit/>
          </a:bodyPr>
          <a:lstStyle/>
          <a:p>
            <a:pPr algn="l">
              <a:defRPr sz="900" b="0">
                <a:solidFill>
                  <a:srgbClr val="475569"/>
                </a:solidFill>
                <a:latin typeface="Arial"/>
              </a:defRPr>
            </a:pPr>
            <a:r>
              <a:t>Position Change Radar &amp; Alerts</a:t>
            </a:r>
          </a:p>
        </p:txBody>
      </p:sp>
      <p:sp>
        <p:nvSpPr>
          <p:cNvPr id="17" name="Rounded Rectangle 16"/>
          <p:cNvSpPr/>
          <p:nvPr/>
        </p:nvSpPr>
        <p:spPr>
          <a:xfrm>
            <a:off x="6229350" y="1666875"/>
            <a:ext cx="2619375" cy="9525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29350" y="1666875"/>
            <a:ext cx="2619375" cy="38100"/>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790700"/>
            <a:ext cx="2286000" cy="361950"/>
          </a:xfrm>
          <a:prstGeom prst="rect">
            <a:avLst/>
          </a:prstGeom>
          <a:noFill/>
        </p:spPr>
        <p:txBody>
          <a:bodyPr wrap="square" lIns="0" tIns="0" rIns="0" bIns="0">
            <a:spAutoFit/>
          </a:bodyPr>
          <a:lstStyle/>
          <a:p>
            <a:pPr algn="l">
              <a:defRPr sz="1950" b="1">
                <a:solidFill>
                  <a:srgbClr val="D97706"/>
                </a:solidFill>
                <a:latin typeface="Arial"/>
              </a:defRPr>
            </a:pPr>
            <a:r>
              <a:t>4-Way</a:t>
            </a:r>
          </a:p>
        </p:txBody>
      </p:sp>
      <p:sp>
        <p:nvSpPr>
          <p:cNvPr id="20" name="TextBox 19"/>
          <p:cNvSpPr txBox="1"/>
          <p:nvPr/>
        </p:nvSpPr>
        <p:spPr>
          <a:xfrm>
            <a:off x="6400800" y="2190750"/>
            <a:ext cx="2286000" cy="342900"/>
          </a:xfrm>
          <a:prstGeom prst="rect">
            <a:avLst/>
          </a:prstGeom>
          <a:noFill/>
        </p:spPr>
        <p:txBody>
          <a:bodyPr wrap="square" lIns="0" tIns="0" rIns="0" bIns="0">
            <a:spAutoFit/>
          </a:bodyPr>
          <a:lstStyle/>
          <a:p>
            <a:pPr algn="l">
              <a:defRPr sz="900" b="0">
                <a:solidFill>
                  <a:srgbClr val="475569"/>
                </a:solidFill>
                <a:latin typeface="Arial"/>
              </a:defRPr>
            </a:pPr>
            <a:r>
              <a:t>Vector Flow Attribution Engine</a:t>
            </a:r>
          </a:p>
        </p:txBody>
      </p:sp>
      <p:sp>
        <p:nvSpPr>
          <p:cNvPr id="21" name="Rounded Rectangle 20"/>
          <p:cNvSpPr/>
          <p:nvPr/>
        </p:nvSpPr>
        <p:spPr>
          <a:xfrm>
            <a:off x="9039225" y="1666875"/>
            <a:ext cx="2619375" cy="9525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39225" y="1666875"/>
            <a:ext cx="2619375" cy="38100"/>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10675" y="1790700"/>
            <a:ext cx="2286000" cy="361950"/>
          </a:xfrm>
          <a:prstGeom prst="rect">
            <a:avLst/>
          </a:prstGeom>
          <a:noFill/>
        </p:spPr>
        <p:txBody>
          <a:bodyPr wrap="square" lIns="0" tIns="0" rIns="0" bIns="0">
            <a:spAutoFit/>
          </a:bodyPr>
          <a:lstStyle/>
          <a:p>
            <a:pPr algn="l">
              <a:defRPr sz="1950" b="1">
                <a:solidFill>
                  <a:srgbClr val="7C3AED"/>
                </a:solidFill>
                <a:latin typeface="Arial"/>
              </a:defRPr>
            </a:pPr>
            <a:r>
              <a:t>0–25 bps</a:t>
            </a:r>
          </a:p>
        </p:txBody>
      </p:sp>
      <p:sp>
        <p:nvSpPr>
          <p:cNvPr id="24" name="TextBox 23"/>
          <p:cNvSpPr txBox="1"/>
          <p:nvPr/>
        </p:nvSpPr>
        <p:spPr>
          <a:xfrm>
            <a:off x="9210675" y="2190750"/>
            <a:ext cx="2286000" cy="342900"/>
          </a:xfrm>
          <a:prstGeom prst="rect">
            <a:avLst/>
          </a:prstGeom>
          <a:noFill/>
        </p:spPr>
        <p:txBody>
          <a:bodyPr wrap="square" lIns="0" tIns="0" rIns="0" bIns="0">
            <a:spAutoFit/>
          </a:bodyPr>
          <a:lstStyle/>
          <a:p>
            <a:pPr algn="l">
              <a:defRPr sz="900" b="0">
                <a:solidFill>
                  <a:srgbClr val="475569"/>
                </a:solidFill>
                <a:latin typeface="Arial"/>
              </a:defRPr>
            </a:pPr>
            <a:r>
              <a:t>Taker Fee &amp; Slippage Stress Testing</a:t>
            </a:r>
          </a:p>
        </p:txBody>
      </p:sp>
      <p:sp>
        <p:nvSpPr>
          <p:cNvPr id="25" name="Rounded Rectangle 24"/>
          <p:cNvSpPr/>
          <p:nvPr/>
        </p:nvSpPr>
        <p:spPr>
          <a:xfrm>
            <a:off x="609600" y="2809875"/>
            <a:ext cx="5334000" cy="3429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600" y="2809875"/>
            <a:ext cx="5334000" cy="38100"/>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8200" y="3000375"/>
            <a:ext cx="4857750" cy="247649"/>
          </a:xfrm>
          <a:prstGeom prst="rect">
            <a:avLst/>
          </a:prstGeom>
          <a:noFill/>
        </p:spPr>
        <p:txBody>
          <a:bodyPr wrap="square" lIns="0" tIns="0" rIns="0" bIns="0">
            <a:spAutoFit/>
          </a:bodyPr>
          <a:lstStyle/>
          <a:p>
            <a:pPr algn="l">
              <a:defRPr sz="1275" b="1">
                <a:solidFill>
                  <a:srgbClr val="0F172A"/>
                </a:solidFill>
                <a:latin typeface="Arial"/>
              </a:defRPr>
            </a:pPr>
            <a:r>
              <a:t>Core Analytics Engine (Implemented &amp; Live)</a:t>
            </a:r>
          </a:p>
        </p:txBody>
      </p:sp>
      <p:sp>
        <p:nvSpPr>
          <p:cNvPr id="28" name="TextBox 27"/>
          <p:cNvSpPr txBox="1"/>
          <p:nvPr/>
        </p:nvSpPr>
        <p:spPr>
          <a:xfrm>
            <a:off x="838200" y="3267075"/>
            <a:ext cx="4857750" cy="190500"/>
          </a:xfrm>
          <a:prstGeom prst="rect">
            <a:avLst/>
          </a:prstGeom>
          <a:noFill/>
        </p:spPr>
        <p:txBody>
          <a:bodyPr wrap="square" lIns="0" tIns="0" rIns="0" bIns="0">
            <a:spAutoFit/>
          </a:bodyPr>
          <a:lstStyle/>
          <a:p>
            <a:pPr algn="l">
              <a:defRPr sz="975" b="1">
                <a:solidFill>
                  <a:srgbClr val="059669"/>
                </a:solidFill>
                <a:latin typeface="Arial"/>
              </a:defRPr>
            </a:pPr>
            <a:r>
              <a:t>Production-ready local-first terminal indexing Hyperliquid L1</a:t>
            </a:r>
          </a:p>
        </p:txBody>
      </p:sp>
      <p:sp>
        <p:nvSpPr>
          <p:cNvPr id="29" name="TextBox 28"/>
          <p:cNvSpPr txBox="1"/>
          <p:nvPr/>
        </p:nvSpPr>
        <p:spPr>
          <a:xfrm>
            <a:off x="838200" y="3571875"/>
            <a:ext cx="4857750" cy="2524125"/>
          </a:xfrm>
          <a:prstGeom prst="rect">
            <a:avLst/>
          </a:prstGeom>
          <a:noFill/>
        </p:spPr>
        <p:txBody>
          <a:bodyPr wrap="square" lIns="0" tIns="0" rIns="0" bIns="0">
            <a:spAutoFit/>
          </a:bodyPr>
          <a:lstStyle/>
          <a:p>
            <a:pPr>
              <a:spcAft>
                <a:spcPts val="1000"/>
              </a:spcAft>
              <a:defRPr sz="975">
                <a:solidFill>
                  <a:srgbClr val="475569"/>
                </a:solidFill>
                <a:latin typeface="Arial"/>
              </a:defRPr>
            </a:pPr>
            <a:r>
              <a:t>✔  Local SQLite WAL database with Decimal.js zero-floating-point precision.</a:t>
            </a:r>
          </a:p>
          <a:p>
            <a:pPr>
              <a:spcAft>
                <a:spcPts val="1000"/>
              </a:spcAft>
              <a:defRPr sz="975">
                <a:solidFill>
                  <a:srgbClr val="475569"/>
                </a:solidFill>
                <a:latin typeface="Arial"/>
              </a:defRPr>
            </a:pPr>
            <a:r>
              <a:t>✔  Flat-to-flat episode reconstruction across 2,000 historical fills per wallet.</a:t>
            </a:r>
          </a:p>
          <a:p>
            <a:pPr>
              <a:spcAft>
                <a:spcPts val="1000"/>
              </a:spcAft>
              <a:defRPr sz="975">
                <a:solidFill>
                  <a:srgbClr val="475569"/>
                </a:solidFill>
                <a:latin typeface="Arial"/>
              </a:defRPr>
            </a:pPr>
            <a:r>
              <a:t>✔  Real-time wallet screening, custom tagging, and token-specific track records.</a:t>
            </a:r>
          </a:p>
          <a:p>
            <a:pPr>
              <a:spcAft>
                <a:spcPts val="1000"/>
              </a:spcAft>
              <a:defRPr sz="975">
                <a:solidFill>
                  <a:srgbClr val="475569"/>
                </a:solidFill>
                <a:latin typeface="Arial"/>
              </a:defRPr>
            </a:pPr>
            <a:r>
              <a:t>✔  Comprehensive positioning compass evaluating 45% fresh directional exposure, 35% token specialist record, and 20% order balance.</a:t>
            </a:r>
          </a:p>
        </p:txBody>
      </p:sp>
      <p:sp>
        <p:nvSpPr>
          <p:cNvPr id="30" name="Rounded Rectangle 29"/>
          <p:cNvSpPr/>
          <p:nvPr/>
        </p:nvSpPr>
        <p:spPr>
          <a:xfrm>
            <a:off x="6229350" y="2809875"/>
            <a:ext cx="5334000" cy="3429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29350" y="2809875"/>
            <a:ext cx="5334000" cy="3810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57950" y="3000375"/>
            <a:ext cx="4857750" cy="247649"/>
          </a:xfrm>
          <a:prstGeom prst="rect">
            <a:avLst/>
          </a:prstGeom>
          <a:noFill/>
        </p:spPr>
        <p:txBody>
          <a:bodyPr wrap="square" lIns="0" tIns="0" rIns="0" bIns="0">
            <a:spAutoFit/>
          </a:bodyPr>
          <a:lstStyle/>
          <a:p>
            <a:pPr algn="l">
              <a:defRPr sz="1275" b="1">
                <a:solidFill>
                  <a:srgbClr val="0F172A"/>
                </a:solidFill>
                <a:latin typeface="Arial"/>
              </a:defRPr>
            </a:pPr>
            <a:r>
              <a:t>Execution &amp; Risk Stress (Implemented &amp; Live)</a:t>
            </a:r>
          </a:p>
        </p:txBody>
      </p:sp>
      <p:sp>
        <p:nvSpPr>
          <p:cNvPr id="33" name="TextBox 32"/>
          <p:cNvSpPr txBox="1"/>
          <p:nvPr/>
        </p:nvSpPr>
        <p:spPr>
          <a:xfrm>
            <a:off x="6457950" y="3267075"/>
            <a:ext cx="4857750" cy="190500"/>
          </a:xfrm>
          <a:prstGeom prst="rect">
            <a:avLst/>
          </a:prstGeom>
          <a:noFill/>
        </p:spPr>
        <p:txBody>
          <a:bodyPr wrap="square" lIns="0" tIns="0" rIns="0" bIns="0">
            <a:spAutoFit/>
          </a:bodyPr>
          <a:lstStyle/>
          <a:p>
            <a:pPr algn="l">
              <a:defRPr sz="975" b="1">
                <a:solidFill>
                  <a:srgbClr val="0284C7"/>
                </a:solidFill>
                <a:latin typeface="Arial"/>
              </a:defRPr>
            </a:pPr>
            <a:r>
              <a:t>Institutional safeguards &amp; realistic copy-trading validation</a:t>
            </a:r>
          </a:p>
        </p:txBody>
      </p:sp>
      <p:sp>
        <p:nvSpPr>
          <p:cNvPr id="34" name="TextBox 33"/>
          <p:cNvSpPr txBox="1"/>
          <p:nvPr/>
        </p:nvSpPr>
        <p:spPr>
          <a:xfrm>
            <a:off x="6457950" y="3571875"/>
            <a:ext cx="4857750" cy="2524125"/>
          </a:xfrm>
          <a:prstGeom prst="rect">
            <a:avLst/>
          </a:prstGeom>
          <a:noFill/>
        </p:spPr>
        <p:txBody>
          <a:bodyPr wrap="square" lIns="0" tIns="0" rIns="0" bIns="0">
            <a:spAutoFit/>
          </a:bodyPr>
          <a:lstStyle/>
          <a:p>
            <a:pPr>
              <a:spcAft>
                <a:spcPts val="1000"/>
              </a:spcAft>
              <a:defRPr sz="975">
                <a:solidFill>
                  <a:srgbClr val="475569"/>
                </a:solidFill>
                <a:latin typeface="Arial"/>
              </a:defRPr>
            </a:pPr>
            <a:r>
              <a:t>✔  Live fee and slippage stress engine (0, 5, 10, 25 bps) filtering paper-only alpha.</a:t>
            </a:r>
          </a:p>
          <a:p>
            <a:pPr>
              <a:spcAft>
                <a:spcPts val="1000"/>
              </a:spcAft>
              <a:defRPr sz="975">
                <a:solidFill>
                  <a:srgbClr val="475569"/>
                </a:solidFill>
                <a:latin typeface="Arial"/>
              </a:defRPr>
            </a:pPr>
            <a:r>
              <a:t>✔  Median holding duration analysis separating HFT scalpers from actionable swing traders.</a:t>
            </a:r>
          </a:p>
          <a:p>
            <a:pPr>
              <a:spcAft>
                <a:spcPts val="1000"/>
              </a:spcAft>
              <a:defRPr sz="975">
                <a:solidFill>
                  <a:srgbClr val="475569"/>
                </a:solidFill>
                <a:latin typeface="Arial"/>
              </a:defRPr>
            </a:pPr>
            <a:r>
              <a:t>✔  One-wallet-one-vote agreement index preventing whale spoofing and sybil manipulation.</a:t>
            </a:r>
          </a:p>
          <a:p>
            <a:pPr>
              <a:spcAft>
                <a:spcPts val="1000"/>
              </a:spcAft>
              <a:defRPr sz="975">
                <a:solidFill>
                  <a:srgbClr val="475569"/>
                </a:solidFill>
                <a:latin typeface="Arial"/>
              </a:defRPr>
            </a:pPr>
            <a:r>
              <a:t>✔  Active commercial deployment with live $10/month individual subscription tier.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09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08 / AI INTELLIGENCE</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The Secret Weapon: Everything Just a Prompt Away</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10953750" cy="104774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10953750" cy="38100"/>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150" y="1809750"/>
            <a:ext cx="10477500" cy="247649"/>
          </a:xfrm>
          <a:prstGeom prst="rect">
            <a:avLst/>
          </a:prstGeom>
          <a:noFill/>
        </p:spPr>
        <p:txBody>
          <a:bodyPr wrap="square" lIns="0" tIns="0" rIns="0" bIns="0">
            <a:spAutoFit/>
          </a:bodyPr>
          <a:lstStyle/>
          <a:p>
            <a:pPr algn="l">
              <a:defRPr sz="1275" b="1">
                <a:solidFill>
                  <a:srgbClr val="0F172A"/>
                </a:solidFill>
                <a:latin typeface="Arial"/>
              </a:defRPr>
            </a:pPr>
            <a:r>
              <a:t>Democratizing Quantitative Alpha Through Natural Language</a:t>
            </a:r>
          </a:p>
        </p:txBody>
      </p:sp>
      <p:sp>
        <p:nvSpPr>
          <p:cNvPr id="12" name="TextBox 11"/>
          <p:cNvSpPr txBox="1"/>
          <p:nvPr/>
        </p:nvSpPr>
        <p:spPr>
          <a:xfrm>
            <a:off x="819150" y="2095499"/>
            <a:ext cx="10477500" cy="495299"/>
          </a:xfrm>
          <a:prstGeom prst="rect">
            <a:avLst/>
          </a:prstGeom>
          <a:noFill/>
        </p:spPr>
        <p:txBody>
          <a:bodyPr wrap="square" lIns="0" tIns="0" rIns="0" bIns="0">
            <a:spAutoFit/>
          </a:bodyPr>
          <a:lstStyle/>
          <a:p>
            <a:pPr algn="l">
              <a:defRPr sz="975" b="0">
                <a:solidFill>
                  <a:srgbClr val="475569"/>
                </a:solidFill>
                <a:latin typeface="Arial"/>
              </a:defRPr>
            </a:pPr>
            <a:r>
              <a:t>Traders and portfolio managers no longer need to write complex SQL, build Dune dashboards, or parse low-level JSON RPC feeds. daVIRA integrates a specialized LLM semantic router trained on crypto market microstructure, allowing users to query institutional alpha in plain English: 'Everything is just a prompt away'.</a:t>
            </a:r>
          </a:p>
        </p:txBody>
      </p:sp>
      <p:sp>
        <p:nvSpPr>
          <p:cNvPr id="13" name="Rounded Rectangle 12"/>
          <p:cNvSpPr/>
          <p:nvPr/>
        </p:nvSpPr>
        <p:spPr>
          <a:xfrm>
            <a:off x="609600" y="2905125"/>
            <a:ext cx="3571875" cy="3333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9600" y="2905125"/>
            <a:ext cx="3571875" cy="38100"/>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 y="3067050"/>
            <a:ext cx="3143250" cy="247649"/>
          </a:xfrm>
          <a:prstGeom prst="rect">
            <a:avLst/>
          </a:prstGeom>
          <a:noFill/>
        </p:spPr>
        <p:txBody>
          <a:bodyPr wrap="square" lIns="0" tIns="0" rIns="0" bIns="0">
            <a:spAutoFit/>
          </a:bodyPr>
          <a:lstStyle/>
          <a:p>
            <a:pPr algn="l">
              <a:defRPr sz="1275" b="1">
                <a:solidFill>
                  <a:srgbClr val="0F172A"/>
                </a:solidFill>
                <a:latin typeface="Arial"/>
              </a:defRPr>
            </a:pPr>
            <a:r>
              <a:t>Conversational Alpha Discovery</a:t>
            </a:r>
          </a:p>
        </p:txBody>
      </p:sp>
      <p:sp>
        <p:nvSpPr>
          <p:cNvPr id="16" name="TextBox 15"/>
          <p:cNvSpPr txBox="1"/>
          <p:nvPr/>
        </p:nvSpPr>
        <p:spPr>
          <a:xfrm>
            <a:off x="800100" y="3333750"/>
            <a:ext cx="3143250" cy="190500"/>
          </a:xfrm>
          <a:prstGeom prst="rect">
            <a:avLst/>
          </a:prstGeom>
          <a:noFill/>
        </p:spPr>
        <p:txBody>
          <a:bodyPr wrap="square" lIns="0" tIns="0" rIns="0" bIns="0">
            <a:spAutoFit/>
          </a:bodyPr>
          <a:lstStyle/>
          <a:p>
            <a:pPr algn="l">
              <a:defRPr sz="975" b="1">
                <a:solidFill>
                  <a:srgbClr val="059669"/>
                </a:solidFill>
                <a:latin typeface="Arial"/>
              </a:defRPr>
            </a:pPr>
            <a:r>
              <a:t>Real-Time Market Screening</a:t>
            </a:r>
          </a:p>
        </p:txBody>
      </p:sp>
      <p:sp>
        <p:nvSpPr>
          <p:cNvPr id="17" name="TextBox 16"/>
          <p:cNvSpPr txBox="1"/>
          <p:nvPr/>
        </p:nvSpPr>
        <p:spPr>
          <a:xfrm>
            <a:off x="800100" y="3619500"/>
            <a:ext cx="3143250" cy="2476500"/>
          </a:xfrm>
          <a:prstGeom prst="rect">
            <a:avLst/>
          </a:prstGeom>
          <a:noFill/>
        </p:spPr>
        <p:txBody>
          <a:bodyPr wrap="square" lIns="0" tIns="0" rIns="0" bIns="0">
            <a:spAutoFit/>
          </a:bodyPr>
          <a:lstStyle/>
          <a:p>
            <a:pPr>
              <a:spcAft>
                <a:spcPts val="1000"/>
              </a:spcAft>
              <a:defRPr sz="937" b="1">
                <a:solidFill>
                  <a:srgbClr val="0F172A"/>
                </a:solidFill>
                <a:latin typeface="Arial"/>
              </a:defRPr>
            </a:pPr>
            <a:r>
              <a:t>Prompt: "Which wallets with &gt;$1M PnL opened fresh long leverage on ETH or NVDA in the last 2 hours?"</a:t>
            </a:r>
          </a:p>
          <a:p>
            <a:pPr>
              <a:spcAft>
                <a:spcPts val="1000"/>
              </a:spcAft>
              <a:defRPr sz="937" b="0">
                <a:solidFill>
                  <a:srgbClr val="475569"/>
                </a:solidFill>
                <a:latin typeface="Arial"/>
              </a:defRPr>
            </a:pPr>
            <a:r>
              <a:t>Engine Action: Translates prompt into optimized SQLite queries filtering for Episode Type = New Long, Volume &gt; $1M, and Timestamp &lt; 2h.</a:t>
            </a:r>
          </a:p>
          <a:p>
            <a:pPr>
              <a:spcAft>
                <a:spcPts val="1000"/>
              </a:spcAft>
              <a:defRPr sz="937" b="0">
                <a:solidFill>
                  <a:srgbClr val="475569"/>
                </a:solidFill>
                <a:latin typeface="Arial"/>
              </a:defRPr>
            </a:pPr>
            <a:r>
              <a:t>Output: Instant ranked table of 4 top wallets with entry prices, liquidation buffers, and historical win rates.</a:t>
            </a:r>
          </a:p>
        </p:txBody>
      </p:sp>
      <p:sp>
        <p:nvSpPr>
          <p:cNvPr id="18" name="Rounded Rectangle 17"/>
          <p:cNvSpPr/>
          <p:nvPr/>
        </p:nvSpPr>
        <p:spPr>
          <a:xfrm>
            <a:off x="4371975" y="2905125"/>
            <a:ext cx="3571875" cy="3333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71975" y="2905125"/>
            <a:ext cx="3571875" cy="3810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62475" y="3067050"/>
            <a:ext cx="3143250" cy="247649"/>
          </a:xfrm>
          <a:prstGeom prst="rect">
            <a:avLst/>
          </a:prstGeom>
          <a:noFill/>
        </p:spPr>
        <p:txBody>
          <a:bodyPr wrap="square" lIns="0" tIns="0" rIns="0" bIns="0">
            <a:spAutoFit/>
          </a:bodyPr>
          <a:lstStyle/>
          <a:p>
            <a:pPr algn="l">
              <a:defRPr sz="1275" b="1">
                <a:solidFill>
                  <a:srgbClr val="0F172A"/>
                </a:solidFill>
                <a:latin typeface="Arial"/>
              </a:defRPr>
            </a:pPr>
            <a:r>
              <a:t>Instant Wallet Due Diligence</a:t>
            </a:r>
          </a:p>
        </p:txBody>
      </p:sp>
      <p:sp>
        <p:nvSpPr>
          <p:cNvPr id="21" name="TextBox 20"/>
          <p:cNvSpPr txBox="1"/>
          <p:nvPr/>
        </p:nvSpPr>
        <p:spPr>
          <a:xfrm>
            <a:off x="4562475" y="3333750"/>
            <a:ext cx="3143250" cy="190500"/>
          </a:xfrm>
          <a:prstGeom prst="rect">
            <a:avLst/>
          </a:prstGeom>
          <a:noFill/>
        </p:spPr>
        <p:txBody>
          <a:bodyPr wrap="square" lIns="0" tIns="0" rIns="0" bIns="0">
            <a:spAutoFit/>
          </a:bodyPr>
          <a:lstStyle/>
          <a:p>
            <a:pPr algn="l">
              <a:defRPr sz="975" b="1">
                <a:solidFill>
                  <a:srgbClr val="0284C7"/>
                </a:solidFill>
                <a:latin typeface="Arial"/>
              </a:defRPr>
            </a:pPr>
            <a:r>
              <a:t>Zero-Code Quantitative Audit</a:t>
            </a:r>
          </a:p>
        </p:txBody>
      </p:sp>
      <p:sp>
        <p:nvSpPr>
          <p:cNvPr id="22" name="TextBox 21"/>
          <p:cNvSpPr txBox="1"/>
          <p:nvPr/>
        </p:nvSpPr>
        <p:spPr>
          <a:xfrm>
            <a:off x="4562475" y="3619500"/>
            <a:ext cx="3143250" cy="2476500"/>
          </a:xfrm>
          <a:prstGeom prst="rect">
            <a:avLst/>
          </a:prstGeom>
          <a:noFill/>
        </p:spPr>
        <p:txBody>
          <a:bodyPr wrap="square" lIns="0" tIns="0" rIns="0" bIns="0">
            <a:spAutoFit/>
          </a:bodyPr>
          <a:lstStyle/>
          <a:p>
            <a:pPr>
              <a:spcAft>
                <a:spcPts val="1000"/>
              </a:spcAft>
              <a:defRPr sz="937" b="1">
                <a:solidFill>
                  <a:srgbClr val="0F172A"/>
                </a:solidFill>
                <a:latin typeface="Arial"/>
              </a:defRPr>
            </a:pPr>
            <a:r>
              <a:t>Prompt: "Audit wallet 0x7a...: what is its true win rate after adjusting for 10 bps taker fees and funding drag?"</a:t>
            </a:r>
          </a:p>
          <a:p>
            <a:pPr>
              <a:spcAft>
                <a:spcPts val="1000"/>
              </a:spcAft>
              <a:defRPr sz="937" b="0">
                <a:solidFill>
                  <a:srgbClr val="475569"/>
                </a:solidFill>
                <a:latin typeface="Arial"/>
              </a:defRPr>
            </a:pPr>
            <a:r>
              <a:t>Engine Action: Replays 2,000 historical flat-to-flat episodes with simulated 10 bps fee hurdles and computes Sharpe ratio.</a:t>
            </a:r>
          </a:p>
          <a:p>
            <a:pPr>
              <a:spcAft>
                <a:spcPts val="1000"/>
              </a:spcAft>
              <a:defRPr sz="937" b="0">
                <a:solidFill>
                  <a:srgbClr val="475569"/>
                </a:solidFill>
                <a:latin typeface="Arial"/>
              </a:defRPr>
            </a:pPr>
            <a:r>
              <a:t>Output: Verified copy-trade report showing Sharpe drops from 2.8 to 1.1; surfaces median hold time of 4.2 hours.</a:t>
            </a:r>
          </a:p>
        </p:txBody>
      </p:sp>
      <p:sp>
        <p:nvSpPr>
          <p:cNvPr id="23" name="Rounded Rectangle 22"/>
          <p:cNvSpPr/>
          <p:nvPr/>
        </p:nvSpPr>
        <p:spPr>
          <a:xfrm>
            <a:off x="8134350" y="2905125"/>
            <a:ext cx="3571875" cy="3333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34350" y="2905125"/>
            <a:ext cx="3571875" cy="38100"/>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4849" y="3067050"/>
            <a:ext cx="3143250" cy="247649"/>
          </a:xfrm>
          <a:prstGeom prst="rect">
            <a:avLst/>
          </a:prstGeom>
          <a:noFill/>
        </p:spPr>
        <p:txBody>
          <a:bodyPr wrap="square" lIns="0" tIns="0" rIns="0" bIns="0">
            <a:spAutoFit/>
          </a:bodyPr>
          <a:lstStyle/>
          <a:p>
            <a:pPr algn="l">
              <a:defRPr sz="1275" b="1">
                <a:solidFill>
                  <a:srgbClr val="0F172A"/>
                </a:solidFill>
                <a:latin typeface="Arial"/>
              </a:defRPr>
            </a:pPr>
            <a:r>
              <a:t>Macro Rotation Alerts</a:t>
            </a:r>
          </a:p>
        </p:txBody>
      </p:sp>
      <p:sp>
        <p:nvSpPr>
          <p:cNvPr id="26" name="TextBox 25"/>
          <p:cNvSpPr txBox="1"/>
          <p:nvPr/>
        </p:nvSpPr>
        <p:spPr>
          <a:xfrm>
            <a:off x="8324849" y="3333750"/>
            <a:ext cx="3143250" cy="190500"/>
          </a:xfrm>
          <a:prstGeom prst="rect">
            <a:avLst/>
          </a:prstGeom>
          <a:noFill/>
        </p:spPr>
        <p:txBody>
          <a:bodyPr wrap="square" lIns="0" tIns="0" rIns="0" bIns="0">
            <a:spAutoFit/>
          </a:bodyPr>
          <a:lstStyle/>
          <a:p>
            <a:pPr algn="l">
              <a:defRPr sz="975" b="1">
                <a:solidFill>
                  <a:srgbClr val="D97706"/>
                </a:solidFill>
                <a:latin typeface="Arial"/>
              </a:defRPr>
            </a:pPr>
            <a:r>
              <a:t>Cross-Asset Volatility Radar</a:t>
            </a:r>
          </a:p>
        </p:txBody>
      </p:sp>
      <p:sp>
        <p:nvSpPr>
          <p:cNvPr id="27" name="TextBox 26"/>
          <p:cNvSpPr txBox="1"/>
          <p:nvPr/>
        </p:nvSpPr>
        <p:spPr>
          <a:xfrm>
            <a:off x="8324849" y="3619500"/>
            <a:ext cx="3143250" cy="2476500"/>
          </a:xfrm>
          <a:prstGeom prst="rect">
            <a:avLst/>
          </a:prstGeom>
          <a:noFill/>
        </p:spPr>
        <p:txBody>
          <a:bodyPr wrap="square" lIns="0" tIns="0" rIns="0" bIns="0">
            <a:spAutoFit/>
          </a:bodyPr>
          <a:lstStyle/>
          <a:p>
            <a:pPr>
              <a:spcAft>
                <a:spcPts val="1000"/>
              </a:spcAft>
              <a:defRPr sz="937" b="1">
                <a:solidFill>
                  <a:srgbClr val="0F172A"/>
                </a:solidFill>
                <a:latin typeface="Arial"/>
              </a:defRPr>
            </a:pPr>
            <a:r>
              <a:t>Prompt: "Alert me the moment top 10 Gold or Tech equity traders start aggressively hedging with BTC shorts."</a:t>
            </a:r>
          </a:p>
          <a:p>
            <a:pPr>
              <a:spcAft>
                <a:spcPts val="1000"/>
              </a:spcAft>
              <a:defRPr sz="937" b="0">
                <a:solidFill>
                  <a:srgbClr val="475569"/>
                </a:solidFill>
                <a:latin typeface="Arial"/>
              </a:defRPr>
            </a:pPr>
            <a:r>
              <a:t>Engine Action: Establishes continuous WebSocket trigger monitoring cross-asset correlation breaks and position flips.</a:t>
            </a:r>
          </a:p>
          <a:p>
            <a:pPr>
              <a:spcAft>
                <a:spcPts val="1000"/>
              </a:spcAft>
              <a:defRPr sz="937" b="0">
                <a:solidFill>
                  <a:srgbClr val="475569"/>
                </a:solidFill>
                <a:latin typeface="Arial"/>
              </a:defRPr>
            </a:pPr>
            <a:r>
              <a:t>Output: Instant push notification to Telegram / Discord / Terminal with full order attribution.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10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09 / STRATEGIC VISION</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The 3-Phase Master Roadmap: From Signal to Market Making</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35718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3571875" cy="47625"/>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150" y="1857375"/>
            <a:ext cx="3143250" cy="228600"/>
          </a:xfrm>
          <a:prstGeom prst="rect">
            <a:avLst/>
          </a:prstGeom>
          <a:noFill/>
        </p:spPr>
        <p:txBody>
          <a:bodyPr wrap="square" lIns="0" tIns="0" rIns="0" bIns="0">
            <a:spAutoFit/>
          </a:bodyPr>
          <a:lstStyle/>
          <a:p>
            <a:pPr algn="l">
              <a:defRPr sz="1125" b="1">
                <a:solidFill>
                  <a:srgbClr val="0284C7"/>
                </a:solidFill>
                <a:latin typeface="Arial"/>
              </a:defRPr>
            </a:pPr>
            <a:r>
              <a:t>PHASE 1</a:t>
            </a:r>
          </a:p>
        </p:txBody>
      </p:sp>
      <p:sp>
        <p:nvSpPr>
          <p:cNvPr id="12" name="TextBox 11"/>
          <p:cNvSpPr txBox="1"/>
          <p:nvPr/>
        </p:nvSpPr>
        <p:spPr>
          <a:xfrm>
            <a:off x="819150" y="2114550"/>
            <a:ext cx="3143250" cy="495299"/>
          </a:xfrm>
          <a:prstGeom prst="rect">
            <a:avLst/>
          </a:prstGeom>
          <a:noFill/>
        </p:spPr>
        <p:txBody>
          <a:bodyPr wrap="square" lIns="0" tIns="0" rIns="0" bIns="0">
            <a:spAutoFit/>
          </a:bodyPr>
          <a:lstStyle/>
          <a:p>
            <a:pPr algn="l">
              <a:defRPr sz="1350" b="1">
                <a:solidFill>
                  <a:srgbClr val="0F172A"/>
                </a:solidFill>
                <a:latin typeface="Arial"/>
              </a:defRPr>
            </a:pPr>
            <a:r>
              <a:t>Multi-Chain Alpha Tracker &amp; LLM Intelligence</a:t>
            </a:r>
          </a:p>
        </p:txBody>
      </p:sp>
      <p:sp>
        <p:nvSpPr>
          <p:cNvPr id="13" name="TextBox 12"/>
          <p:cNvSpPr txBox="1"/>
          <p:nvPr/>
        </p:nvSpPr>
        <p:spPr>
          <a:xfrm>
            <a:off x="819150" y="2647950"/>
            <a:ext cx="3143250" cy="209550"/>
          </a:xfrm>
          <a:prstGeom prst="rect">
            <a:avLst/>
          </a:prstGeom>
          <a:noFill/>
        </p:spPr>
        <p:txBody>
          <a:bodyPr wrap="square" lIns="0" tIns="0" rIns="0" bIns="0">
            <a:spAutoFit/>
          </a:bodyPr>
          <a:lstStyle/>
          <a:p>
            <a:pPr algn="l">
              <a:defRPr sz="975" b="1">
                <a:solidFill>
                  <a:srgbClr val="94A3B8"/>
                </a:solidFill>
                <a:latin typeface="Arial"/>
              </a:defRPr>
            </a:pPr>
            <a:r>
              <a:t>Months 1 – 12  ·  Active &amp; Expanding</a:t>
            </a:r>
          </a:p>
        </p:txBody>
      </p:sp>
      <p:sp>
        <p:nvSpPr>
          <p:cNvPr id="14" name="TextBox 13"/>
          <p:cNvSpPr txBox="1"/>
          <p:nvPr/>
        </p:nvSpPr>
        <p:spPr>
          <a:xfrm>
            <a:off x="819150" y="2952750"/>
            <a:ext cx="3143250" cy="3143250"/>
          </a:xfrm>
          <a:prstGeom prst="rect">
            <a:avLst/>
          </a:prstGeom>
          <a:noFill/>
        </p:spPr>
        <p:txBody>
          <a:bodyPr wrap="square" lIns="0" tIns="0" rIns="0" bIns="0">
            <a:spAutoFit/>
          </a:bodyPr>
          <a:lstStyle/>
          <a:p>
            <a:pPr>
              <a:spcAft>
                <a:spcPts val="1200"/>
              </a:spcAft>
              <a:defRPr sz="975">
                <a:solidFill>
                  <a:srgbClr val="475569"/>
                </a:solidFill>
                <a:latin typeface="Arial"/>
              </a:defRPr>
            </a:pPr>
            <a:r>
              <a:t>✔  Operational V1 terminal indexing Hyperliquid L1; expanding to Solana, Base, and Arbitrum.</a:t>
            </a:r>
          </a:p>
          <a:p>
            <a:pPr>
              <a:spcAft>
                <a:spcPts val="1200"/>
              </a:spcAft>
              <a:defRPr sz="975">
                <a:solidFill>
                  <a:srgbClr val="475569"/>
                </a:solidFill>
                <a:latin typeface="Arial"/>
              </a:defRPr>
            </a:pPr>
            <a:r>
              <a:t>✔  Proprietary 4-way flow decomposition, execution-drag stress testing, and positioning compass.</a:t>
            </a:r>
          </a:p>
          <a:p>
            <a:pPr>
              <a:spcAft>
                <a:spcPts val="1200"/>
              </a:spcAft>
              <a:defRPr sz="975">
                <a:solidFill>
                  <a:srgbClr val="475569"/>
                </a:solidFill>
                <a:latin typeface="Arial"/>
              </a:defRPr>
            </a:pPr>
            <a:r>
              <a:t>✔  Conversational LLM semantic agent: natural language queries ('Everything just a prompt away').</a:t>
            </a:r>
          </a:p>
          <a:p>
            <a:pPr>
              <a:spcAft>
                <a:spcPts val="1200"/>
              </a:spcAft>
              <a:defRPr sz="975">
                <a:solidFill>
                  <a:srgbClr val="475569"/>
                </a:solidFill>
                <a:latin typeface="Arial"/>
              </a:defRPr>
            </a:pPr>
            <a:r>
              <a:t>✔  Active commercial model: $10/month individual subscription scaling to enterprise prop seats ($250–$1,000/mo).</a:t>
            </a:r>
          </a:p>
        </p:txBody>
      </p:sp>
      <p:sp>
        <p:nvSpPr>
          <p:cNvPr id="15" name="Rounded Rectangle 14"/>
          <p:cNvSpPr/>
          <p:nvPr/>
        </p:nvSpPr>
        <p:spPr>
          <a:xfrm>
            <a:off x="4371975" y="1666875"/>
            <a:ext cx="35718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1975" y="1666875"/>
            <a:ext cx="3571875" cy="47625"/>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525" y="1857375"/>
            <a:ext cx="3143250" cy="228600"/>
          </a:xfrm>
          <a:prstGeom prst="rect">
            <a:avLst/>
          </a:prstGeom>
          <a:noFill/>
        </p:spPr>
        <p:txBody>
          <a:bodyPr wrap="square" lIns="0" tIns="0" rIns="0" bIns="0">
            <a:spAutoFit/>
          </a:bodyPr>
          <a:lstStyle/>
          <a:p>
            <a:pPr algn="l">
              <a:defRPr sz="1125" b="1">
                <a:solidFill>
                  <a:srgbClr val="059669"/>
                </a:solidFill>
                <a:latin typeface="Arial"/>
              </a:defRPr>
            </a:pPr>
            <a:r>
              <a:t>PHASE 2</a:t>
            </a:r>
          </a:p>
        </p:txBody>
      </p:sp>
      <p:sp>
        <p:nvSpPr>
          <p:cNvPr id="18" name="TextBox 17"/>
          <p:cNvSpPr txBox="1"/>
          <p:nvPr/>
        </p:nvSpPr>
        <p:spPr>
          <a:xfrm>
            <a:off x="4581525" y="2114550"/>
            <a:ext cx="3143250" cy="495299"/>
          </a:xfrm>
          <a:prstGeom prst="rect">
            <a:avLst/>
          </a:prstGeom>
          <a:noFill/>
        </p:spPr>
        <p:txBody>
          <a:bodyPr wrap="square" lIns="0" tIns="0" rIns="0" bIns="0">
            <a:spAutoFit/>
          </a:bodyPr>
          <a:lstStyle/>
          <a:p>
            <a:pPr algn="l">
              <a:defRPr sz="1350" b="1">
                <a:solidFill>
                  <a:srgbClr val="0F172A"/>
                </a:solidFill>
                <a:latin typeface="Arial"/>
              </a:defRPr>
            </a:pPr>
            <a:r>
              <a:t>daVIRA Capital (Quantitative Proprietary Trading)</a:t>
            </a:r>
          </a:p>
        </p:txBody>
      </p:sp>
      <p:sp>
        <p:nvSpPr>
          <p:cNvPr id="19" name="TextBox 18"/>
          <p:cNvSpPr txBox="1"/>
          <p:nvPr/>
        </p:nvSpPr>
        <p:spPr>
          <a:xfrm>
            <a:off x="4581525" y="2647950"/>
            <a:ext cx="3143250" cy="209550"/>
          </a:xfrm>
          <a:prstGeom prst="rect">
            <a:avLst/>
          </a:prstGeom>
          <a:noFill/>
        </p:spPr>
        <p:txBody>
          <a:bodyPr wrap="square" lIns="0" tIns="0" rIns="0" bIns="0">
            <a:spAutoFit/>
          </a:bodyPr>
          <a:lstStyle/>
          <a:p>
            <a:pPr algn="l">
              <a:defRPr sz="975" b="1">
                <a:solidFill>
                  <a:srgbClr val="94A3B8"/>
                </a:solidFill>
                <a:latin typeface="Arial"/>
              </a:defRPr>
            </a:pPr>
            <a:r>
              <a:t>Months 12 – 24  ·  Alpha Capture</a:t>
            </a:r>
          </a:p>
        </p:txBody>
      </p:sp>
      <p:sp>
        <p:nvSpPr>
          <p:cNvPr id="20" name="TextBox 19"/>
          <p:cNvSpPr txBox="1"/>
          <p:nvPr/>
        </p:nvSpPr>
        <p:spPr>
          <a:xfrm>
            <a:off x="4581525" y="2952750"/>
            <a:ext cx="3143250" cy="3143250"/>
          </a:xfrm>
          <a:prstGeom prst="rect">
            <a:avLst/>
          </a:prstGeom>
          <a:noFill/>
        </p:spPr>
        <p:txBody>
          <a:bodyPr wrap="square" lIns="0" tIns="0" rIns="0" bIns="0">
            <a:spAutoFit/>
          </a:bodyPr>
          <a:lstStyle/>
          <a:p>
            <a:pPr>
              <a:spcAft>
                <a:spcPts val="1200"/>
              </a:spcAft>
              <a:defRPr sz="975">
                <a:solidFill>
                  <a:srgbClr val="475569"/>
                </a:solidFill>
                <a:latin typeface="Arial"/>
              </a:defRPr>
            </a:pPr>
            <a:r>
              <a:t>✔  Deploy internal firm capital to directly exploit proprietary flow signals and funding rate basis.</a:t>
            </a:r>
          </a:p>
          <a:p>
            <a:pPr>
              <a:spcAft>
                <a:spcPts val="1200"/>
              </a:spcAft>
              <a:defRPr sz="975">
                <a:solidFill>
                  <a:srgbClr val="475569"/>
                </a:solidFill>
                <a:latin typeface="Arial"/>
              </a:defRPr>
            </a:pPr>
            <a:r>
              <a:t>✔  Delta-neutral statistical arbitrage across decentralized perpetuals and spot order books.</a:t>
            </a:r>
          </a:p>
          <a:p>
            <a:pPr>
              <a:spcAft>
                <a:spcPts val="1200"/>
              </a:spcAft>
              <a:defRPr sz="975">
                <a:solidFill>
                  <a:srgbClr val="475569"/>
                </a:solidFill>
                <a:latin typeface="Arial"/>
              </a:defRPr>
            </a:pPr>
            <a:r>
              <a:t>✔  Strict institutional risk controls: max position caps, automated liquidation stop-guards, zero directional bias.</a:t>
            </a:r>
          </a:p>
          <a:p>
            <a:pPr>
              <a:spcAft>
                <a:spcPts val="1200"/>
              </a:spcAft>
              <a:defRPr sz="975">
                <a:solidFill>
                  <a:srgbClr val="475569"/>
                </a:solidFill>
                <a:latin typeface="Arial"/>
              </a:defRPr>
            </a:pPr>
            <a:r>
              <a:t>✔  Transforms proprietary data advantage into compounding high-capacity trading balance sheet.</a:t>
            </a:r>
          </a:p>
        </p:txBody>
      </p:sp>
      <p:sp>
        <p:nvSpPr>
          <p:cNvPr id="21" name="Rounded Rectangle 20"/>
          <p:cNvSpPr/>
          <p:nvPr/>
        </p:nvSpPr>
        <p:spPr>
          <a:xfrm>
            <a:off x="8134350" y="1666875"/>
            <a:ext cx="35718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34350" y="1666875"/>
            <a:ext cx="3571875" cy="47625"/>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3900" y="1857375"/>
            <a:ext cx="3143250" cy="228600"/>
          </a:xfrm>
          <a:prstGeom prst="rect">
            <a:avLst/>
          </a:prstGeom>
          <a:noFill/>
        </p:spPr>
        <p:txBody>
          <a:bodyPr wrap="square" lIns="0" tIns="0" rIns="0" bIns="0">
            <a:spAutoFit/>
          </a:bodyPr>
          <a:lstStyle/>
          <a:p>
            <a:pPr algn="l">
              <a:defRPr sz="1125" b="1">
                <a:solidFill>
                  <a:srgbClr val="7C3AED"/>
                </a:solidFill>
                <a:latin typeface="Arial"/>
              </a:defRPr>
            </a:pPr>
            <a:r>
              <a:t>PHASE 3</a:t>
            </a:r>
          </a:p>
        </p:txBody>
      </p:sp>
      <p:sp>
        <p:nvSpPr>
          <p:cNvPr id="24" name="TextBox 23"/>
          <p:cNvSpPr txBox="1"/>
          <p:nvPr/>
        </p:nvSpPr>
        <p:spPr>
          <a:xfrm>
            <a:off x="8343900" y="2114550"/>
            <a:ext cx="3143250" cy="495299"/>
          </a:xfrm>
          <a:prstGeom prst="rect">
            <a:avLst/>
          </a:prstGeom>
          <a:noFill/>
        </p:spPr>
        <p:txBody>
          <a:bodyPr wrap="square" lIns="0" tIns="0" rIns="0" bIns="0">
            <a:spAutoFit/>
          </a:bodyPr>
          <a:lstStyle/>
          <a:p>
            <a:pPr algn="l">
              <a:defRPr sz="1350" b="1">
                <a:solidFill>
                  <a:srgbClr val="0F172A"/>
                </a:solidFill>
                <a:latin typeface="Arial"/>
              </a:defRPr>
            </a:pPr>
            <a:r>
              <a:t>Algorithmic Market Maker ('The Wintermute of India')</a:t>
            </a:r>
          </a:p>
        </p:txBody>
      </p:sp>
      <p:sp>
        <p:nvSpPr>
          <p:cNvPr id="25" name="TextBox 24"/>
          <p:cNvSpPr txBox="1"/>
          <p:nvPr/>
        </p:nvSpPr>
        <p:spPr>
          <a:xfrm>
            <a:off x="8343900" y="2647950"/>
            <a:ext cx="3143250" cy="209550"/>
          </a:xfrm>
          <a:prstGeom prst="rect">
            <a:avLst/>
          </a:prstGeom>
          <a:noFill/>
        </p:spPr>
        <p:txBody>
          <a:bodyPr wrap="square" lIns="0" tIns="0" rIns="0" bIns="0">
            <a:spAutoFit/>
          </a:bodyPr>
          <a:lstStyle/>
          <a:p>
            <a:pPr algn="l">
              <a:defRPr sz="975" b="1">
                <a:solidFill>
                  <a:srgbClr val="94A3B8"/>
                </a:solidFill>
                <a:latin typeface="Arial"/>
              </a:defRPr>
            </a:pPr>
            <a:r>
              <a:t>Months 24+  ·  Global Scale</a:t>
            </a:r>
          </a:p>
        </p:txBody>
      </p:sp>
      <p:sp>
        <p:nvSpPr>
          <p:cNvPr id="26" name="TextBox 25"/>
          <p:cNvSpPr txBox="1"/>
          <p:nvPr/>
        </p:nvSpPr>
        <p:spPr>
          <a:xfrm>
            <a:off x="8343900" y="2952750"/>
            <a:ext cx="3143250" cy="3143250"/>
          </a:xfrm>
          <a:prstGeom prst="rect">
            <a:avLst/>
          </a:prstGeom>
          <a:noFill/>
        </p:spPr>
        <p:txBody>
          <a:bodyPr wrap="square" lIns="0" tIns="0" rIns="0" bIns="0">
            <a:spAutoFit/>
          </a:bodyPr>
          <a:lstStyle/>
          <a:p>
            <a:pPr>
              <a:spcAft>
                <a:spcPts val="1200"/>
              </a:spcAft>
              <a:defRPr sz="975">
                <a:solidFill>
                  <a:srgbClr val="475569"/>
                </a:solidFill>
                <a:latin typeface="Arial"/>
              </a:defRPr>
            </a:pPr>
            <a:r>
              <a:t>✔  High-frequency algorithmic liquidity provision across Hyperliquid, top DEXs, and major CEXs.</a:t>
            </a:r>
          </a:p>
          <a:p>
            <a:pPr>
              <a:spcAft>
                <a:spcPts val="1200"/>
              </a:spcAft>
              <a:defRPr sz="975">
                <a:solidFill>
                  <a:srgbClr val="475569"/>
                </a:solidFill>
                <a:latin typeface="Arial"/>
              </a:defRPr>
            </a:pPr>
            <a:r>
              <a:t>✔  Capturing 2–8 basis points spread on hundreds of millions in daily quoting volume.</a:t>
            </a:r>
          </a:p>
          <a:p>
            <a:pPr>
              <a:spcAft>
                <a:spcPts val="1200"/>
              </a:spcAft>
              <a:defRPr sz="975">
                <a:solidFill>
                  <a:srgbClr val="475569"/>
                </a:solidFill>
                <a:latin typeface="Arial"/>
              </a:defRPr>
            </a:pPr>
            <a:r>
              <a:t>✔  Token foundation retainers ($15k–$40k/month per token) for guaranteed order book depth.</a:t>
            </a:r>
          </a:p>
          <a:p>
            <a:pPr>
              <a:spcAft>
                <a:spcPts val="1200"/>
              </a:spcAft>
              <a:defRPr sz="975">
                <a:solidFill>
                  <a:srgbClr val="475569"/>
                </a:solidFill>
                <a:latin typeface="Arial"/>
              </a:defRPr>
            </a:pPr>
            <a:r>
              <a:t>✔  Establishing India's premier, globally recognized institutional crypto market-making institution.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11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10 / STRATEGY DEEP-DIVE</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Capitalizing on Internal Edge: Prop Trading &amp; Market Making</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53340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5334000" cy="47625"/>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1857375"/>
            <a:ext cx="4857750" cy="266700"/>
          </a:xfrm>
          <a:prstGeom prst="rect">
            <a:avLst/>
          </a:prstGeom>
          <a:noFill/>
        </p:spPr>
        <p:txBody>
          <a:bodyPr wrap="square" lIns="0" tIns="0" rIns="0" bIns="0">
            <a:spAutoFit/>
          </a:bodyPr>
          <a:lstStyle/>
          <a:p>
            <a:pPr algn="l">
              <a:defRPr sz="1350" b="1">
                <a:solidFill>
                  <a:srgbClr val="0F172A"/>
                </a:solidFill>
                <a:latin typeface="Arial"/>
              </a:defRPr>
            </a:pPr>
            <a:r>
              <a:t>Phase 2 Deep Dive: daVIRA Capital</a:t>
            </a:r>
          </a:p>
        </p:txBody>
      </p:sp>
      <p:sp>
        <p:nvSpPr>
          <p:cNvPr id="12" name="TextBox 11"/>
          <p:cNvSpPr txBox="1"/>
          <p:nvPr/>
        </p:nvSpPr>
        <p:spPr>
          <a:xfrm>
            <a:off x="838200" y="2152650"/>
            <a:ext cx="4857750" cy="342900"/>
          </a:xfrm>
          <a:prstGeom prst="rect">
            <a:avLst/>
          </a:prstGeom>
          <a:noFill/>
        </p:spPr>
        <p:txBody>
          <a:bodyPr wrap="square" lIns="0" tIns="0" rIns="0" bIns="0">
            <a:spAutoFit/>
          </a:bodyPr>
          <a:lstStyle/>
          <a:p>
            <a:pPr algn="l">
              <a:defRPr sz="975" b="1">
                <a:solidFill>
                  <a:srgbClr val="059669"/>
                </a:solidFill>
                <a:latin typeface="Arial"/>
              </a:defRPr>
            </a:pPr>
            <a:r>
              <a:t>Proprietary Trading Desk Exploiting Internal Information Asymmetry</a:t>
            </a:r>
          </a:p>
        </p:txBody>
      </p:sp>
      <p:sp>
        <p:nvSpPr>
          <p:cNvPr id="13" name="TextBox 12"/>
          <p:cNvSpPr txBox="1"/>
          <p:nvPr/>
        </p:nvSpPr>
        <p:spPr>
          <a:xfrm>
            <a:off x="838200" y="2590800"/>
            <a:ext cx="4857750" cy="3476625"/>
          </a:xfrm>
          <a:prstGeom prst="rect">
            <a:avLst/>
          </a:prstGeom>
          <a:noFill/>
        </p:spPr>
        <p:txBody>
          <a:bodyPr wrap="square" lIns="0" tIns="0" rIns="0" bIns="0">
            <a:spAutoFit/>
          </a:bodyPr>
          <a:lstStyle/>
          <a:p>
            <a:pPr>
              <a:spcAft>
                <a:spcPts val="1400"/>
              </a:spcAft>
              <a:defRPr sz="975">
                <a:solidFill>
                  <a:srgbClr val="475569"/>
                </a:solidFill>
                <a:latin typeface="Arial"/>
              </a:defRPr>
            </a:pPr>
            <a:r>
              <a:t>•  The Internal Edge: We see wallet repositioning, liquidation clusters, and cross-asset flow rotation before the broader market.</a:t>
            </a:r>
          </a:p>
          <a:p>
            <a:pPr>
              <a:spcAft>
                <a:spcPts val="1400"/>
              </a:spcAft>
              <a:defRPr sz="975">
                <a:solidFill>
                  <a:srgbClr val="475569"/>
                </a:solidFill>
                <a:latin typeface="Arial"/>
              </a:defRPr>
            </a:pPr>
            <a:r>
              <a:t>•  Systematic Flow Strategies: Automated execution of high-Sharpe swing strategies mirroring verified top-performing smart money cohorts.</a:t>
            </a:r>
          </a:p>
          <a:p>
            <a:pPr>
              <a:spcAft>
                <a:spcPts val="1400"/>
              </a:spcAft>
              <a:defRPr sz="975">
                <a:solidFill>
                  <a:srgbClr val="475569"/>
                </a:solidFill>
                <a:latin typeface="Arial"/>
              </a:defRPr>
            </a:pPr>
            <a:r>
              <a:t>•  Delta-Neutral Basis Arbitrage: Capturing perpetual funding rate premiums between on-chain perp DEXs and centralized exchanges without directional market risk.</a:t>
            </a:r>
          </a:p>
          <a:p>
            <a:pPr>
              <a:spcAft>
                <a:spcPts val="1400"/>
              </a:spcAft>
              <a:defRPr sz="975">
                <a:solidFill>
                  <a:srgbClr val="475569"/>
                </a:solidFill>
                <a:latin typeface="Arial"/>
              </a:defRPr>
            </a:pPr>
            <a:r>
              <a:t>•  Strict Institutional Risk Architecture: Sub-second automated circuit breakers, max portfolio drawdown caps (5%), and zero unhedged overnight delta.</a:t>
            </a:r>
          </a:p>
        </p:txBody>
      </p:sp>
      <p:sp>
        <p:nvSpPr>
          <p:cNvPr id="14" name="Rounded Rectangle 13"/>
          <p:cNvSpPr/>
          <p:nvPr/>
        </p:nvSpPr>
        <p:spPr>
          <a:xfrm>
            <a:off x="6229350" y="1666875"/>
            <a:ext cx="53340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29350" y="1666875"/>
            <a:ext cx="5334000" cy="47625"/>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7950" y="1857375"/>
            <a:ext cx="4857750" cy="266700"/>
          </a:xfrm>
          <a:prstGeom prst="rect">
            <a:avLst/>
          </a:prstGeom>
          <a:noFill/>
        </p:spPr>
        <p:txBody>
          <a:bodyPr wrap="square" lIns="0" tIns="0" rIns="0" bIns="0">
            <a:spAutoFit/>
          </a:bodyPr>
          <a:lstStyle/>
          <a:p>
            <a:pPr algn="l">
              <a:defRPr sz="1350" b="1">
                <a:solidFill>
                  <a:srgbClr val="0F172A"/>
                </a:solidFill>
                <a:latin typeface="Arial"/>
              </a:defRPr>
            </a:pPr>
            <a:r>
              <a:t>Phase 3 Deep Dive: The Wintermute of India</a:t>
            </a:r>
          </a:p>
        </p:txBody>
      </p:sp>
      <p:sp>
        <p:nvSpPr>
          <p:cNvPr id="17" name="TextBox 16"/>
          <p:cNvSpPr txBox="1"/>
          <p:nvPr/>
        </p:nvSpPr>
        <p:spPr>
          <a:xfrm>
            <a:off x="6457950" y="2152650"/>
            <a:ext cx="4857750" cy="342900"/>
          </a:xfrm>
          <a:prstGeom prst="rect">
            <a:avLst/>
          </a:prstGeom>
          <a:noFill/>
        </p:spPr>
        <p:txBody>
          <a:bodyPr wrap="square" lIns="0" tIns="0" rIns="0" bIns="0">
            <a:spAutoFit/>
          </a:bodyPr>
          <a:lstStyle/>
          <a:p>
            <a:pPr algn="l">
              <a:defRPr sz="975" b="1">
                <a:solidFill>
                  <a:srgbClr val="7C3AED"/>
                </a:solidFill>
                <a:latin typeface="Arial"/>
              </a:defRPr>
            </a:pPr>
            <a:r>
              <a:t>Algorithmic Market Maker Providing Global Liquidity from India</a:t>
            </a:r>
          </a:p>
        </p:txBody>
      </p:sp>
      <p:sp>
        <p:nvSpPr>
          <p:cNvPr id="18" name="TextBox 17"/>
          <p:cNvSpPr txBox="1"/>
          <p:nvPr/>
        </p:nvSpPr>
        <p:spPr>
          <a:xfrm>
            <a:off x="6457950" y="2590800"/>
            <a:ext cx="4857750" cy="3476625"/>
          </a:xfrm>
          <a:prstGeom prst="rect">
            <a:avLst/>
          </a:prstGeom>
          <a:noFill/>
        </p:spPr>
        <p:txBody>
          <a:bodyPr wrap="square" lIns="0" tIns="0" rIns="0" bIns="0">
            <a:spAutoFit/>
          </a:bodyPr>
          <a:lstStyle/>
          <a:p>
            <a:pPr>
              <a:spcAft>
                <a:spcPts val="1400"/>
              </a:spcAft>
              <a:defRPr sz="975">
                <a:solidFill>
                  <a:srgbClr val="475569"/>
                </a:solidFill>
                <a:latin typeface="Arial"/>
              </a:defRPr>
            </a:pPr>
            <a:r>
              <a:t>•  The Liquidity Vacuum: Top tier-1 market makers (Wintermute, Jump, Flow Traders) are Western or Singapore-based, ignoring major regional Asian and emerging token ecosystems.</a:t>
            </a:r>
          </a:p>
          <a:p>
            <a:pPr>
              <a:spcAft>
                <a:spcPts val="1400"/>
              </a:spcAft>
              <a:defRPr sz="975">
                <a:solidFill>
                  <a:srgbClr val="475569"/>
                </a:solidFill>
                <a:latin typeface="Arial"/>
              </a:defRPr>
            </a:pPr>
            <a:r>
              <a:t>•  Two-Sided Quoting Engine: Deploying ultra-low latency continuous quoting models on Hyperliquid, Solana CLOBs, and major CEXs.</a:t>
            </a:r>
          </a:p>
          <a:p>
            <a:pPr>
              <a:spcAft>
                <a:spcPts val="1400"/>
              </a:spcAft>
              <a:defRPr sz="975">
                <a:solidFill>
                  <a:srgbClr val="475569"/>
                </a:solidFill>
                <a:latin typeface="Arial"/>
              </a:defRPr>
            </a:pPr>
            <a:r>
              <a:t>•  Compounding Economics: Capturing high-frequency bid-ask spreads on billions in monthly volume, generating non-directional recurring trading profits.</a:t>
            </a:r>
          </a:p>
          <a:p>
            <a:pPr>
              <a:spcAft>
                <a:spcPts val="1400"/>
              </a:spcAft>
              <a:defRPr sz="975">
                <a:solidFill>
                  <a:srgbClr val="475569"/>
                </a:solidFill>
                <a:latin typeface="Arial"/>
              </a:defRPr>
            </a:pPr>
            <a:r>
              <a:t>•  India Engineering Cost Advantage: World-class quantitative researchers and Rust systems architects from IITs at a 75% cost advantage over London or Chicago.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12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11 / TOTAL ADDRESSABLE MARKET</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Expanding Across High-Value Financial Markets</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26193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2619375" cy="47625"/>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050" y="1857375"/>
            <a:ext cx="2286000" cy="457200"/>
          </a:xfrm>
          <a:prstGeom prst="rect">
            <a:avLst/>
          </a:prstGeom>
          <a:noFill/>
        </p:spPr>
        <p:txBody>
          <a:bodyPr wrap="square" lIns="0" tIns="0" rIns="0" bIns="0">
            <a:spAutoFit/>
          </a:bodyPr>
          <a:lstStyle/>
          <a:p>
            <a:pPr algn="l">
              <a:defRPr sz="1200" b="1">
                <a:solidFill>
                  <a:srgbClr val="0F172A"/>
                </a:solidFill>
                <a:latin typeface="Arial"/>
              </a:defRPr>
            </a:pPr>
            <a:r>
              <a:t>On-Chain Derivative Volume</a:t>
            </a:r>
          </a:p>
        </p:txBody>
      </p:sp>
      <p:sp>
        <p:nvSpPr>
          <p:cNvPr id="12" name="TextBox 11"/>
          <p:cNvSpPr txBox="1"/>
          <p:nvPr/>
        </p:nvSpPr>
        <p:spPr>
          <a:xfrm>
            <a:off x="781050" y="2362200"/>
            <a:ext cx="2286000" cy="400050"/>
          </a:xfrm>
          <a:prstGeom prst="rect">
            <a:avLst/>
          </a:prstGeom>
          <a:noFill/>
        </p:spPr>
        <p:txBody>
          <a:bodyPr wrap="square" lIns="0" tIns="0" rIns="0" bIns="0">
            <a:spAutoFit/>
          </a:bodyPr>
          <a:lstStyle/>
          <a:p>
            <a:pPr algn="l">
              <a:defRPr sz="2400" b="1">
                <a:solidFill>
                  <a:srgbClr val="0284C7"/>
                </a:solidFill>
                <a:latin typeface="Arial"/>
              </a:defRPr>
            </a:pPr>
            <a:r>
              <a:t>$4.2T+</a:t>
            </a:r>
          </a:p>
        </p:txBody>
      </p:sp>
      <p:sp>
        <p:nvSpPr>
          <p:cNvPr id="13" name="TextBox 12"/>
          <p:cNvSpPr txBox="1"/>
          <p:nvPr/>
        </p:nvSpPr>
        <p:spPr>
          <a:xfrm>
            <a:off x="781050" y="2838450"/>
            <a:ext cx="2286000" cy="342900"/>
          </a:xfrm>
          <a:prstGeom prst="rect">
            <a:avLst/>
          </a:prstGeom>
          <a:noFill/>
        </p:spPr>
        <p:txBody>
          <a:bodyPr wrap="square" lIns="0" tIns="0" rIns="0" bIns="0">
            <a:spAutoFit/>
          </a:bodyPr>
          <a:lstStyle/>
          <a:p>
            <a:pPr algn="l">
              <a:defRPr sz="975" b="1">
                <a:solidFill>
                  <a:srgbClr val="0284C7"/>
                </a:solidFill>
                <a:latin typeface="Arial"/>
              </a:defRPr>
            </a:pPr>
            <a:r>
              <a:t>Total Annualized Volume on Perp DEXs</a:t>
            </a:r>
          </a:p>
        </p:txBody>
      </p:sp>
      <p:sp>
        <p:nvSpPr>
          <p:cNvPr id="14" name="TextBox 13"/>
          <p:cNvSpPr txBox="1"/>
          <p:nvPr/>
        </p:nvSpPr>
        <p:spPr>
          <a:xfrm>
            <a:off x="781050" y="3286125"/>
            <a:ext cx="2286000" cy="762000"/>
          </a:xfrm>
          <a:prstGeom prst="rect">
            <a:avLst/>
          </a:prstGeom>
          <a:noFill/>
        </p:spPr>
        <p:txBody>
          <a:bodyPr wrap="square" lIns="0" tIns="0" rIns="0" bIns="0">
            <a:spAutoFit/>
          </a:bodyPr>
          <a:lstStyle/>
          <a:p>
            <a:pPr algn="l">
              <a:defRPr sz="975" b="0">
                <a:solidFill>
                  <a:srgbClr val="475569"/>
                </a:solidFill>
                <a:latin typeface="Arial"/>
              </a:defRPr>
            </a:pPr>
            <a:r>
              <a:t>High-frequency perp volume migrating from CEX to DEX platforms like Hyperliquid.</a:t>
            </a:r>
          </a:p>
        </p:txBody>
      </p:sp>
      <p:sp>
        <p:nvSpPr>
          <p:cNvPr id="15" name="Rounded Rectangle 14"/>
          <p:cNvSpPr/>
          <p:nvPr/>
        </p:nvSpPr>
        <p:spPr>
          <a:xfrm>
            <a:off x="781050" y="4190999"/>
            <a:ext cx="2276475" cy="180975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6300" y="4305300"/>
            <a:ext cx="2095499" cy="190500"/>
          </a:xfrm>
          <a:prstGeom prst="rect">
            <a:avLst/>
          </a:prstGeom>
          <a:noFill/>
        </p:spPr>
        <p:txBody>
          <a:bodyPr wrap="square" lIns="0" tIns="0" rIns="0" bIns="0">
            <a:spAutoFit/>
          </a:bodyPr>
          <a:lstStyle/>
          <a:p>
            <a:pPr algn="l">
              <a:defRPr sz="900" b="1">
                <a:solidFill>
                  <a:srgbClr val="0F172A"/>
                </a:solidFill>
                <a:latin typeface="Arial"/>
              </a:defRPr>
            </a:pPr>
            <a:r>
              <a:t>Strategic Monetization:</a:t>
            </a:r>
          </a:p>
        </p:txBody>
      </p:sp>
      <p:sp>
        <p:nvSpPr>
          <p:cNvPr id="17" name="TextBox 16"/>
          <p:cNvSpPr txBox="1"/>
          <p:nvPr/>
        </p:nvSpPr>
        <p:spPr>
          <a:xfrm>
            <a:off x="876300" y="4572000"/>
            <a:ext cx="2095499" cy="1238250"/>
          </a:xfrm>
          <a:prstGeom prst="rect">
            <a:avLst/>
          </a:prstGeom>
          <a:noFill/>
        </p:spPr>
        <p:txBody>
          <a:bodyPr wrap="square" lIns="0" tIns="0" rIns="0" bIns="0">
            <a:spAutoFit/>
          </a:bodyPr>
          <a:lstStyle/>
          <a:p>
            <a:pPr algn="l">
              <a:defRPr sz="900" b="0">
                <a:solidFill>
                  <a:srgbClr val="475569"/>
                </a:solidFill>
                <a:latin typeface="Arial"/>
              </a:defRPr>
            </a:pPr>
            <a:r>
              <a:t>Monetized via data APIs, low-latency execution feeds, and institutional analytics seats.</a:t>
            </a:r>
          </a:p>
        </p:txBody>
      </p:sp>
      <p:sp>
        <p:nvSpPr>
          <p:cNvPr id="18" name="Rounded Rectangle 17"/>
          <p:cNvSpPr/>
          <p:nvPr/>
        </p:nvSpPr>
        <p:spPr>
          <a:xfrm>
            <a:off x="3419475" y="1666875"/>
            <a:ext cx="26193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419475" y="1666875"/>
            <a:ext cx="2619375" cy="47625"/>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90925" y="1857375"/>
            <a:ext cx="2286000" cy="457200"/>
          </a:xfrm>
          <a:prstGeom prst="rect">
            <a:avLst/>
          </a:prstGeom>
          <a:noFill/>
        </p:spPr>
        <p:txBody>
          <a:bodyPr wrap="square" lIns="0" tIns="0" rIns="0" bIns="0">
            <a:spAutoFit/>
          </a:bodyPr>
          <a:lstStyle/>
          <a:p>
            <a:pPr algn="l">
              <a:defRPr sz="1200" b="1">
                <a:solidFill>
                  <a:srgbClr val="0F172A"/>
                </a:solidFill>
                <a:latin typeface="Arial"/>
              </a:defRPr>
            </a:pPr>
            <a:r>
              <a:t>Global Prop Desks &amp; Quant Funds</a:t>
            </a:r>
          </a:p>
        </p:txBody>
      </p:sp>
      <p:sp>
        <p:nvSpPr>
          <p:cNvPr id="21" name="TextBox 20"/>
          <p:cNvSpPr txBox="1"/>
          <p:nvPr/>
        </p:nvSpPr>
        <p:spPr>
          <a:xfrm>
            <a:off x="3590925" y="2362200"/>
            <a:ext cx="2286000" cy="400050"/>
          </a:xfrm>
          <a:prstGeom prst="rect">
            <a:avLst/>
          </a:prstGeom>
          <a:noFill/>
        </p:spPr>
        <p:txBody>
          <a:bodyPr wrap="square" lIns="0" tIns="0" rIns="0" bIns="0">
            <a:spAutoFit/>
          </a:bodyPr>
          <a:lstStyle/>
          <a:p>
            <a:pPr algn="l">
              <a:defRPr sz="2400" b="1">
                <a:solidFill>
                  <a:srgbClr val="059669"/>
                </a:solidFill>
                <a:latin typeface="Arial"/>
              </a:defRPr>
            </a:pPr>
            <a:r>
              <a:t>5,000+</a:t>
            </a:r>
          </a:p>
        </p:txBody>
      </p:sp>
      <p:sp>
        <p:nvSpPr>
          <p:cNvPr id="22" name="TextBox 21"/>
          <p:cNvSpPr txBox="1"/>
          <p:nvPr/>
        </p:nvSpPr>
        <p:spPr>
          <a:xfrm>
            <a:off x="3590925" y="2838450"/>
            <a:ext cx="2286000" cy="342900"/>
          </a:xfrm>
          <a:prstGeom prst="rect">
            <a:avLst/>
          </a:prstGeom>
          <a:noFill/>
        </p:spPr>
        <p:txBody>
          <a:bodyPr wrap="square" lIns="0" tIns="0" rIns="0" bIns="0">
            <a:spAutoFit/>
          </a:bodyPr>
          <a:lstStyle/>
          <a:p>
            <a:pPr algn="l">
              <a:defRPr sz="975" b="1">
                <a:solidFill>
                  <a:srgbClr val="059669"/>
                </a:solidFill>
                <a:latin typeface="Arial"/>
              </a:defRPr>
            </a:pPr>
            <a:r>
              <a:t>Active Institutional Trading Desks</a:t>
            </a:r>
          </a:p>
        </p:txBody>
      </p:sp>
      <p:sp>
        <p:nvSpPr>
          <p:cNvPr id="23" name="TextBox 22"/>
          <p:cNvSpPr txBox="1"/>
          <p:nvPr/>
        </p:nvSpPr>
        <p:spPr>
          <a:xfrm>
            <a:off x="3590925" y="3286125"/>
            <a:ext cx="2286000" cy="762000"/>
          </a:xfrm>
          <a:prstGeom prst="rect">
            <a:avLst/>
          </a:prstGeom>
          <a:noFill/>
        </p:spPr>
        <p:txBody>
          <a:bodyPr wrap="square" lIns="0" tIns="0" rIns="0" bIns="0">
            <a:spAutoFit/>
          </a:bodyPr>
          <a:lstStyle/>
          <a:p>
            <a:pPr algn="l">
              <a:defRPr sz="975" b="0">
                <a:solidFill>
                  <a:srgbClr val="475569"/>
                </a:solidFill>
                <a:latin typeface="Arial"/>
              </a:defRPr>
            </a:pPr>
            <a:r>
              <a:t>Proprietary trading firms, hedge funds, and family offices deploying systematic capital.</a:t>
            </a:r>
          </a:p>
        </p:txBody>
      </p:sp>
      <p:sp>
        <p:nvSpPr>
          <p:cNvPr id="24" name="Rounded Rectangle 23"/>
          <p:cNvSpPr/>
          <p:nvPr/>
        </p:nvSpPr>
        <p:spPr>
          <a:xfrm>
            <a:off x="3590925" y="4190999"/>
            <a:ext cx="2276475" cy="180975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86175" y="4305300"/>
            <a:ext cx="2095499" cy="190500"/>
          </a:xfrm>
          <a:prstGeom prst="rect">
            <a:avLst/>
          </a:prstGeom>
          <a:noFill/>
        </p:spPr>
        <p:txBody>
          <a:bodyPr wrap="square" lIns="0" tIns="0" rIns="0" bIns="0">
            <a:spAutoFit/>
          </a:bodyPr>
          <a:lstStyle/>
          <a:p>
            <a:pPr algn="l">
              <a:defRPr sz="900" b="1">
                <a:solidFill>
                  <a:srgbClr val="0F172A"/>
                </a:solidFill>
                <a:latin typeface="Arial"/>
              </a:defRPr>
            </a:pPr>
            <a:r>
              <a:t>Strategic Monetization:</a:t>
            </a:r>
          </a:p>
        </p:txBody>
      </p:sp>
      <p:sp>
        <p:nvSpPr>
          <p:cNvPr id="26" name="TextBox 25"/>
          <p:cNvSpPr txBox="1"/>
          <p:nvPr/>
        </p:nvSpPr>
        <p:spPr>
          <a:xfrm>
            <a:off x="3686175" y="4572000"/>
            <a:ext cx="2095499" cy="1238250"/>
          </a:xfrm>
          <a:prstGeom prst="rect">
            <a:avLst/>
          </a:prstGeom>
          <a:noFill/>
        </p:spPr>
        <p:txBody>
          <a:bodyPr wrap="square" lIns="0" tIns="0" rIns="0" bIns="0">
            <a:spAutoFit/>
          </a:bodyPr>
          <a:lstStyle/>
          <a:p>
            <a:pPr algn="l">
              <a:defRPr sz="900" b="0">
                <a:solidFill>
                  <a:srgbClr val="475569"/>
                </a:solidFill>
                <a:latin typeface="Arial"/>
              </a:defRPr>
            </a:pPr>
            <a:r>
              <a:t>Enterprise subscriptions ($250–$1,000/seat/mo) plus custom multi-chain webhook integrations.</a:t>
            </a:r>
          </a:p>
        </p:txBody>
      </p:sp>
      <p:sp>
        <p:nvSpPr>
          <p:cNvPr id="27" name="Rounded Rectangle 26"/>
          <p:cNvSpPr/>
          <p:nvPr/>
        </p:nvSpPr>
        <p:spPr>
          <a:xfrm>
            <a:off x="6229350" y="1666875"/>
            <a:ext cx="26193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29350" y="1666875"/>
            <a:ext cx="2619375" cy="47625"/>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1857375"/>
            <a:ext cx="2286000" cy="457200"/>
          </a:xfrm>
          <a:prstGeom prst="rect">
            <a:avLst/>
          </a:prstGeom>
          <a:noFill/>
        </p:spPr>
        <p:txBody>
          <a:bodyPr wrap="square" lIns="0" tIns="0" rIns="0" bIns="0">
            <a:spAutoFit/>
          </a:bodyPr>
          <a:lstStyle/>
          <a:p>
            <a:pPr algn="l">
              <a:defRPr sz="1200" b="1">
                <a:solidFill>
                  <a:srgbClr val="0F172A"/>
                </a:solidFill>
                <a:latin typeface="Arial"/>
              </a:defRPr>
            </a:pPr>
            <a:r>
              <a:t>Active Discretionary &amp; Quant Traders</a:t>
            </a:r>
          </a:p>
        </p:txBody>
      </p:sp>
      <p:sp>
        <p:nvSpPr>
          <p:cNvPr id="30" name="TextBox 29"/>
          <p:cNvSpPr txBox="1"/>
          <p:nvPr/>
        </p:nvSpPr>
        <p:spPr>
          <a:xfrm>
            <a:off x="6400800" y="2362200"/>
            <a:ext cx="2286000" cy="400050"/>
          </a:xfrm>
          <a:prstGeom prst="rect">
            <a:avLst/>
          </a:prstGeom>
          <a:noFill/>
        </p:spPr>
        <p:txBody>
          <a:bodyPr wrap="square" lIns="0" tIns="0" rIns="0" bIns="0">
            <a:spAutoFit/>
          </a:bodyPr>
          <a:lstStyle/>
          <a:p>
            <a:pPr algn="l">
              <a:defRPr sz="2400" b="1">
                <a:solidFill>
                  <a:srgbClr val="D97706"/>
                </a:solidFill>
                <a:latin typeface="Arial"/>
              </a:defRPr>
            </a:pPr>
            <a:r>
              <a:t>2.5M+</a:t>
            </a:r>
          </a:p>
        </p:txBody>
      </p:sp>
      <p:sp>
        <p:nvSpPr>
          <p:cNvPr id="31" name="TextBox 30"/>
          <p:cNvSpPr txBox="1"/>
          <p:nvPr/>
        </p:nvSpPr>
        <p:spPr>
          <a:xfrm>
            <a:off x="6400800" y="2838450"/>
            <a:ext cx="2286000" cy="342900"/>
          </a:xfrm>
          <a:prstGeom prst="rect">
            <a:avLst/>
          </a:prstGeom>
          <a:noFill/>
        </p:spPr>
        <p:txBody>
          <a:bodyPr wrap="square" lIns="0" tIns="0" rIns="0" bIns="0">
            <a:spAutoFit/>
          </a:bodyPr>
          <a:lstStyle/>
          <a:p>
            <a:pPr algn="l">
              <a:defRPr sz="975" b="1">
                <a:solidFill>
                  <a:srgbClr val="D97706"/>
                </a:solidFill>
                <a:latin typeface="Arial"/>
              </a:defRPr>
            </a:pPr>
            <a:r>
              <a:t>Global Crypto Traders Needing Edge</a:t>
            </a:r>
          </a:p>
        </p:txBody>
      </p:sp>
      <p:sp>
        <p:nvSpPr>
          <p:cNvPr id="32" name="TextBox 31"/>
          <p:cNvSpPr txBox="1"/>
          <p:nvPr/>
        </p:nvSpPr>
        <p:spPr>
          <a:xfrm>
            <a:off x="6400800" y="3286125"/>
            <a:ext cx="2286000" cy="762000"/>
          </a:xfrm>
          <a:prstGeom prst="rect">
            <a:avLst/>
          </a:prstGeom>
          <a:noFill/>
        </p:spPr>
        <p:txBody>
          <a:bodyPr wrap="square" lIns="0" tIns="0" rIns="0" bIns="0">
            <a:spAutoFit/>
          </a:bodyPr>
          <a:lstStyle/>
          <a:p>
            <a:pPr algn="l">
              <a:defRPr sz="975" b="0">
                <a:solidFill>
                  <a:srgbClr val="475569"/>
                </a:solidFill>
                <a:latin typeface="Arial"/>
              </a:defRPr>
            </a:pPr>
            <a:r>
              <a:t>Massive market of independent traders and quants seeking institutional transparency.</a:t>
            </a:r>
          </a:p>
        </p:txBody>
      </p:sp>
      <p:sp>
        <p:nvSpPr>
          <p:cNvPr id="33" name="Rounded Rectangle 32"/>
          <p:cNvSpPr/>
          <p:nvPr/>
        </p:nvSpPr>
        <p:spPr>
          <a:xfrm>
            <a:off x="6400800" y="4190999"/>
            <a:ext cx="2276475" cy="180975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6050" y="4305300"/>
            <a:ext cx="2095499" cy="190500"/>
          </a:xfrm>
          <a:prstGeom prst="rect">
            <a:avLst/>
          </a:prstGeom>
          <a:noFill/>
        </p:spPr>
        <p:txBody>
          <a:bodyPr wrap="square" lIns="0" tIns="0" rIns="0" bIns="0">
            <a:spAutoFit/>
          </a:bodyPr>
          <a:lstStyle/>
          <a:p>
            <a:pPr algn="l">
              <a:defRPr sz="900" b="1">
                <a:solidFill>
                  <a:srgbClr val="0F172A"/>
                </a:solidFill>
                <a:latin typeface="Arial"/>
              </a:defRPr>
            </a:pPr>
            <a:r>
              <a:t>Strategic Monetization:</a:t>
            </a:r>
          </a:p>
        </p:txBody>
      </p:sp>
      <p:sp>
        <p:nvSpPr>
          <p:cNvPr id="35" name="TextBox 34"/>
          <p:cNvSpPr txBox="1"/>
          <p:nvPr/>
        </p:nvSpPr>
        <p:spPr>
          <a:xfrm>
            <a:off x="6496050" y="4572000"/>
            <a:ext cx="2095499" cy="1238250"/>
          </a:xfrm>
          <a:prstGeom prst="rect">
            <a:avLst/>
          </a:prstGeom>
          <a:noFill/>
        </p:spPr>
        <p:txBody>
          <a:bodyPr wrap="square" lIns="0" tIns="0" rIns="0" bIns="0">
            <a:spAutoFit/>
          </a:bodyPr>
          <a:lstStyle/>
          <a:p>
            <a:pPr algn="l">
              <a:defRPr sz="900" b="0">
                <a:solidFill>
                  <a:srgbClr val="475569"/>
                </a:solidFill>
                <a:latin typeface="Arial"/>
              </a:defRPr>
            </a:pPr>
            <a:r>
              <a:t>High-volume recurring SaaS: live $10/month plan ($120/yr) creates strong compounding ARR.</a:t>
            </a:r>
          </a:p>
        </p:txBody>
      </p:sp>
      <p:sp>
        <p:nvSpPr>
          <p:cNvPr id="36" name="Rounded Rectangle 35"/>
          <p:cNvSpPr/>
          <p:nvPr/>
        </p:nvSpPr>
        <p:spPr>
          <a:xfrm>
            <a:off x="9039225" y="1666875"/>
            <a:ext cx="26193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039225" y="1666875"/>
            <a:ext cx="2619375" cy="47625"/>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10675" y="1857375"/>
            <a:ext cx="2286000" cy="457200"/>
          </a:xfrm>
          <a:prstGeom prst="rect">
            <a:avLst/>
          </a:prstGeom>
          <a:noFill/>
        </p:spPr>
        <p:txBody>
          <a:bodyPr wrap="square" lIns="0" tIns="0" rIns="0" bIns="0">
            <a:spAutoFit/>
          </a:bodyPr>
          <a:lstStyle/>
          <a:p>
            <a:pPr algn="l">
              <a:defRPr sz="1200" b="1">
                <a:solidFill>
                  <a:srgbClr val="0F172A"/>
                </a:solidFill>
                <a:latin typeface="Arial"/>
              </a:defRPr>
            </a:pPr>
            <a:r>
              <a:t>Institutional Market Making</a:t>
            </a:r>
          </a:p>
        </p:txBody>
      </p:sp>
      <p:sp>
        <p:nvSpPr>
          <p:cNvPr id="39" name="TextBox 38"/>
          <p:cNvSpPr txBox="1"/>
          <p:nvPr/>
        </p:nvSpPr>
        <p:spPr>
          <a:xfrm>
            <a:off x="9210675" y="2362200"/>
            <a:ext cx="2286000" cy="400050"/>
          </a:xfrm>
          <a:prstGeom prst="rect">
            <a:avLst/>
          </a:prstGeom>
          <a:noFill/>
        </p:spPr>
        <p:txBody>
          <a:bodyPr wrap="square" lIns="0" tIns="0" rIns="0" bIns="0">
            <a:spAutoFit/>
          </a:bodyPr>
          <a:lstStyle/>
          <a:p>
            <a:pPr algn="l">
              <a:defRPr sz="2400" b="1">
                <a:solidFill>
                  <a:srgbClr val="7C3AED"/>
                </a:solidFill>
                <a:latin typeface="Arial"/>
              </a:defRPr>
            </a:pPr>
            <a:r>
              <a:t>$100B+</a:t>
            </a:r>
          </a:p>
        </p:txBody>
      </p:sp>
      <p:sp>
        <p:nvSpPr>
          <p:cNvPr id="40" name="TextBox 39"/>
          <p:cNvSpPr txBox="1"/>
          <p:nvPr/>
        </p:nvSpPr>
        <p:spPr>
          <a:xfrm>
            <a:off x="9210675" y="2838450"/>
            <a:ext cx="2286000" cy="342900"/>
          </a:xfrm>
          <a:prstGeom prst="rect">
            <a:avLst/>
          </a:prstGeom>
          <a:noFill/>
        </p:spPr>
        <p:txBody>
          <a:bodyPr wrap="square" lIns="0" tIns="0" rIns="0" bIns="0">
            <a:spAutoFit/>
          </a:bodyPr>
          <a:lstStyle/>
          <a:p>
            <a:pPr algn="l">
              <a:defRPr sz="975" b="1">
                <a:solidFill>
                  <a:srgbClr val="7C3AED"/>
                </a:solidFill>
                <a:latin typeface="Arial"/>
              </a:defRPr>
            </a:pPr>
            <a:r>
              <a:t>Daily Global Crypto Liquidity Provision</a:t>
            </a:r>
          </a:p>
        </p:txBody>
      </p:sp>
      <p:sp>
        <p:nvSpPr>
          <p:cNvPr id="41" name="TextBox 40"/>
          <p:cNvSpPr txBox="1"/>
          <p:nvPr/>
        </p:nvSpPr>
        <p:spPr>
          <a:xfrm>
            <a:off x="9210675" y="3286125"/>
            <a:ext cx="2286000" cy="762000"/>
          </a:xfrm>
          <a:prstGeom prst="rect">
            <a:avLst/>
          </a:prstGeom>
          <a:noFill/>
        </p:spPr>
        <p:txBody>
          <a:bodyPr wrap="square" lIns="0" tIns="0" rIns="0" bIns="0">
            <a:spAutoFit/>
          </a:bodyPr>
          <a:lstStyle/>
          <a:p>
            <a:pPr algn="l">
              <a:defRPr sz="975" b="0">
                <a:solidFill>
                  <a:srgbClr val="475569"/>
                </a:solidFill>
                <a:latin typeface="Arial"/>
              </a:defRPr>
            </a:pPr>
            <a:r>
              <a:t>Continuous multi-venue liquidity provision across synthetic equities, commodities, and crypto.</a:t>
            </a:r>
          </a:p>
        </p:txBody>
      </p:sp>
      <p:sp>
        <p:nvSpPr>
          <p:cNvPr id="42" name="Rounded Rectangle 41"/>
          <p:cNvSpPr/>
          <p:nvPr/>
        </p:nvSpPr>
        <p:spPr>
          <a:xfrm>
            <a:off x="9210675" y="4190999"/>
            <a:ext cx="2276475" cy="180975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05925" y="4305300"/>
            <a:ext cx="2095499" cy="190500"/>
          </a:xfrm>
          <a:prstGeom prst="rect">
            <a:avLst/>
          </a:prstGeom>
          <a:noFill/>
        </p:spPr>
        <p:txBody>
          <a:bodyPr wrap="square" lIns="0" tIns="0" rIns="0" bIns="0">
            <a:spAutoFit/>
          </a:bodyPr>
          <a:lstStyle/>
          <a:p>
            <a:pPr algn="l">
              <a:defRPr sz="900" b="1">
                <a:solidFill>
                  <a:srgbClr val="0F172A"/>
                </a:solidFill>
                <a:latin typeface="Arial"/>
              </a:defRPr>
            </a:pPr>
            <a:r>
              <a:t>Strategic Monetization:</a:t>
            </a:r>
          </a:p>
        </p:txBody>
      </p:sp>
      <p:sp>
        <p:nvSpPr>
          <p:cNvPr id="44" name="TextBox 43"/>
          <p:cNvSpPr txBox="1"/>
          <p:nvPr/>
        </p:nvSpPr>
        <p:spPr>
          <a:xfrm>
            <a:off x="9305925" y="4572000"/>
            <a:ext cx="2095499" cy="1238250"/>
          </a:xfrm>
          <a:prstGeom prst="rect">
            <a:avLst/>
          </a:prstGeom>
          <a:noFill/>
        </p:spPr>
        <p:txBody>
          <a:bodyPr wrap="square" lIns="0" tIns="0" rIns="0" bIns="0">
            <a:spAutoFit/>
          </a:bodyPr>
          <a:lstStyle/>
          <a:p>
            <a:pPr algn="l">
              <a:defRPr sz="900" b="0">
                <a:solidFill>
                  <a:srgbClr val="475569"/>
                </a:solidFill>
                <a:latin typeface="Arial"/>
              </a:defRPr>
            </a:pPr>
            <a:r>
              <a:t>Capturing 2–8 bps bid-ask spreads across hundreds of millions in daily quoting volume.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13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12 / COMPETITIVE MOAT</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Why daVIRA Outpaces Existing Market Players</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graphicFrame>
        <p:nvGraphicFramePr>
          <p:cNvPr id="9" name="Table 8"/>
          <p:cNvGraphicFramePr>
            <a:graphicFrameLocks noGrp="1"/>
          </p:cNvGraphicFramePr>
          <p:nvPr/>
        </p:nvGraphicFramePr>
        <p:xfrm>
          <a:off x="609600" y="1666875"/>
          <a:ext cx="10954512" cy="4572000"/>
        </p:xfrm>
        <a:graphic>
          <a:graphicData uri="http://schemas.openxmlformats.org/drawingml/2006/table">
            <a:tbl>
              <a:tblPr firstRow="1" bandRow="1">
                <a:tableStyleId>{5C22544A-7EE6-4342-B048-85BDC9FD1C3A}</a:tableStyleId>
              </a:tblPr>
              <a:tblGrid>
                <a:gridCol w="2560320"/>
                <a:gridCol w="1920240"/>
                <a:gridCol w="1645920"/>
                <a:gridCol w="1828800"/>
                <a:gridCol w="2999232"/>
              </a:tblGrid>
              <a:tr h="571500">
                <a:tc>
                  <a:txBody>
                    <a:bodyPr wrap="square"/>
                    <a:lstStyle/>
                    <a:p>
                      <a:pPr>
                        <a:defRPr sz="1050" b="1">
                          <a:solidFill>
                            <a:srgbClr val="0F172A"/>
                          </a:solidFill>
                          <a:latin typeface="Arial"/>
                        </a:defRPr>
                      </a:pPr>
                      <a:r>
                        <a:t>INSTITUTIONAL CAPABILITY</a:t>
                      </a:r>
                    </a:p>
                  </a:txBody>
                  <a:tcPr marL="109728" marR="109728" marT="73152" marB="73152">
                    <a:solidFill>
                      <a:srgbClr val="F8FAFC"/>
                    </a:solidFill>
                  </a:tcPr>
                </a:tc>
                <a:tc>
                  <a:txBody>
                    <a:bodyPr wrap="square"/>
                    <a:lstStyle/>
                    <a:p>
                      <a:pPr>
                        <a:defRPr sz="1050" b="1">
                          <a:solidFill>
                            <a:srgbClr val="0F172A"/>
                          </a:solidFill>
                          <a:latin typeface="Arial"/>
                        </a:defRPr>
                      </a:pPr>
                      <a:r>
                        <a:t>NANSEN / ARKHAM</a:t>
                      </a:r>
                    </a:p>
                  </a:txBody>
                  <a:tcPr marL="109728" marR="109728" marT="73152" marB="73152">
                    <a:solidFill>
                      <a:srgbClr val="F8FAFC"/>
                    </a:solidFill>
                  </a:tcPr>
                </a:tc>
                <a:tc>
                  <a:txBody>
                    <a:bodyPr wrap="square"/>
                    <a:lstStyle/>
                    <a:p>
                      <a:pPr>
                        <a:defRPr sz="1050" b="1">
                          <a:solidFill>
                            <a:srgbClr val="0F172A"/>
                          </a:solidFill>
                          <a:latin typeface="Arial"/>
                        </a:defRPr>
                      </a:pPr>
                      <a:r>
                        <a:t>HYPERDASH</a:t>
                      </a:r>
                    </a:p>
                  </a:txBody>
                  <a:tcPr marL="109728" marR="109728" marT="73152" marB="73152">
                    <a:solidFill>
                      <a:srgbClr val="F8FAFC"/>
                    </a:solidFill>
                  </a:tcPr>
                </a:tc>
                <a:tc>
                  <a:txBody>
                    <a:bodyPr wrap="square"/>
                    <a:lstStyle/>
                    <a:p>
                      <a:pPr>
                        <a:defRPr sz="1050" b="1">
                          <a:solidFill>
                            <a:srgbClr val="0F172A"/>
                          </a:solidFill>
                          <a:latin typeface="Arial"/>
                        </a:defRPr>
                      </a:pPr>
                      <a:r>
                        <a:t>WINTERMUTE</a:t>
                      </a:r>
                    </a:p>
                  </a:txBody>
                  <a:tcPr marL="109728" marR="109728" marT="73152" marB="73152">
                    <a:solidFill>
                      <a:srgbClr val="F8FAFC"/>
                    </a:solidFill>
                  </a:tcPr>
                </a:tc>
                <a:tc>
                  <a:txBody>
                    <a:bodyPr wrap="square"/>
                    <a:lstStyle/>
                    <a:p>
                      <a:pPr>
                        <a:defRPr sz="1050" b="1">
                          <a:solidFill>
                            <a:srgbClr val="059669"/>
                          </a:solidFill>
                          <a:latin typeface="Arial"/>
                        </a:defRPr>
                      </a:pPr>
                      <a:r>
                        <a:t>daVIRA INTELLIGENCE</a:t>
                      </a:r>
                    </a:p>
                  </a:txBody>
                  <a:tcPr marL="109728" marR="109728" marT="73152" marB="73152">
                    <a:solidFill>
                      <a:srgbClr val="ECFDF5"/>
                    </a:solidFill>
                  </a:tcPr>
                </a:tc>
              </a:tr>
              <a:tr h="571500">
                <a:tc>
                  <a:txBody>
                    <a:bodyPr wrap="square"/>
                    <a:lstStyle/>
                    <a:p>
                      <a:pPr>
                        <a:defRPr sz="1000" b="1">
                          <a:solidFill>
                            <a:srgbClr val="0F172A"/>
                          </a:solidFill>
                          <a:latin typeface="Arial"/>
                        </a:defRPr>
                      </a:pPr>
                      <a:r>
                        <a:t>Data Transparency &amp; Proof</a:t>
                      </a:r>
                    </a:p>
                  </a:txBody>
                  <a:tcPr marL="109728" marR="109728" marT="73152" marB="73152">
                    <a:solidFill>
                      <a:srgbClr val="FFFFFF"/>
                    </a:solidFill>
                  </a:tcPr>
                </a:tc>
                <a:tc>
                  <a:txBody>
                    <a:bodyPr wrap="square"/>
                    <a:lstStyle/>
                    <a:p>
                      <a:pPr>
                        <a:defRPr sz="1000">
                          <a:solidFill>
                            <a:srgbClr val="475569"/>
                          </a:solidFill>
                          <a:latin typeface="Arial"/>
                        </a:defRPr>
                      </a:pPr>
                      <a:r>
                        <a:t>Aggregated black-box vanity scores</a:t>
                      </a:r>
                    </a:p>
                  </a:txBody>
                  <a:tcPr marL="109728" marR="109728" marT="73152" marB="73152">
                    <a:solidFill>
                      <a:srgbClr val="FFFFFF"/>
                    </a:solidFill>
                  </a:tcPr>
                </a:tc>
                <a:tc>
                  <a:txBody>
                    <a:bodyPr wrap="square"/>
                    <a:lstStyle/>
                    <a:p>
                      <a:pPr>
                        <a:defRPr sz="1000">
                          <a:solidFill>
                            <a:srgbClr val="475569"/>
                          </a:solidFill>
                          <a:latin typeface="Arial"/>
                        </a:defRPr>
                      </a:pPr>
                      <a:r>
                        <a:t>Basic raw wallet statistics</a:t>
                      </a:r>
                    </a:p>
                  </a:txBody>
                  <a:tcPr marL="109728" marR="109728" marT="73152" marB="73152">
                    <a:solidFill>
                      <a:srgbClr val="FFFFFF"/>
                    </a:solidFill>
                  </a:tcPr>
                </a:tc>
                <a:tc>
                  <a:txBody>
                    <a:bodyPr wrap="square"/>
                    <a:lstStyle/>
                    <a:p>
                      <a:pPr>
                        <a:defRPr sz="1000">
                          <a:solidFill>
                            <a:srgbClr val="475569"/>
                          </a:solidFill>
                          <a:latin typeface="Arial"/>
                        </a:defRPr>
                      </a:pPr>
                      <a:r>
                        <a:t>Proprietary internal data only</a:t>
                      </a:r>
                    </a:p>
                  </a:txBody>
                  <a:tcPr marL="109728" marR="109728" marT="73152" marB="73152">
                    <a:solidFill>
                      <a:srgbClr val="FFFFFF"/>
                    </a:solidFill>
                  </a:tcPr>
                </a:tc>
                <a:tc>
                  <a:txBody>
                    <a:bodyPr wrap="square"/>
                    <a:lstStyle/>
                    <a:p>
                      <a:pPr>
                        <a:defRPr sz="1000" b="1">
                          <a:solidFill>
                            <a:srgbClr val="059669"/>
                          </a:solidFill>
                          <a:latin typeface="Arial"/>
                        </a:defRPr>
                      </a:pPr>
                      <a:r>
                        <a:t>Full execution proof &amp; attribution</a:t>
                      </a:r>
                    </a:p>
                  </a:txBody>
                  <a:tcPr marL="109728" marR="109728" marT="73152" marB="73152">
                    <a:solidFill>
                      <a:srgbClr val="F0FDF4"/>
                    </a:solidFill>
                  </a:tcPr>
                </a:tc>
              </a:tr>
              <a:tr h="571500">
                <a:tc>
                  <a:txBody>
                    <a:bodyPr wrap="square"/>
                    <a:lstStyle/>
                    <a:p>
                      <a:pPr>
                        <a:defRPr sz="1000" b="1">
                          <a:solidFill>
                            <a:srgbClr val="0F172A"/>
                          </a:solidFill>
                          <a:latin typeface="Arial"/>
                        </a:defRPr>
                      </a:pPr>
                      <a:r>
                        <a:t>4-Way Flow Decomposition</a:t>
                      </a:r>
                    </a:p>
                  </a:txBody>
                  <a:tcPr marL="109728" marR="109728" marT="73152" marB="73152">
                    <a:solidFill>
                      <a:srgbClr val="F8FAFC"/>
                    </a:solidFill>
                  </a:tcPr>
                </a:tc>
                <a:tc>
                  <a:txBody>
                    <a:bodyPr wrap="square"/>
                    <a:lstStyle/>
                    <a:p>
                      <a:pPr>
                        <a:defRPr sz="1000">
                          <a:solidFill>
                            <a:srgbClr val="475569"/>
                          </a:solidFill>
                          <a:latin typeface="Arial"/>
                        </a:defRPr>
                      </a:pPr>
                      <a:r>
                        <a:t>✕ Misidentifies short covering</a:t>
                      </a:r>
                    </a:p>
                  </a:txBody>
                  <a:tcPr marL="109728" marR="109728" marT="73152" marB="73152">
                    <a:solidFill>
                      <a:srgbClr val="F8FAFC"/>
                    </a:solidFill>
                  </a:tcPr>
                </a:tc>
                <a:tc>
                  <a:txBody>
                    <a:bodyPr wrap="square"/>
                    <a:lstStyle/>
                    <a:p>
                      <a:pPr>
                        <a:defRPr sz="1000">
                          <a:solidFill>
                            <a:srgbClr val="475569"/>
                          </a:solidFill>
                          <a:latin typeface="Arial"/>
                        </a:defRPr>
                      </a:pPr>
                      <a:r>
                        <a:t>✕ Unfiltered raw trade fills</a:t>
                      </a:r>
                    </a:p>
                  </a:txBody>
                  <a:tcPr marL="109728" marR="109728" marT="73152" marB="73152">
                    <a:solidFill>
                      <a:srgbClr val="F8FAFC"/>
                    </a:solidFill>
                  </a:tcPr>
                </a:tc>
                <a:tc>
                  <a:txBody>
                    <a:bodyPr wrap="square"/>
                    <a:lstStyle/>
                    <a:p>
                      <a:pPr>
                        <a:defRPr sz="1000">
                          <a:solidFill>
                            <a:srgbClr val="475569"/>
                          </a:solidFill>
                          <a:latin typeface="Arial"/>
                        </a:defRPr>
                      </a:pPr>
                      <a:r>
                        <a:t>N/A (Trading desk only)</a:t>
                      </a:r>
                    </a:p>
                  </a:txBody>
                  <a:tcPr marL="109728" marR="109728" marT="73152" marB="73152">
                    <a:solidFill>
                      <a:srgbClr val="F8FAFC"/>
                    </a:solidFill>
                  </a:tcPr>
                </a:tc>
                <a:tc>
                  <a:txBody>
                    <a:bodyPr wrap="square"/>
                    <a:lstStyle/>
                    <a:p>
                      <a:pPr>
                        <a:defRPr sz="1000" b="1">
                          <a:solidFill>
                            <a:srgbClr val="059669"/>
                          </a:solidFill>
                          <a:latin typeface="Arial"/>
                        </a:defRPr>
                      </a:pPr>
                      <a:r>
                        <a:t>✔ 4-vector entry/exit split</a:t>
                      </a:r>
                    </a:p>
                  </a:txBody>
                  <a:tcPr marL="109728" marR="109728" marT="73152" marB="73152">
                    <a:solidFill>
                      <a:srgbClr val="F0FDF4"/>
                    </a:solidFill>
                  </a:tcPr>
                </a:tc>
              </a:tr>
              <a:tr h="571500">
                <a:tc>
                  <a:txBody>
                    <a:bodyPr wrap="square"/>
                    <a:lstStyle/>
                    <a:p>
                      <a:pPr>
                        <a:defRPr sz="1000" b="1">
                          <a:solidFill>
                            <a:srgbClr val="0F172A"/>
                          </a:solidFill>
                          <a:latin typeface="Arial"/>
                        </a:defRPr>
                      </a:pPr>
                      <a:r>
                        <a:t>Cross-Asset Equities &amp; Gold</a:t>
                      </a:r>
                    </a:p>
                  </a:txBody>
                  <a:tcPr marL="109728" marR="109728" marT="73152" marB="73152">
                    <a:solidFill>
                      <a:srgbClr val="FFFFFF"/>
                    </a:solidFill>
                  </a:tcPr>
                </a:tc>
                <a:tc>
                  <a:txBody>
                    <a:bodyPr wrap="square"/>
                    <a:lstStyle/>
                    <a:p>
                      <a:pPr>
                        <a:defRPr sz="1000">
                          <a:solidFill>
                            <a:srgbClr val="475569"/>
                          </a:solidFill>
                          <a:latin typeface="Arial"/>
                        </a:defRPr>
                      </a:pPr>
                      <a:r>
                        <a:t>✕ Crypto native only</a:t>
                      </a:r>
                    </a:p>
                  </a:txBody>
                  <a:tcPr marL="109728" marR="109728" marT="73152" marB="73152">
                    <a:solidFill>
                      <a:srgbClr val="FFFFFF"/>
                    </a:solidFill>
                  </a:tcPr>
                </a:tc>
                <a:tc>
                  <a:txBody>
                    <a:bodyPr wrap="square"/>
                    <a:lstStyle/>
                    <a:p>
                      <a:pPr>
                        <a:defRPr sz="1000">
                          <a:solidFill>
                            <a:srgbClr val="475569"/>
                          </a:solidFill>
                          <a:latin typeface="Arial"/>
                        </a:defRPr>
                      </a:pPr>
                      <a:r>
                        <a:t>✕ Crypto native only</a:t>
                      </a:r>
                    </a:p>
                  </a:txBody>
                  <a:tcPr marL="109728" marR="109728" marT="73152" marB="73152">
                    <a:solidFill>
                      <a:srgbClr val="FFFFFF"/>
                    </a:solidFill>
                  </a:tcPr>
                </a:tc>
                <a:tc>
                  <a:txBody>
                    <a:bodyPr wrap="square"/>
                    <a:lstStyle/>
                    <a:p>
                      <a:pPr>
                        <a:defRPr sz="1000">
                          <a:solidFill>
                            <a:srgbClr val="059669"/>
                          </a:solidFill>
                          <a:latin typeface="Arial"/>
                        </a:defRPr>
                      </a:pPr>
                      <a:r>
                        <a:t>✔ Multi-asset desk</a:t>
                      </a:r>
                    </a:p>
                  </a:txBody>
                  <a:tcPr marL="109728" marR="109728" marT="73152" marB="73152">
                    <a:solidFill>
                      <a:srgbClr val="FFFFFF"/>
                    </a:solidFill>
                  </a:tcPr>
                </a:tc>
                <a:tc>
                  <a:txBody>
                    <a:bodyPr wrap="square"/>
                    <a:lstStyle/>
                    <a:p>
                      <a:pPr>
                        <a:defRPr sz="1000" b="1">
                          <a:solidFill>
                            <a:srgbClr val="059669"/>
                          </a:solidFill>
                          <a:latin typeface="Arial"/>
                        </a:defRPr>
                      </a:pPr>
                      <a:r>
                        <a:t>✔ Real-time DEX macro view</a:t>
                      </a:r>
                    </a:p>
                  </a:txBody>
                  <a:tcPr marL="109728" marR="109728" marT="73152" marB="73152">
                    <a:solidFill>
                      <a:srgbClr val="F0FDF4"/>
                    </a:solidFill>
                  </a:tcPr>
                </a:tc>
              </a:tr>
              <a:tr h="571500">
                <a:tc>
                  <a:txBody>
                    <a:bodyPr wrap="square"/>
                    <a:lstStyle/>
                    <a:p>
                      <a:pPr>
                        <a:defRPr sz="1000" b="1">
                          <a:solidFill>
                            <a:srgbClr val="0F172A"/>
                          </a:solidFill>
                          <a:latin typeface="Arial"/>
                        </a:defRPr>
                      </a:pPr>
                      <a:r>
                        <a:t>Natural Language LLM Copilot</a:t>
                      </a:r>
                    </a:p>
                  </a:txBody>
                  <a:tcPr marL="109728" marR="109728" marT="73152" marB="73152">
                    <a:solidFill>
                      <a:srgbClr val="F8FAFC"/>
                    </a:solidFill>
                  </a:tcPr>
                </a:tc>
                <a:tc>
                  <a:txBody>
                    <a:bodyPr wrap="square"/>
                    <a:lstStyle/>
                    <a:p>
                      <a:pPr>
                        <a:defRPr sz="1000">
                          <a:solidFill>
                            <a:srgbClr val="475569"/>
                          </a:solidFill>
                          <a:latin typeface="Arial"/>
                        </a:defRPr>
                      </a:pPr>
                      <a:r>
                        <a:t>✕ Basic query filters only</a:t>
                      </a:r>
                    </a:p>
                  </a:txBody>
                  <a:tcPr marL="109728" marR="109728" marT="73152" marB="73152">
                    <a:solidFill>
                      <a:srgbClr val="F8FAFC"/>
                    </a:solidFill>
                  </a:tcPr>
                </a:tc>
                <a:tc>
                  <a:txBody>
                    <a:bodyPr wrap="square"/>
                    <a:lstStyle/>
                    <a:p>
                      <a:pPr>
                        <a:defRPr sz="1000">
                          <a:solidFill>
                            <a:srgbClr val="475569"/>
                          </a:solidFill>
                          <a:latin typeface="Arial"/>
                        </a:defRPr>
                      </a:pPr>
                      <a:r>
                        <a:t>✕ Static UI tables</a:t>
                      </a:r>
                    </a:p>
                  </a:txBody>
                  <a:tcPr marL="109728" marR="109728" marT="73152" marB="73152">
                    <a:solidFill>
                      <a:srgbClr val="F8FAFC"/>
                    </a:solidFill>
                  </a:tcPr>
                </a:tc>
                <a:tc>
                  <a:txBody>
                    <a:bodyPr wrap="square"/>
                    <a:lstStyle/>
                    <a:p>
                      <a:pPr>
                        <a:defRPr sz="1000">
                          <a:solidFill>
                            <a:srgbClr val="475569"/>
                          </a:solidFill>
                          <a:latin typeface="Arial"/>
                        </a:defRPr>
                      </a:pPr>
                      <a:r>
                        <a:t>✕ Internal tools only</a:t>
                      </a:r>
                    </a:p>
                  </a:txBody>
                  <a:tcPr marL="109728" marR="109728" marT="73152" marB="73152">
                    <a:solidFill>
                      <a:srgbClr val="F8FAFC"/>
                    </a:solidFill>
                  </a:tcPr>
                </a:tc>
                <a:tc>
                  <a:txBody>
                    <a:bodyPr wrap="square"/>
                    <a:lstStyle/>
                    <a:p>
                      <a:pPr>
                        <a:defRPr sz="1000" b="1">
                          <a:solidFill>
                            <a:srgbClr val="059669"/>
                          </a:solidFill>
                          <a:latin typeface="Arial"/>
                        </a:defRPr>
                      </a:pPr>
                      <a:r>
                        <a:t>✔ 'Everything just a prompt away'</a:t>
                      </a:r>
                    </a:p>
                  </a:txBody>
                  <a:tcPr marL="109728" marR="109728" marT="73152" marB="73152">
                    <a:solidFill>
                      <a:srgbClr val="F0FDF4"/>
                    </a:solidFill>
                  </a:tcPr>
                </a:tc>
              </a:tr>
              <a:tr h="571500">
                <a:tc>
                  <a:txBody>
                    <a:bodyPr wrap="square"/>
                    <a:lstStyle/>
                    <a:p>
                      <a:pPr>
                        <a:defRPr sz="1000" b="1">
                          <a:solidFill>
                            <a:srgbClr val="0F172A"/>
                          </a:solidFill>
                          <a:latin typeface="Arial"/>
                        </a:defRPr>
                      </a:pPr>
                      <a:r>
                        <a:t>Execution Drag Stress Testing</a:t>
                      </a:r>
                    </a:p>
                  </a:txBody>
                  <a:tcPr marL="109728" marR="109728" marT="73152" marB="73152">
                    <a:solidFill>
                      <a:srgbClr val="FFFFFF"/>
                    </a:solidFill>
                  </a:tcPr>
                </a:tc>
                <a:tc>
                  <a:txBody>
                    <a:bodyPr wrap="square"/>
                    <a:lstStyle/>
                    <a:p>
                      <a:pPr>
                        <a:defRPr sz="1000">
                          <a:solidFill>
                            <a:srgbClr val="475569"/>
                          </a:solidFill>
                          <a:latin typeface="Arial"/>
                        </a:defRPr>
                      </a:pPr>
                      <a:r>
                        <a:t>✕ Assumes 0 fee / 0 slippage</a:t>
                      </a:r>
                    </a:p>
                  </a:txBody>
                  <a:tcPr marL="109728" marR="109728" marT="73152" marB="73152">
                    <a:solidFill>
                      <a:srgbClr val="FFFFFF"/>
                    </a:solidFill>
                  </a:tcPr>
                </a:tc>
                <a:tc>
                  <a:txBody>
                    <a:bodyPr wrap="square"/>
                    <a:lstStyle/>
                    <a:p>
                      <a:pPr>
                        <a:defRPr sz="1000">
                          <a:solidFill>
                            <a:srgbClr val="475569"/>
                          </a:solidFill>
                          <a:latin typeface="Arial"/>
                        </a:defRPr>
                      </a:pPr>
                      <a:r>
                        <a:t>✕ Paper returns only</a:t>
                      </a:r>
                    </a:p>
                  </a:txBody>
                  <a:tcPr marL="109728" marR="109728" marT="73152" marB="73152">
                    <a:solidFill>
                      <a:srgbClr val="FFFFFF"/>
                    </a:solidFill>
                  </a:tcPr>
                </a:tc>
                <a:tc>
                  <a:txBody>
                    <a:bodyPr wrap="square"/>
                    <a:lstStyle/>
                    <a:p>
                      <a:pPr>
                        <a:defRPr sz="1000">
                          <a:solidFill>
                            <a:srgbClr val="475569"/>
                          </a:solidFill>
                          <a:latin typeface="Arial"/>
                        </a:defRPr>
                      </a:pPr>
                      <a:r>
                        <a:t>N/A</a:t>
                      </a:r>
                    </a:p>
                  </a:txBody>
                  <a:tcPr marL="109728" marR="109728" marT="73152" marB="73152">
                    <a:solidFill>
                      <a:srgbClr val="FFFFFF"/>
                    </a:solidFill>
                  </a:tcPr>
                </a:tc>
                <a:tc>
                  <a:txBody>
                    <a:bodyPr wrap="square"/>
                    <a:lstStyle/>
                    <a:p>
                      <a:pPr>
                        <a:defRPr sz="1000" b="1">
                          <a:solidFill>
                            <a:srgbClr val="059669"/>
                          </a:solidFill>
                          <a:latin typeface="Arial"/>
                        </a:defRPr>
                      </a:pPr>
                      <a:r>
                        <a:t>✔ 0–25 bps fee &amp; slippage stress</a:t>
                      </a:r>
                    </a:p>
                  </a:txBody>
                  <a:tcPr marL="109728" marR="109728" marT="73152" marB="73152">
                    <a:solidFill>
                      <a:srgbClr val="F0FDF4"/>
                    </a:solidFill>
                  </a:tcPr>
                </a:tc>
              </a:tr>
              <a:tr h="571500">
                <a:tc>
                  <a:txBody>
                    <a:bodyPr wrap="square"/>
                    <a:lstStyle/>
                    <a:p>
                      <a:pPr>
                        <a:defRPr sz="1000" b="1">
                          <a:solidFill>
                            <a:srgbClr val="0F172A"/>
                          </a:solidFill>
                          <a:latin typeface="Arial"/>
                        </a:defRPr>
                      </a:pPr>
                      <a:r>
                        <a:t>Proprietary Trading Arm</a:t>
                      </a:r>
                    </a:p>
                  </a:txBody>
                  <a:tcPr marL="109728" marR="109728" marT="73152" marB="73152">
                    <a:solidFill>
                      <a:srgbClr val="F8FAFC"/>
                    </a:solidFill>
                  </a:tcPr>
                </a:tc>
                <a:tc>
                  <a:txBody>
                    <a:bodyPr wrap="square"/>
                    <a:lstStyle/>
                    <a:p>
                      <a:pPr>
                        <a:defRPr sz="1000">
                          <a:solidFill>
                            <a:srgbClr val="475569"/>
                          </a:solidFill>
                          <a:latin typeface="Arial"/>
                        </a:defRPr>
                      </a:pPr>
                      <a:r>
                        <a:t>✕ Software vendor only</a:t>
                      </a:r>
                    </a:p>
                  </a:txBody>
                  <a:tcPr marL="109728" marR="109728" marT="73152" marB="73152">
                    <a:solidFill>
                      <a:srgbClr val="F8FAFC"/>
                    </a:solidFill>
                  </a:tcPr>
                </a:tc>
                <a:tc>
                  <a:txBody>
                    <a:bodyPr wrap="square"/>
                    <a:lstStyle/>
                    <a:p>
                      <a:pPr>
                        <a:defRPr sz="1000">
                          <a:solidFill>
                            <a:srgbClr val="475569"/>
                          </a:solidFill>
                          <a:latin typeface="Arial"/>
                        </a:defRPr>
                      </a:pPr>
                      <a:r>
                        <a:t>✕ Pure analytics UI</a:t>
                      </a:r>
                    </a:p>
                  </a:txBody>
                  <a:tcPr marL="109728" marR="109728" marT="73152" marB="73152">
                    <a:solidFill>
                      <a:srgbClr val="F8FAFC"/>
                    </a:solidFill>
                  </a:tcPr>
                </a:tc>
                <a:tc>
                  <a:txBody>
                    <a:bodyPr wrap="square"/>
                    <a:lstStyle/>
                    <a:p>
                      <a:pPr>
                        <a:defRPr sz="1000">
                          <a:solidFill>
                            <a:srgbClr val="059669"/>
                          </a:solidFill>
                          <a:latin typeface="Arial"/>
                        </a:defRPr>
                      </a:pPr>
                      <a:r>
                        <a:t>✔ Tier-1 Global MM desk</a:t>
                      </a:r>
                    </a:p>
                  </a:txBody>
                  <a:tcPr marL="109728" marR="109728" marT="73152" marB="73152">
                    <a:solidFill>
                      <a:srgbClr val="F8FAFC"/>
                    </a:solidFill>
                  </a:tcPr>
                </a:tc>
                <a:tc>
                  <a:txBody>
                    <a:bodyPr wrap="square"/>
                    <a:lstStyle/>
                    <a:p>
                      <a:pPr>
                        <a:defRPr sz="1000" b="1">
                          <a:solidFill>
                            <a:srgbClr val="059669"/>
                          </a:solidFill>
                          <a:latin typeface="Arial"/>
                        </a:defRPr>
                      </a:pPr>
                      <a:r>
                        <a:t>✔ Phase 2 daVIRA Capital Desk</a:t>
                      </a:r>
                    </a:p>
                  </a:txBody>
                  <a:tcPr marL="109728" marR="109728" marT="73152" marB="73152">
                    <a:solidFill>
                      <a:srgbClr val="F0FDF4"/>
                    </a:solidFill>
                  </a:tcPr>
                </a:tc>
              </a:tr>
              <a:tr h="571500">
                <a:tc>
                  <a:txBody>
                    <a:bodyPr wrap="square"/>
                    <a:lstStyle/>
                    <a:p>
                      <a:pPr>
                        <a:defRPr sz="1000" b="1">
                          <a:solidFill>
                            <a:srgbClr val="0F172A"/>
                          </a:solidFill>
                          <a:latin typeface="Arial"/>
                        </a:defRPr>
                      </a:pPr>
                      <a:r>
                        <a:t>Algorithmic Market Making</a:t>
                      </a:r>
                    </a:p>
                  </a:txBody>
                  <a:tcPr marL="109728" marR="109728" marT="73152" marB="73152">
                    <a:solidFill>
                      <a:srgbClr val="FFFFFF"/>
                    </a:solidFill>
                  </a:tcPr>
                </a:tc>
                <a:tc>
                  <a:txBody>
                    <a:bodyPr wrap="square"/>
                    <a:lstStyle/>
                    <a:p>
                      <a:pPr>
                        <a:defRPr sz="1000">
                          <a:solidFill>
                            <a:srgbClr val="475569"/>
                          </a:solidFill>
                          <a:latin typeface="Arial"/>
                        </a:defRPr>
                      </a:pPr>
                      <a:r>
                        <a:t>✕ None</a:t>
                      </a:r>
                    </a:p>
                  </a:txBody>
                  <a:tcPr marL="109728" marR="109728" marT="73152" marB="73152">
                    <a:solidFill>
                      <a:srgbClr val="FFFFFF"/>
                    </a:solidFill>
                  </a:tcPr>
                </a:tc>
                <a:tc>
                  <a:txBody>
                    <a:bodyPr wrap="square"/>
                    <a:lstStyle/>
                    <a:p>
                      <a:pPr>
                        <a:defRPr sz="1000">
                          <a:solidFill>
                            <a:srgbClr val="475569"/>
                          </a:solidFill>
                          <a:latin typeface="Arial"/>
                        </a:defRPr>
                      </a:pPr>
                      <a:r>
                        <a:t>✕ None</a:t>
                      </a:r>
                    </a:p>
                  </a:txBody>
                  <a:tcPr marL="109728" marR="109728" marT="73152" marB="73152">
                    <a:solidFill>
                      <a:srgbClr val="FFFFFF"/>
                    </a:solidFill>
                  </a:tcPr>
                </a:tc>
                <a:tc>
                  <a:txBody>
                    <a:bodyPr wrap="square"/>
                    <a:lstStyle/>
                    <a:p>
                      <a:pPr>
                        <a:defRPr sz="1000">
                          <a:solidFill>
                            <a:srgbClr val="059669"/>
                          </a:solidFill>
                          <a:latin typeface="Arial"/>
                        </a:defRPr>
                      </a:pPr>
                      <a:r>
                        <a:t>✔ Tier-1 Global Market Maker</a:t>
                      </a:r>
                    </a:p>
                  </a:txBody>
                  <a:tcPr marL="109728" marR="109728" marT="73152" marB="73152">
                    <a:solidFill>
                      <a:srgbClr val="FFFFFF"/>
                    </a:solidFill>
                  </a:tcPr>
                </a:tc>
                <a:tc>
                  <a:txBody>
                    <a:bodyPr wrap="square"/>
                    <a:lstStyle/>
                    <a:p>
                      <a:pPr>
                        <a:defRPr sz="1000" b="1">
                          <a:solidFill>
                            <a:srgbClr val="059669"/>
                          </a:solidFill>
                          <a:latin typeface="Arial"/>
                        </a:defRPr>
                      </a:pPr>
                      <a:r>
                        <a:t>✔ Phase 3 'Wintermute of India'</a:t>
                      </a:r>
                    </a:p>
                  </a:txBody>
                  <a:tcPr marL="109728" marR="109728" marT="73152" marB="73152">
                    <a:solidFill>
                      <a:srgbClr val="F0FDF4"/>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14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13 / MONETIZATION</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Diversified Revenue Model Across Three Phases</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35718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3571875" cy="47625"/>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150" y="1857375"/>
            <a:ext cx="3143250" cy="247649"/>
          </a:xfrm>
          <a:prstGeom prst="rect">
            <a:avLst/>
          </a:prstGeom>
          <a:noFill/>
        </p:spPr>
        <p:txBody>
          <a:bodyPr wrap="square" lIns="0" tIns="0" rIns="0" bIns="0">
            <a:spAutoFit/>
          </a:bodyPr>
          <a:lstStyle/>
          <a:p>
            <a:pPr algn="l">
              <a:defRPr sz="1350" b="1">
                <a:solidFill>
                  <a:srgbClr val="0F172A"/>
                </a:solidFill>
                <a:latin typeface="Arial"/>
              </a:defRPr>
            </a:pPr>
            <a:r>
              <a:t>Phase 1: SaaS &amp; Terminal</a:t>
            </a:r>
          </a:p>
        </p:txBody>
      </p:sp>
      <p:sp>
        <p:nvSpPr>
          <p:cNvPr id="12" name="TextBox 11"/>
          <p:cNvSpPr txBox="1"/>
          <p:nvPr/>
        </p:nvSpPr>
        <p:spPr>
          <a:xfrm>
            <a:off x="819150" y="2133600"/>
            <a:ext cx="3143250" cy="209550"/>
          </a:xfrm>
          <a:prstGeom prst="rect">
            <a:avLst/>
          </a:prstGeom>
          <a:noFill/>
        </p:spPr>
        <p:txBody>
          <a:bodyPr wrap="square" lIns="0" tIns="0" rIns="0" bIns="0">
            <a:spAutoFit/>
          </a:bodyPr>
          <a:lstStyle/>
          <a:p>
            <a:pPr algn="l">
              <a:defRPr sz="975" b="1">
                <a:solidFill>
                  <a:srgbClr val="059669"/>
                </a:solidFill>
                <a:latin typeface="Arial"/>
              </a:defRPr>
            </a:pPr>
            <a:r>
              <a:t>High-Margin Recurring Subscriptions</a:t>
            </a:r>
          </a:p>
        </p:txBody>
      </p:sp>
      <p:sp>
        <p:nvSpPr>
          <p:cNvPr id="13" name="TextBox 12"/>
          <p:cNvSpPr txBox="1"/>
          <p:nvPr/>
        </p:nvSpPr>
        <p:spPr>
          <a:xfrm>
            <a:off x="819150" y="2476500"/>
            <a:ext cx="3143250" cy="3571875"/>
          </a:xfrm>
          <a:prstGeom prst="rect">
            <a:avLst/>
          </a:prstGeom>
          <a:noFill/>
        </p:spPr>
        <p:txBody>
          <a:bodyPr wrap="square" lIns="0" tIns="0" rIns="0" bIns="0">
            <a:spAutoFit/>
          </a:bodyPr>
          <a:lstStyle/>
          <a:p>
            <a:pPr>
              <a:spcAft>
                <a:spcPts val="1200"/>
              </a:spcAft>
              <a:defRPr sz="975">
                <a:solidFill>
                  <a:srgbClr val="475569"/>
                </a:solidFill>
                <a:latin typeface="Arial"/>
              </a:defRPr>
            </a:pPr>
            <a:r>
              <a:t>•  Individual Trader Plan: $10/month ($120/year). Live actively deployed tier delivering 4-way flow decomposition, wallet screening, and execution-drag stress tests to independent traders.</a:t>
            </a:r>
          </a:p>
          <a:p>
            <a:pPr>
              <a:spcAft>
                <a:spcPts val="1200"/>
              </a:spcAft>
              <a:defRPr sz="975">
                <a:solidFill>
                  <a:srgbClr val="475569"/>
                </a:solidFill>
                <a:latin typeface="Arial"/>
              </a:defRPr>
            </a:pPr>
            <a:r>
              <a:t>•  Enterprise Prop Desk Tier: $250 – $1,000/month per seat with team watchlists, sub-minute webhook alerts, and full historical CSV exports.</a:t>
            </a:r>
          </a:p>
          <a:p>
            <a:pPr>
              <a:spcAft>
                <a:spcPts val="1200"/>
              </a:spcAft>
              <a:defRPr sz="975">
                <a:solidFill>
                  <a:srgbClr val="475569"/>
                </a:solidFill>
                <a:latin typeface="Arial"/>
              </a:defRPr>
            </a:pPr>
            <a:r>
              <a:t>•  Institutional Quant API: $2,500+/month for algorithmic hedge funds requiring dedicated WebSocket streaming.</a:t>
            </a:r>
          </a:p>
        </p:txBody>
      </p:sp>
      <p:sp>
        <p:nvSpPr>
          <p:cNvPr id="14" name="Rounded Rectangle 13"/>
          <p:cNvSpPr/>
          <p:nvPr/>
        </p:nvSpPr>
        <p:spPr>
          <a:xfrm>
            <a:off x="4371975" y="1666875"/>
            <a:ext cx="35718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71975" y="1666875"/>
            <a:ext cx="3571875" cy="47625"/>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1525" y="1857375"/>
            <a:ext cx="3143250" cy="247649"/>
          </a:xfrm>
          <a:prstGeom prst="rect">
            <a:avLst/>
          </a:prstGeom>
          <a:noFill/>
        </p:spPr>
        <p:txBody>
          <a:bodyPr wrap="square" lIns="0" tIns="0" rIns="0" bIns="0">
            <a:spAutoFit/>
          </a:bodyPr>
          <a:lstStyle/>
          <a:p>
            <a:pPr algn="l">
              <a:defRPr sz="1350" b="1">
                <a:solidFill>
                  <a:srgbClr val="0F172A"/>
                </a:solidFill>
                <a:latin typeface="Arial"/>
              </a:defRPr>
            </a:pPr>
            <a:r>
              <a:t>Phase 2: Proprietary Trading</a:t>
            </a:r>
          </a:p>
        </p:txBody>
      </p:sp>
      <p:sp>
        <p:nvSpPr>
          <p:cNvPr id="17" name="TextBox 16"/>
          <p:cNvSpPr txBox="1"/>
          <p:nvPr/>
        </p:nvSpPr>
        <p:spPr>
          <a:xfrm>
            <a:off x="4581525" y="2133600"/>
            <a:ext cx="3143250" cy="209550"/>
          </a:xfrm>
          <a:prstGeom prst="rect">
            <a:avLst/>
          </a:prstGeom>
          <a:noFill/>
        </p:spPr>
        <p:txBody>
          <a:bodyPr wrap="square" lIns="0" tIns="0" rIns="0" bIns="0">
            <a:spAutoFit/>
          </a:bodyPr>
          <a:lstStyle/>
          <a:p>
            <a:pPr algn="l">
              <a:defRPr sz="975" b="1">
                <a:solidFill>
                  <a:srgbClr val="0284C7"/>
                </a:solidFill>
                <a:latin typeface="Arial"/>
              </a:defRPr>
            </a:pPr>
            <a:r>
              <a:t>High-Capacity Alpha Compounding</a:t>
            </a:r>
          </a:p>
        </p:txBody>
      </p:sp>
      <p:sp>
        <p:nvSpPr>
          <p:cNvPr id="18" name="TextBox 17"/>
          <p:cNvSpPr txBox="1"/>
          <p:nvPr/>
        </p:nvSpPr>
        <p:spPr>
          <a:xfrm>
            <a:off x="4581525" y="2476500"/>
            <a:ext cx="3143250" cy="3571875"/>
          </a:xfrm>
          <a:prstGeom prst="rect">
            <a:avLst/>
          </a:prstGeom>
          <a:noFill/>
        </p:spPr>
        <p:txBody>
          <a:bodyPr wrap="square" lIns="0" tIns="0" rIns="0" bIns="0">
            <a:spAutoFit/>
          </a:bodyPr>
          <a:lstStyle/>
          <a:p>
            <a:pPr>
              <a:spcAft>
                <a:spcPts val="1200"/>
              </a:spcAft>
              <a:defRPr sz="975">
                <a:solidFill>
                  <a:srgbClr val="475569"/>
                </a:solidFill>
                <a:latin typeface="Arial"/>
              </a:defRPr>
            </a:pPr>
            <a:r>
              <a:t>•  Internal Prop Alpha: Deploying firm capital to capture flow-following momentum and liquidity-exhaustion mean reversion (targeting Sharpe &gt; 3.0).</a:t>
            </a:r>
          </a:p>
          <a:p>
            <a:pPr>
              <a:spcAft>
                <a:spcPts val="1200"/>
              </a:spcAft>
              <a:defRPr sz="975">
                <a:solidFill>
                  <a:srgbClr val="475569"/>
                </a:solidFill>
                <a:latin typeface="Arial"/>
              </a:defRPr>
            </a:pPr>
            <a:r>
              <a:t>•  Cross-Venue Basis Arbitrage: Capturing structural funding rate differentials between on-chain perp DEXs and centralized exchanges.</a:t>
            </a:r>
          </a:p>
          <a:p>
            <a:pPr>
              <a:spcAft>
                <a:spcPts val="1200"/>
              </a:spcAft>
              <a:defRPr sz="975">
                <a:solidFill>
                  <a:srgbClr val="475569"/>
                </a:solidFill>
                <a:latin typeface="Arial"/>
              </a:defRPr>
            </a:pPr>
            <a:r>
              <a:t>•  Reinvestment Flywheel: Trading profits directly compound the firm's balance sheet without external LP dilution.</a:t>
            </a:r>
          </a:p>
        </p:txBody>
      </p:sp>
      <p:sp>
        <p:nvSpPr>
          <p:cNvPr id="19" name="Rounded Rectangle 18"/>
          <p:cNvSpPr/>
          <p:nvPr/>
        </p:nvSpPr>
        <p:spPr>
          <a:xfrm>
            <a:off x="8134350" y="1666875"/>
            <a:ext cx="357187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34350" y="1666875"/>
            <a:ext cx="3571875" cy="47625"/>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43900" y="1857375"/>
            <a:ext cx="3143250" cy="247649"/>
          </a:xfrm>
          <a:prstGeom prst="rect">
            <a:avLst/>
          </a:prstGeom>
          <a:noFill/>
        </p:spPr>
        <p:txBody>
          <a:bodyPr wrap="square" lIns="0" tIns="0" rIns="0" bIns="0">
            <a:spAutoFit/>
          </a:bodyPr>
          <a:lstStyle/>
          <a:p>
            <a:pPr algn="l">
              <a:defRPr sz="1350" b="1">
                <a:solidFill>
                  <a:srgbClr val="0F172A"/>
                </a:solidFill>
                <a:latin typeface="Arial"/>
              </a:defRPr>
            </a:pPr>
            <a:r>
              <a:t>Phase 3: Market Making</a:t>
            </a:r>
          </a:p>
        </p:txBody>
      </p:sp>
      <p:sp>
        <p:nvSpPr>
          <p:cNvPr id="22" name="TextBox 21"/>
          <p:cNvSpPr txBox="1"/>
          <p:nvPr/>
        </p:nvSpPr>
        <p:spPr>
          <a:xfrm>
            <a:off x="8343900" y="2133600"/>
            <a:ext cx="3143250" cy="209550"/>
          </a:xfrm>
          <a:prstGeom prst="rect">
            <a:avLst/>
          </a:prstGeom>
          <a:noFill/>
        </p:spPr>
        <p:txBody>
          <a:bodyPr wrap="square" lIns="0" tIns="0" rIns="0" bIns="0">
            <a:spAutoFit/>
          </a:bodyPr>
          <a:lstStyle/>
          <a:p>
            <a:pPr algn="l">
              <a:defRPr sz="975" b="1">
                <a:solidFill>
                  <a:srgbClr val="7C3AED"/>
                </a:solidFill>
                <a:latin typeface="Arial"/>
              </a:defRPr>
            </a:pPr>
            <a:r>
              <a:t>Volume &amp; Spread Monetization</a:t>
            </a:r>
          </a:p>
        </p:txBody>
      </p:sp>
      <p:sp>
        <p:nvSpPr>
          <p:cNvPr id="23" name="TextBox 22"/>
          <p:cNvSpPr txBox="1"/>
          <p:nvPr/>
        </p:nvSpPr>
        <p:spPr>
          <a:xfrm>
            <a:off x="8343900" y="2476500"/>
            <a:ext cx="3143250" cy="3571875"/>
          </a:xfrm>
          <a:prstGeom prst="rect">
            <a:avLst/>
          </a:prstGeom>
          <a:noFill/>
        </p:spPr>
        <p:txBody>
          <a:bodyPr wrap="square" lIns="0" tIns="0" rIns="0" bIns="0">
            <a:spAutoFit/>
          </a:bodyPr>
          <a:lstStyle/>
          <a:p>
            <a:pPr>
              <a:spcAft>
                <a:spcPts val="1200"/>
              </a:spcAft>
              <a:defRPr sz="975">
                <a:solidFill>
                  <a:srgbClr val="475569"/>
                </a:solidFill>
                <a:latin typeface="Arial"/>
              </a:defRPr>
            </a:pPr>
            <a:r>
              <a:t>•  Bid-Ask Spread Capture: Capturing 2 to 8 basis points on hundreds of millions in daily automated quoting volume across major DEXs.</a:t>
            </a:r>
          </a:p>
          <a:p>
            <a:pPr>
              <a:spcAft>
                <a:spcPts val="1200"/>
              </a:spcAft>
              <a:defRPr sz="975">
                <a:solidFill>
                  <a:srgbClr val="475569"/>
                </a:solidFill>
                <a:latin typeface="Arial"/>
              </a:defRPr>
            </a:pPr>
            <a:r>
              <a:t>•  Token Foundation Retainers: Recurring liquidity retainers ($15k–$40k/month per token) for guaranteed order book depth and tight spreads.</a:t>
            </a:r>
          </a:p>
          <a:p>
            <a:pPr>
              <a:spcAft>
                <a:spcPts val="1200"/>
              </a:spcAft>
              <a:defRPr sz="975">
                <a:solidFill>
                  <a:srgbClr val="475569"/>
                </a:solidFill>
                <a:latin typeface="Arial"/>
              </a:defRPr>
            </a:pPr>
            <a:r>
              <a:t>•  Cross-DEX Arbitrage: Capturing structural price mispricings between Hyperliquid, Solana CLOBs, and CEX order books.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15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14 / TECHNOLOGY STACK</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High-Throughput, Low-Latency Quantitative Architecture</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5334000" cy="2190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5334000" cy="38100"/>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150" y="1838324"/>
            <a:ext cx="4857750" cy="247649"/>
          </a:xfrm>
          <a:prstGeom prst="rect">
            <a:avLst/>
          </a:prstGeom>
          <a:noFill/>
        </p:spPr>
        <p:txBody>
          <a:bodyPr wrap="square" lIns="0" tIns="0" rIns="0" bIns="0">
            <a:spAutoFit/>
          </a:bodyPr>
          <a:lstStyle/>
          <a:p>
            <a:pPr algn="l">
              <a:defRPr sz="1275" b="1">
                <a:solidFill>
                  <a:srgbClr val="0F172A"/>
                </a:solidFill>
                <a:latin typeface="Arial"/>
              </a:defRPr>
            </a:pPr>
            <a:r>
              <a:t>01 / High-Throughput Ingestion</a:t>
            </a:r>
          </a:p>
        </p:txBody>
      </p:sp>
      <p:sp>
        <p:nvSpPr>
          <p:cNvPr id="12" name="TextBox 11"/>
          <p:cNvSpPr txBox="1"/>
          <p:nvPr/>
        </p:nvSpPr>
        <p:spPr>
          <a:xfrm>
            <a:off x="819150" y="2105025"/>
            <a:ext cx="4857750" cy="190500"/>
          </a:xfrm>
          <a:prstGeom prst="rect">
            <a:avLst/>
          </a:prstGeom>
          <a:noFill/>
        </p:spPr>
        <p:txBody>
          <a:bodyPr wrap="square" lIns="0" tIns="0" rIns="0" bIns="0">
            <a:spAutoFit/>
          </a:bodyPr>
          <a:lstStyle/>
          <a:p>
            <a:pPr algn="l">
              <a:defRPr sz="975" b="1">
                <a:solidFill>
                  <a:srgbClr val="0284C7"/>
                </a:solidFill>
                <a:latin typeface="Arial"/>
              </a:defRPr>
            </a:pPr>
            <a:r>
              <a:t>Direct Validator &amp; WebSocket Stream Rails</a:t>
            </a:r>
          </a:p>
        </p:txBody>
      </p:sp>
      <p:sp>
        <p:nvSpPr>
          <p:cNvPr id="13" name="TextBox 12"/>
          <p:cNvSpPr txBox="1"/>
          <p:nvPr/>
        </p:nvSpPr>
        <p:spPr>
          <a:xfrm>
            <a:off x="819150" y="2371725"/>
            <a:ext cx="4857750" cy="1381125"/>
          </a:xfrm>
          <a:prstGeom prst="rect">
            <a:avLst/>
          </a:prstGeom>
          <a:noFill/>
        </p:spPr>
        <p:txBody>
          <a:bodyPr wrap="square" lIns="0" tIns="0" rIns="0" bIns="0">
            <a:spAutoFit/>
          </a:bodyPr>
          <a:lstStyle/>
          <a:p>
            <a:pPr>
              <a:spcAft>
                <a:spcPts val="600"/>
              </a:spcAft>
              <a:defRPr sz="937">
                <a:solidFill>
                  <a:srgbClr val="475569"/>
                </a:solidFill>
                <a:latin typeface="Arial"/>
              </a:defRPr>
            </a:pPr>
            <a:r>
              <a:t>✔  Sub-second event stream ingestion from Hyperliquid L1, Solana Geyser, and EVM RPCs.</a:t>
            </a:r>
          </a:p>
          <a:p>
            <a:pPr>
              <a:spcAft>
                <a:spcPts val="600"/>
              </a:spcAft>
              <a:defRPr sz="937">
                <a:solidFill>
                  <a:srgbClr val="475569"/>
                </a:solidFill>
                <a:latin typeface="Arial"/>
              </a:defRPr>
            </a:pPr>
            <a:r>
              <a:t>✔  Deterministic trade deduplication by (block_height, coin, trade_id) with microsecond timestamping.</a:t>
            </a:r>
          </a:p>
          <a:p>
            <a:pPr>
              <a:spcAft>
                <a:spcPts val="600"/>
              </a:spcAft>
              <a:defRPr sz="937">
                <a:solidFill>
                  <a:srgbClr val="475569"/>
                </a:solidFill>
                <a:latin typeface="Arial"/>
              </a:defRPr>
            </a:pPr>
            <a:r>
              <a:t>✔  Continuous memory-mapped buffer handling 100,000+ trade events per second without backpressure.</a:t>
            </a:r>
          </a:p>
        </p:txBody>
      </p:sp>
      <p:sp>
        <p:nvSpPr>
          <p:cNvPr id="14" name="Rounded Rectangle 13"/>
          <p:cNvSpPr/>
          <p:nvPr/>
        </p:nvSpPr>
        <p:spPr>
          <a:xfrm>
            <a:off x="6229350" y="1666875"/>
            <a:ext cx="5334000" cy="2190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29350" y="1666875"/>
            <a:ext cx="5334000" cy="38100"/>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8900" y="1838324"/>
            <a:ext cx="4857750" cy="247649"/>
          </a:xfrm>
          <a:prstGeom prst="rect">
            <a:avLst/>
          </a:prstGeom>
          <a:noFill/>
        </p:spPr>
        <p:txBody>
          <a:bodyPr wrap="square" lIns="0" tIns="0" rIns="0" bIns="0">
            <a:spAutoFit/>
          </a:bodyPr>
          <a:lstStyle/>
          <a:p>
            <a:pPr algn="l">
              <a:defRPr sz="1275" b="1">
                <a:solidFill>
                  <a:srgbClr val="0F172A"/>
                </a:solidFill>
                <a:latin typeface="Arial"/>
              </a:defRPr>
            </a:pPr>
            <a:r>
              <a:t>02 / Processing &amp; Analytics Engine</a:t>
            </a:r>
          </a:p>
        </p:txBody>
      </p:sp>
      <p:sp>
        <p:nvSpPr>
          <p:cNvPr id="17" name="TextBox 16"/>
          <p:cNvSpPr txBox="1"/>
          <p:nvPr/>
        </p:nvSpPr>
        <p:spPr>
          <a:xfrm>
            <a:off x="6438900" y="2105025"/>
            <a:ext cx="4857750" cy="190500"/>
          </a:xfrm>
          <a:prstGeom prst="rect">
            <a:avLst/>
          </a:prstGeom>
          <a:noFill/>
        </p:spPr>
        <p:txBody>
          <a:bodyPr wrap="square" lIns="0" tIns="0" rIns="0" bIns="0">
            <a:spAutoFit/>
          </a:bodyPr>
          <a:lstStyle/>
          <a:p>
            <a:pPr algn="l">
              <a:defRPr sz="975" b="1">
                <a:solidFill>
                  <a:srgbClr val="059669"/>
                </a:solidFill>
                <a:latin typeface="Arial"/>
              </a:defRPr>
            </a:pPr>
            <a:r>
              <a:t>Deterministic Mathematical Core</a:t>
            </a:r>
          </a:p>
        </p:txBody>
      </p:sp>
      <p:sp>
        <p:nvSpPr>
          <p:cNvPr id="18" name="TextBox 17"/>
          <p:cNvSpPr txBox="1"/>
          <p:nvPr/>
        </p:nvSpPr>
        <p:spPr>
          <a:xfrm>
            <a:off x="6438900" y="2371725"/>
            <a:ext cx="4857750" cy="1381125"/>
          </a:xfrm>
          <a:prstGeom prst="rect">
            <a:avLst/>
          </a:prstGeom>
          <a:noFill/>
        </p:spPr>
        <p:txBody>
          <a:bodyPr wrap="square" lIns="0" tIns="0" rIns="0" bIns="0">
            <a:spAutoFit/>
          </a:bodyPr>
          <a:lstStyle/>
          <a:p>
            <a:pPr>
              <a:spcAft>
                <a:spcPts val="600"/>
              </a:spcAft>
              <a:defRPr sz="937">
                <a:solidFill>
                  <a:srgbClr val="475569"/>
                </a:solidFill>
                <a:latin typeface="Arial"/>
              </a:defRPr>
            </a:pPr>
            <a:r>
              <a:t>✔  Node.js 24 + SQLite WAL mode analytical engine with Decimal.js zero-floating-point precision.</a:t>
            </a:r>
          </a:p>
          <a:p>
            <a:pPr>
              <a:spcAft>
                <a:spcPts val="600"/>
              </a:spcAft>
              <a:defRPr sz="937">
                <a:solidFill>
                  <a:srgbClr val="475569"/>
                </a:solidFill>
                <a:latin typeface="Arial"/>
              </a:defRPr>
            </a:pPr>
            <a:r>
              <a:t>✔  Flat-to-flat episode reconstruction across 2,000+ historical fills per wallet.</a:t>
            </a:r>
          </a:p>
          <a:p>
            <a:pPr>
              <a:spcAft>
                <a:spcPts val="600"/>
              </a:spcAft>
              <a:defRPr sz="937">
                <a:solidFill>
                  <a:srgbClr val="475569"/>
                </a:solidFill>
                <a:latin typeface="Arial"/>
              </a:defRPr>
            </a:pPr>
            <a:r>
              <a:t>✔  Continuous real-time calculation of Profit Factor, Max Drawdown, and Agreement Index.</a:t>
            </a:r>
          </a:p>
        </p:txBody>
      </p:sp>
      <p:sp>
        <p:nvSpPr>
          <p:cNvPr id="19" name="Rounded Rectangle 18"/>
          <p:cNvSpPr/>
          <p:nvPr/>
        </p:nvSpPr>
        <p:spPr>
          <a:xfrm>
            <a:off x="609600" y="4000500"/>
            <a:ext cx="5334000" cy="2190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09600" y="4000500"/>
            <a:ext cx="5334000" cy="38100"/>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150" y="4171950"/>
            <a:ext cx="4857750" cy="247649"/>
          </a:xfrm>
          <a:prstGeom prst="rect">
            <a:avLst/>
          </a:prstGeom>
          <a:noFill/>
        </p:spPr>
        <p:txBody>
          <a:bodyPr wrap="square" lIns="0" tIns="0" rIns="0" bIns="0">
            <a:spAutoFit/>
          </a:bodyPr>
          <a:lstStyle/>
          <a:p>
            <a:pPr algn="l">
              <a:defRPr sz="1275" b="1">
                <a:solidFill>
                  <a:srgbClr val="0F172A"/>
                </a:solidFill>
                <a:latin typeface="Arial"/>
              </a:defRPr>
            </a:pPr>
            <a:r>
              <a:t>03 / LLM Intelligence &amp; Semantic Agent</a:t>
            </a:r>
          </a:p>
        </p:txBody>
      </p:sp>
      <p:sp>
        <p:nvSpPr>
          <p:cNvPr id="22" name="TextBox 21"/>
          <p:cNvSpPr txBox="1"/>
          <p:nvPr/>
        </p:nvSpPr>
        <p:spPr>
          <a:xfrm>
            <a:off x="819150" y="4438650"/>
            <a:ext cx="4857750" cy="190500"/>
          </a:xfrm>
          <a:prstGeom prst="rect">
            <a:avLst/>
          </a:prstGeom>
          <a:noFill/>
        </p:spPr>
        <p:txBody>
          <a:bodyPr wrap="square" lIns="0" tIns="0" rIns="0" bIns="0">
            <a:spAutoFit/>
          </a:bodyPr>
          <a:lstStyle/>
          <a:p>
            <a:pPr algn="l">
              <a:defRPr sz="975" b="1">
                <a:solidFill>
                  <a:srgbClr val="7C3AED"/>
                </a:solidFill>
                <a:latin typeface="Arial"/>
              </a:defRPr>
            </a:pPr>
            <a:r>
              <a:t>Conversational Alpha Gateway</a:t>
            </a:r>
          </a:p>
        </p:txBody>
      </p:sp>
      <p:sp>
        <p:nvSpPr>
          <p:cNvPr id="23" name="TextBox 22"/>
          <p:cNvSpPr txBox="1"/>
          <p:nvPr/>
        </p:nvSpPr>
        <p:spPr>
          <a:xfrm>
            <a:off x="819150" y="4705350"/>
            <a:ext cx="4857750" cy="1381125"/>
          </a:xfrm>
          <a:prstGeom prst="rect">
            <a:avLst/>
          </a:prstGeom>
          <a:noFill/>
        </p:spPr>
        <p:txBody>
          <a:bodyPr wrap="square" lIns="0" tIns="0" rIns="0" bIns="0">
            <a:spAutoFit/>
          </a:bodyPr>
          <a:lstStyle/>
          <a:p>
            <a:pPr>
              <a:spcAft>
                <a:spcPts val="600"/>
              </a:spcAft>
              <a:defRPr sz="937">
                <a:solidFill>
                  <a:srgbClr val="475569"/>
                </a:solidFill>
                <a:latin typeface="Arial"/>
              </a:defRPr>
            </a:pPr>
            <a:r>
              <a:t>✔  Semantic router converting natural language queries into schema-optimized SQL queries.</a:t>
            </a:r>
          </a:p>
          <a:p>
            <a:pPr>
              <a:spcAft>
                <a:spcPts val="600"/>
              </a:spcAft>
              <a:defRPr sz="937">
                <a:solidFill>
                  <a:srgbClr val="475569"/>
                </a:solidFill>
                <a:latin typeface="Arial"/>
              </a:defRPr>
            </a:pPr>
            <a:r>
              <a:t>✔  Zero-shot automated market narrative generation and risk stress testing.</a:t>
            </a:r>
          </a:p>
          <a:p>
            <a:pPr>
              <a:spcAft>
                <a:spcPts val="600"/>
              </a:spcAft>
              <a:defRPr sz="937">
                <a:solidFill>
                  <a:srgbClr val="475569"/>
                </a:solidFill>
                <a:latin typeface="Arial"/>
              </a:defRPr>
            </a:pPr>
            <a:r>
              <a:t>✔  Direct webhook push notifications to Telegram, Discord, and internal proprietary OMS.</a:t>
            </a:r>
          </a:p>
        </p:txBody>
      </p:sp>
      <p:sp>
        <p:nvSpPr>
          <p:cNvPr id="24" name="Rounded Rectangle 23"/>
          <p:cNvSpPr/>
          <p:nvPr/>
        </p:nvSpPr>
        <p:spPr>
          <a:xfrm>
            <a:off x="6229350" y="4000500"/>
            <a:ext cx="5334000" cy="219075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29350" y="4000500"/>
            <a:ext cx="5334000" cy="38100"/>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900" y="4171950"/>
            <a:ext cx="4857750" cy="247649"/>
          </a:xfrm>
          <a:prstGeom prst="rect">
            <a:avLst/>
          </a:prstGeom>
          <a:noFill/>
        </p:spPr>
        <p:txBody>
          <a:bodyPr wrap="square" lIns="0" tIns="0" rIns="0" bIns="0">
            <a:spAutoFit/>
          </a:bodyPr>
          <a:lstStyle/>
          <a:p>
            <a:pPr algn="l">
              <a:defRPr sz="1275" b="1">
                <a:solidFill>
                  <a:srgbClr val="0F172A"/>
                </a:solidFill>
                <a:latin typeface="Arial"/>
              </a:defRPr>
            </a:pPr>
            <a:r>
              <a:t>04 / Proprietary Execution &amp; Alpha Core</a:t>
            </a:r>
          </a:p>
        </p:txBody>
      </p:sp>
      <p:sp>
        <p:nvSpPr>
          <p:cNvPr id="27" name="TextBox 26"/>
          <p:cNvSpPr txBox="1"/>
          <p:nvPr/>
        </p:nvSpPr>
        <p:spPr>
          <a:xfrm>
            <a:off x="6438900" y="4438650"/>
            <a:ext cx="4857750" cy="190500"/>
          </a:xfrm>
          <a:prstGeom prst="rect">
            <a:avLst/>
          </a:prstGeom>
          <a:noFill/>
        </p:spPr>
        <p:txBody>
          <a:bodyPr wrap="square" lIns="0" tIns="0" rIns="0" bIns="0">
            <a:spAutoFit/>
          </a:bodyPr>
          <a:lstStyle/>
          <a:p>
            <a:pPr algn="l">
              <a:defRPr sz="975" b="1">
                <a:solidFill>
                  <a:srgbClr val="D97706"/>
                </a:solidFill>
                <a:latin typeface="Arial"/>
              </a:defRPr>
            </a:pPr>
            <a:r>
              <a:t>Institutional Order Routing &amp; Safety</a:t>
            </a:r>
          </a:p>
        </p:txBody>
      </p:sp>
      <p:sp>
        <p:nvSpPr>
          <p:cNvPr id="28" name="TextBox 27"/>
          <p:cNvSpPr txBox="1"/>
          <p:nvPr/>
        </p:nvSpPr>
        <p:spPr>
          <a:xfrm>
            <a:off x="6438900" y="4705350"/>
            <a:ext cx="4857750" cy="1381125"/>
          </a:xfrm>
          <a:prstGeom prst="rect">
            <a:avLst/>
          </a:prstGeom>
          <a:noFill/>
        </p:spPr>
        <p:txBody>
          <a:bodyPr wrap="square" lIns="0" tIns="0" rIns="0" bIns="0">
            <a:spAutoFit/>
          </a:bodyPr>
          <a:lstStyle/>
          <a:p>
            <a:pPr>
              <a:spcAft>
                <a:spcPts val="600"/>
              </a:spcAft>
              <a:defRPr sz="937">
                <a:solidFill>
                  <a:srgbClr val="475569"/>
                </a:solidFill>
                <a:latin typeface="Arial"/>
              </a:defRPr>
            </a:pPr>
            <a:r>
              <a:t>✔  Low-latency execution rails with sub-5ms order routing to decentralized venues.</a:t>
            </a:r>
          </a:p>
          <a:p>
            <a:pPr>
              <a:spcAft>
                <a:spcPts val="600"/>
              </a:spcAft>
              <a:defRPr sz="937">
                <a:solidFill>
                  <a:srgbClr val="475569"/>
                </a:solidFill>
                <a:latin typeface="Arial"/>
              </a:defRPr>
            </a:pPr>
            <a:r>
              <a:t>✔  Automated slippage, fee, and leverage guardrails protecting against liquidation cascades.</a:t>
            </a:r>
          </a:p>
          <a:p>
            <a:pPr>
              <a:spcAft>
                <a:spcPts val="600"/>
              </a:spcAft>
              <a:defRPr sz="937">
                <a:solidFill>
                  <a:srgbClr val="475569"/>
                </a:solidFill>
                <a:latin typeface="Arial"/>
              </a:defRPr>
            </a:pPr>
            <a:r>
              <a:t>✔  Real-time wallet continuity tracking and synthetic sybil cluster detection.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16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15 / LEADERSHIP</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Founder: Vivek Gautam — Deep Quantitative &amp; Crypto Pedigree</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53340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5334000" cy="47625"/>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1857375"/>
            <a:ext cx="4857750" cy="266700"/>
          </a:xfrm>
          <a:prstGeom prst="rect">
            <a:avLst/>
          </a:prstGeom>
          <a:noFill/>
        </p:spPr>
        <p:txBody>
          <a:bodyPr wrap="square" lIns="0" tIns="0" rIns="0" bIns="0">
            <a:spAutoFit/>
          </a:bodyPr>
          <a:lstStyle/>
          <a:p>
            <a:pPr algn="l">
              <a:defRPr sz="1500" b="1">
                <a:solidFill>
                  <a:srgbClr val="0F172A"/>
                </a:solidFill>
                <a:latin typeface="Arial"/>
              </a:defRPr>
            </a:pPr>
            <a:r>
              <a:t>Vivek Gautam</a:t>
            </a:r>
          </a:p>
        </p:txBody>
      </p:sp>
      <p:sp>
        <p:nvSpPr>
          <p:cNvPr id="12" name="TextBox 11"/>
          <p:cNvSpPr txBox="1"/>
          <p:nvPr/>
        </p:nvSpPr>
        <p:spPr>
          <a:xfrm>
            <a:off x="838200" y="2152650"/>
            <a:ext cx="4857750" cy="209550"/>
          </a:xfrm>
          <a:prstGeom prst="rect">
            <a:avLst/>
          </a:prstGeom>
          <a:noFill/>
        </p:spPr>
        <p:txBody>
          <a:bodyPr wrap="square" lIns="0" tIns="0" rIns="0" bIns="0">
            <a:spAutoFit/>
          </a:bodyPr>
          <a:lstStyle/>
          <a:p>
            <a:pPr algn="l">
              <a:defRPr sz="975" b="1">
                <a:solidFill>
                  <a:srgbClr val="0284C7"/>
                </a:solidFill>
                <a:latin typeface="Arial"/>
              </a:defRPr>
            </a:pPr>
            <a:r>
              <a:t>Founder &amp; Lead Quantitative Architect</a:t>
            </a:r>
          </a:p>
        </p:txBody>
      </p:sp>
      <p:sp>
        <p:nvSpPr>
          <p:cNvPr id="13" name="TextBox 12"/>
          <p:cNvSpPr txBox="1"/>
          <p:nvPr/>
        </p:nvSpPr>
        <p:spPr>
          <a:xfrm>
            <a:off x="838200" y="2524125"/>
            <a:ext cx="4857750" cy="3524250"/>
          </a:xfrm>
          <a:prstGeom prst="rect">
            <a:avLst/>
          </a:prstGeom>
          <a:noFill/>
        </p:spPr>
        <p:txBody>
          <a:bodyPr wrap="square" lIns="0" tIns="0" rIns="0" bIns="0">
            <a:spAutoFit/>
          </a:bodyPr>
          <a:lstStyle/>
          <a:p>
            <a:pPr>
              <a:spcAft>
                <a:spcPts val="1400"/>
              </a:spcAft>
              <a:defRPr sz="975">
                <a:solidFill>
                  <a:srgbClr val="475569"/>
                </a:solidFill>
                <a:latin typeface="Arial"/>
              </a:defRPr>
            </a:pPr>
            <a:r>
              <a:t>•  Ex-GoQuant: Worked at the forefront of institutional crypto market data, normalized order routing, and low-latency infrastructure connecting institutions to crypto venues.</a:t>
            </a:r>
          </a:p>
          <a:p>
            <a:pPr>
              <a:spcAft>
                <a:spcPts val="1400"/>
              </a:spcAft>
              <a:defRPr sz="975">
                <a:solidFill>
                  <a:srgbClr val="475569"/>
                </a:solidFill>
                <a:latin typeface="Arial"/>
              </a:defRPr>
            </a:pPr>
            <a:r>
              <a:t>•  QuantInsti: Formally trained in algorithmic and quantitative finance, financial engineering, econometric modeling, and high-frequency trading systems.</a:t>
            </a:r>
          </a:p>
          <a:p>
            <a:pPr>
              <a:spcAft>
                <a:spcPts val="1400"/>
              </a:spcAft>
              <a:defRPr sz="975">
                <a:solidFill>
                  <a:srgbClr val="475569"/>
                </a:solidFill>
                <a:latin typeface="Arial"/>
              </a:defRPr>
            </a:pPr>
            <a:r>
              <a:t>•  Quantitative Analyst at Leading Crypto Firm: Currently actively analyzing crypto market microstructure, derivative flows, on-chain dynamics, and trading inefficiencies.</a:t>
            </a:r>
          </a:p>
          <a:p>
            <a:pPr>
              <a:spcAft>
                <a:spcPts val="1400"/>
              </a:spcAft>
              <a:defRPr sz="975">
                <a:solidFill>
                  <a:srgbClr val="475569"/>
                </a:solidFill>
                <a:latin typeface="Arial"/>
              </a:defRPr>
            </a:pPr>
            <a:r>
              <a:t>•  Hands-On Full-Stack Systems Builder: Personally architected and engineered the entire daVIRA terminal, WebSocket stream listeners, and quantitative screener algorithms from scratch.</a:t>
            </a:r>
          </a:p>
        </p:txBody>
      </p:sp>
      <p:sp>
        <p:nvSpPr>
          <p:cNvPr id="14" name="Rounded Rectangle 13"/>
          <p:cNvSpPr/>
          <p:nvPr/>
        </p:nvSpPr>
        <p:spPr>
          <a:xfrm>
            <a:off x="6229350" y="1666875"/>
            <a:ext cx="53340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29350" y="1666875"/>
            <a:ext cx="5334000" cy="47625"/>
          </a:xfrm>
          <a:prstGeom prst="roundRect">
            <a:avLst/>
          </a:prstGeom>
          <a:solidFill>
            <a:srgbClr val="059669"/>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7950" y="1857375"/>
            <a:ext cx="4857750" cy="266700"/>
          </a:xfrm>
          <a:prstGeom prst="rect">
            <a:avLst/>
          </a:prstGeom>
          <a:noFill/>
        </p:spPr>
        <p:txBody>
          <a:bodyPr wrap="square" lIns="0" tIns="0" rIns="0" bIns="0">
            <a:spAutoFit/>
          </a:bodyPr>
          <a:lstStyle/>
          <a:p>
            <a:pPr algn="l">
              <a:defRPr sz="1500" b="1">
                <a:solidFill>
                  <a:srgbClr val="0F172A"/>
                </a:solidFill>
                <a:latin typeface="Arial"/>
              </a:defRPr>
            </a:pPr>
            <a:r>
              <a:t>Why This Team Wins</a:t>
            </a:r>
          </a:p>
        </p:txBody>
      </p:sp>
      <p:sp>
        <p:nvSpPr>
          <p:cNvPr id="17" name="TextBox 16"/>
          <p:cNvSpPr txBox="1"/>
          <p:nvPr/>
        </p:nvSpPr>
        <p:spPr>
          <a:xfrm>
            <a:off x="6457950" y="2152650"/>
            <a:ext cx="4857750" cy="209550"/>
          </a:xfrm>
          <a:prstGeom prst="rect">
            <a:avLst/>
          </a:prstGeom>
          <a:noFill/>
        </p:spPr>
        <p:txBody>
          <a:bodyPr wrap="square" lIns="0" tIns="0" rIns="0" bIns="0">
            <a:spAutoFit/>
          </a:bodyPr>
          <a:lstStyle/>
          <a:p>
            <a:pPr algn="l">
              <a:defRPr sz="975" b="1">
                <a:solidFill>
                  <a:srgbClr val="059669"/>
                </a:solidFill>
                <a:latin typeface="Arial"/>
              </a:defRPr>
            </a:pPr>
            <a:r>
              <a:t>The Perfect Convergence of Market Knowledge &amp; Engineering Execution</a:t>
            </a:r>
          </a:p>
        </p:txBody>
      </p:sp>
      <p:sp>
        <p:nvSpPr>
          <p:cNvPr id="18" name="TextBox 17"/>
          <p:cNvSpPr txBox="1"/>
          <p:nvPr/>
        </p:nvSpPr>
        <p:spPr>
          <a:xfrm>
            <a:off x="6457950" y="2524125"/>
            <a:ext cx="4857750" cy="3524250"/>
          </a:xfrm>
          <a:prstGeom prst="rect">
            <a:avLst/>
          </a:prstGeom>
          <a:noFill/>
        </p:spPr>
        <p:txBody>
          <a:bodyPr wrap="square" lIns="0" tIns="0" rIns="0" bIns="0">
            <a:spAutoFit/>
          </a:bodyPr>
          <a:lstStyle/>
          <a:p>
            <a:pPr>
              <a:spcAft>
                <a:spcPts val="1400"/>
              </a:spcAft>
              <a:defRPr sz="975">
                <a:solidFill>
                  <a:srgbClr val="475569"/>
                </a:solidFill>
                <a:latin typeface="Arial"/>
              </a:defRPr>
            </a:pPr>
            <a:r>
              <a:t>•  Domain Depth Over Hype: Deep mathematical understanding of crypto market microstructure, perpetual swaps, funding rate mechanics, and order book dynamics.</a:t>
            </a:r>
          </a:p>
          <a:p>
            <a:pPr>
              <a:spcAft>
                <a:spcPts val="1400"/>
              </a:spcAft>
              <a:defRPr sz="975">
                <a:solidFill>
                  <a:srgbClr val="475569"/>
                </a:solidFill>
                <a:latin typeface="Arial"/>
              </a:defRPr>
            </a:pPr>
            <a:r>
              <a:t>•  Already Built, Not a Slide Dream: Unlike typical pitch decks asking for capital to write the first line of code, daVIRA has an operational V1 terminal indexing thousands of wallets right now.</a:t>
            </a:r>
          </a:p>
          <a:p>
            <a:pPr>
              <a:spcAft>
                <a:spcPts val="1400"/>
              </a:spcAft>
              <a:defRPr sz="975">
                <a:solidFill>
                  <a:srgbClr val="475569"/>
                </a:solidFill>
                <a:latin typeface="Arial"/>
              </a:defRPr>
            </a:pPr>
            <a:r>
              <a:t>•  The India Engineering Advantage: Access to premier IIT/NIT quantitative, mathematical, and systems engineering talent at a 75% cost advantage over Western competitors.</a:t>
            </a:r>
          </a:p>
          <a:p>
            <a:pPr>
              <a:spcAft>
                <a:spcPts val="1400"/>
              </a:spcAft>
              <a:defRPr sz="975">
                <a:solidFill>
                  <a:srgbClr val="475569"/>
                </a:solidFill>
                <a:latin typeface="Arial"/>
              </a:defRPr>
            </a:pPr>
            <a:r>
              <a:t>•  Relentless Long-Term Vision: Clear, methodical execution trajectory transitioning from high-margin software intelligence into a multi-billion dollar market-making powerhouse.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85750"/>
            <a:ext cx="1524000" cy="266700"/>
          </a:xfrm>
          <a:prstGeom prst="rect">
            <a:avLst/>
          </a:prstGeom>
          <a:noFill/>
        </p:spPr>
        <p:txBody>
          <a:bodyPr wrap="square" lIns="0" tIns="0" rIns="0" bIns="0">
            <a:spAutoFit/>
          </a:bodyPr>
          <a:lstStyle/>
          <a:p>
            <a:pPr algn="l">
              <a:defRPr sz="1650" b="1">
                <a:solidFill>
                  <a:srgbClr val="059669"/>
                </a:solidFill>
                <a:latin typeface="Arial"/>
              </a:defRPr>
            </a:pPr>
            <a:r>
              <a:t>daVIRA</a:t>
            </a:r>
          </a:p>
        </p:txBody>
      </p:sp>
      <p:sp>
        <p:nvSpPr>
          <p:cNvPr id="4" name="TextBox 3"/>
          <p:cNvSpPr txBox="1"/>
          <p:nvPr/>
        </p:nvSpPr>
        <p:spPr>
          <a:xfrm>
            <a:off x="10858500" y="304800"/>
            <a:ext cx="714375" cy="228600"/>
          </a:xfrm>
          <a:prstGeom prst="rect">
            <a:avLst/>
          </a:prstGeom>
          <a:noFill/>
        </p:spPr>
        <p:txBody>
          <a:bodyPr wrap="square" lIns="0" tIns="0" rIns="0" bIns="0">
            <a:spAutoFit/>
          </a:bodyPr>
          <a:lstStyle/>
          <a:p>
            <a:pPr algn="r">
              <a:defRPr sz="1200" b="0">
                <a:solidFill>
                  <a:srgbClr val="94A3B8"/>
                </a:solidFill>
                <a:latin typeface="Arial"/>
              </a:defRPr>
            </a:pPr>
            <a:r>
              <a:t>17 / 17</a:t>
            </a:r>
          </a:p>
        </p:txBody>
      </p:sp>
      <p:sp>
        <p:nvSpPr>
          <p:cNvPr id="5" name="TextBox 4"/>
          <p:cNvSpPr txBox="1"/>
          <p:nvPr/>
        </p:nvSpPr>
        <p:spPr>
          <a:xfrm>
            <a:off x="609600" y="723900"/>
            <a:ext cx="10906125" cy="228600"/>
          </a:xfrm>
          <a:prstGeom prst="rect">
            <a:avLst/>
          </a:prstGeom>
          <a:noFill/>
        </p:spPr>
        <p:txBody>
          <a:bodyPr wrap="square" lIns="0" tIns="0" rIns="0" bIns="0">
            <a:spAutoFit/>
          </a:bodyPr>
          <a:lstStyle/>
          <a:p>
            <a:pPr algn="l">
              <a:defRPr sz="1050" b="1">
                <a:solidFill>
                  <a:srgbClr val="0284C7"/>
                </a:solidFill>
                <a:latin typeface="Arial"/>
              </a:defRPr>
            </a:pPr>
            <a:r>
              <a:t>16 / STRATEGIC PARTNERSHIP</a:t>
            </a:r>
          </a:p>
        </p:txBody>
      </p:sp>
      <p:sp>
        <p:nvSpPr>
          <p:cNvPr id="6" name="TextBox 5"/>
          <p:cNvSpPr txBox="1"/>
          <p:nvPr/>
        </p:nvSpPr>
        <p:spPr>
          <a:xfrm>
            <a:off x="609600" y="990599"/>
            <a:ext cx="10906125" cy="457200"/>
          </a:xfrm>
          <a:prstGeom prst="rect">
            <a:avLst/>
          </a:prstGeom>
          <a:noFill/>
        </p:spPr>
        <p:txBody>
          <a:bodyPr wrap="square" lIns="0" tIns="0" rIns="0" bIns="0">
            <a:spAutoFit/>
          </a:bodyPr>
          <a:lstStyle/>
          <a:p>
            <a:pPr algn="l">
              <a:defRPr sz="2250" b="1">
                <a:solidFill>
                  <a:srgbClr val="0F172A"/>
                </a:solidFill>
                <a:latin typeface="Arial"/>
              </a:defRPr>
            </a:pPr>
            <a:r>
              <a:t>Capital Deployment, Milestones &amp; Global Ambition</a:t>
            </a:r>
          </a:p>
        </p:txBody>
      </p:sp>
      <p:sp>
        <p:nvSpPr>
          <p:cNvPr id="7" name="Rectangle 6"/>
          <p:cNvSpPr/>
          <p:nvPr/>
        </p:nvSpPr>
        <p:spPr>
          <a:xfrm>
            <a:off x="609600" y="1485900"/>
            <a:ext cx="1095375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6477000"/>
            <a:ext cx="10906125" cy="190500"/>
          </a:xfrm>
          <a:prstGeom prst="rect">
            <a:avLst/>
          </a:prstGeom>
          <a:noFill/>
        </p:spPr>
        <p:txBody>
          <a:bodyPr wrap="square" lIns="0" tIns="0" rIns="0" bIns="0">
            <a:spAutoFit/>
          </a:bodyPr>
          <a:lstStyle/>
          <a:p>
            <a:pPr algn="l">
              <a:defRPr sz="975" b="0">
                <a:solidFill>
                  <a:srgbClr val="94A3B8"/>
                </a:solidFill>
                <a:latin typeface="Arial"/>
              </a:defRPr>
            </a:pPr>
            <a:r>
              <a:t>daVIRA Intelligence  ·  Institutional Investment Presentation  ·  Confidential</a:t>
            </a:r>
          </a:p>
        </p:txBody>
      </p:sp>
      <p:sp>
        <p:nvSpPr>
          <p:cNvPr id="9" name="Rounded Rectangle 8"/>
          <p:cNvSpPr/>
          <p:nvPr/>
        </p:nvSpPr>
        <p:spPr>
          <a:xfrm>
            <a:off x="609600" y="1666875"/>
            <a:ext cx="53340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09600" y="1666875"/>
            <a:ext cx="5334000" cy="47625"/>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1857375"/>
            <a:ext cx="4857750" cy="266700"/>
          </a:xfrm>
          <a:prstGeom prst="rect">
            <a:avLst/>
          </a:prstGeom>
          <a:noFill/>
        </p:spPr>
        <p:txBody>
          <a:bodyPr wrap="square" lIns="0" tIns="0" rIns="0" bIns="0">
            <a:spAutoFit/>
          </a:bodyPr>
          <a:lstStyle/>
          <a:p>
            <a:pPr algn="l">
              <a:defRPr sz="1500" b="1">
                <a:solidFill>
                  <a:srgbClr val="0F172A"/>
                </a:solidFill>
                <a:latin typeface="Arial"/>
              </a:defRPr>
            </a:pPr>
            <a:r>
              <a:t>Strategic Capital Deployment</a:t>
            </a:r>
          </a:p>
        </p:txBody>
      </p:sp>
      <p:sp>
        <p:nvSpPr>
          <p:cNvPr id="12" name="TextBox 11"/>
          <p:cNvSpPr txBox="1"/>
          <p:nvPr/>
        </p:nvSpPr>
        <p:spPr>
          <a:xfrm>
            <a:off x="838200" y="2152650"/>
            <a:ext cx="4857750" cy="209550"/>
          </a:xfrm>
          <a:prstGeom prst="rect">
            <a:avLst/>
          </a:prstGeom>
          <a:noFill/>
        </p:spPr>
        <p:txBody>
          <a:bodyPr wrap="square" lIns="0" tIns="0" rIns="0" bIns="0">
            <a:spAutoFit/>
          </a:bodyPr>
          <a:lstStyle/>
          <a:p>
            <a:pPr algn="l">
              <a:defRPr sz="975" b="1">
                <a:solidFill>
                  <a:srgbClr val="0284C7"/>
                </a:solidFill>
                <a:latin typeface="Arial"/>
              </a:defRPr>
            </a:pPr>
            <a:r>
              <a:t>Institutional Seed Round with Strategic Venture Partners</a:t>
            </a:r>
          </a:p>
        </p:txBody>
      </p:sp>
      <p:sp>
        <p:nvSpPr>
          <p:cNvPr id="13" name="TextBox 12"/>
          <p:cNvSpPr txBox="1"/>
          <p:nvPr/>
        </p:nvSpPr>
        <p:spPr>
          <a:xfrm>
            <a:off x="838200" y="2524125"/>
            <a:ext cx="4857750" cy="3524250"/>
          </a:xfrm>
          <a:prstGeom prst="rect">
            <a:avLst/>
          </a:prstGeom>
          <a:noFill/>
        </p:spPr>
        <p:txBody>
          <a:bodyPr wrap="square" lIns="0" tIns="0" rIns="0" bIns="0">
            <a:spAutoFit/>
          </a:bodyPr>
          <a:lstStyle/>
          <a:p>
            <a:pPr>
              <a:spcAft>
                <a:spcPts val="1400"/>
              </a:spcAft>
              <a:defRPr sz="975">
                <a:solidFill>
                  <a:srgbClr val="475569"/>
                </a:solidFill>
                <a:latin typeface="Arial"/>
              </a:defRPr>
            </a:pPr>
            <a:r>
              <a:t>•  45% Quantitative Systems &amp; Core Engineering:</a:t>
            </a:r>
            <a:br/>
            <a:r>
              <a:t>    Recruiting top Rust/Node systems engineers and quantitative researchers from premier Indian institutes.</a:t>
            </a:r>
          </a:p>
          <a:p>
            <a:pPr>
              <a:spcAft>
                <a:spcPts val="1400"/>
              </a:spcAft>
              <a:defRPr sz="975">
                <a:solidFill>
                  <a:srgbClr val="475569"/>
                </a:solidFill>
                <a:latin typeface="Arial"/>
              </a:defRPr>
            </a:pPr>
            <a:r>
              <a:t>•  25% High-Throughput Node Infra &amp; LLM Compute:</a:t>
            </a:r>
            <a:br/>
            <a:r>
              <a:t>    Deploying dedicated validator RPC nodes (Hyperliquid, Solana, Base) and fine-tuned LLM inference clusters.</a:t>
            </a:r>
          </a:p>
          <a:p>
            <a:pPr>
              <a:spcAft>
                <a:spcPts val="1400"/>
              </a:spcAft>
              <a:defRPr sz="975">
                <a:solidFill>
                  <a:srgbClr val="475569"/>
                </a:solidFill>
                <a:latin typeface="Arial"/>
              </a:defRPr>
            </a:pPr>
            <a:r>
              <a:t>•  20% Prop Trading &amp; Market Making Sandbox:</a:t>
            </a:r>
            <a:br/>
            <a:r>
              <a:t>    Working capital reserve and liquidity pool for testing delta-neutral quoting models and flow-signal execution.</a:t>
            </a:r>
          </a:p>
          <a:p>
            <a:pPr>
              <a:spcAft>
                <a:spcPts val="1400"/>
              </a:spcAft>
              <a:defRPr sz="975">
                <a:solidFill>
                  <a:srgbClr val="475569"/>
                </a:solidFill>
                <a:latin typeface="Arial"/>
              </a:defRPr>
            </a:pPr>
            <a:r>
              <a:t>•  10% Legal, Compliance &amp; Global Structuring:</a:t>
            </a:r>
            <a:br/>
            <a:r>
              <a:t>    GIFT City / international corporate structuring, regulatory licensing, and institutional compliance frameworks.</a:t>
            </a:r>
          </a:p>
        </p:txBody>
      </p:sp>
      <p:sp>
        <p:nvSpPr>
          <p:cNvPr id="14" name="Rounded Rectangle 13"/>
          <p:cNvSpPr/>
          <p:nvPr/>
        </p:nvSpPr>
        <p:spPr>
          <a:xfrm>
            <a:off x="6229350" y="1666875"/>
            <a:ext cx="53340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29350" y="1666875"/>
            <a:ext cx="5334000" cy="47625"/>
          </a:xfrm>
          <a:prstGeom prst="round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7950" y="1857375"/>
            <a:ext cx="4857750" cy="266700"/>
          </a:xfrm>
          <a:prstGeom prst="rect">
            <a:avLst/>
          </a:prstGeom>
          <a:noFill/>
        </p:spPr>
        <p:txBody>
          <a:bodyPr wrap="square" lIns="0" tIns="0" rIns="0" bIns="0">
            <a:spAutoFit/>
          </a:bodyPr>
          <a:lstStyle/>
          <a:p>
            <a:pPr algn="l">
              <a:defRPr sz="1500" b="1">
                <a:solidFill>
                  <a:srgbClr val="0F172A"/>
                </a:solidFill>
                <a:latin typeface="Arial"/>
              </a:defRPr>
            </a:pPr>
            <a:r>
              <a:t>18-Month Execution Roadmap</a:t>
            </a:r>
          </a:p>
        </p:txBody>
      </p:sp>
      <p:sp>
        <p:nvSpPr>
          <p:cNvPr id="17" name="TextBox 16"/>
          <p:cNvSpPr txBox="1"/>
          <p:nvPr/>
        </p:nvSpPr>
        <p:spPr>
          <a:xfrm>
            <a:off x="6457950" y="2152650"/>
            <a:ext cx="4857750" cy="209550"/>
          </a:xfrm>
          <a:prstGeom prst="rect">
            <a:avLst/>
          </a:prstGeom>
          <a:noFill/>
        </p:spPr>
        <p:txBody>
          <a:bodyPr wrap="square" lIns="0" tIns="0" rIns="0" bIns="0">
            <a:spAutoFit/>
          </a:bodyPr>
          <a:lstStyle/>
          <a:p>
            <a:pPr algn="l">
              <a:defRPr sz="975" b="1">
                <a:solidFill>
                  <a:srgbClr val="D97706"/>
                </a:solidFill>
                <a:latin typeface="Arial"/>
              </a:defRPr>
            </a:pPr>
            <a:r>
              <a:t>Disciplined Milestones &amp; Capital Efficiency</a:t>
            </a:r>
          </a:p>
        </p:txBody>
      </p:sp>
      <p:sp>
        <p:nvSpPr>
          <p:cNvPr id="18" name="TextBox 17"/>
          <p:cNvSpPr txBox="1"/>
          <p:nvPr/>
        </p:nvSpPr>
        <p:spPr>
          <a:xfrm>
            <a:off x="6457950" y="2524125"/>
            <a:ext cx="4857750" cy="3524250"/>
          </a:xfrm>
          <a:prstGeom prst="rect">
            <a:avLst/>
          </a:prstGeom>
          <a:noFill/>
        </p:spPr>
        <p:txBody>
          <a:bodyPr wrap="square" lIns="0" tIns="0" rIns="0" bIns="0">
            <a:spAutoFit/>
          </a:bodyPr>
          <a:lstStyle/>
          <a:p>
            <a:pPr>
              <a:spcAft>
                <a:spcPts val="1200"/>
              </a:spcAft>
              <a:defRPr sz="975">
                <a:solidFill>
                  <a:srgbClr val="475569"/>
                </a:solidFill>
                <a:latin typeface="Arial"/>
              </a:defRPr>
            </a:pPr>
            <a:r>
              <a:t>✔  Months 1 – 3: Multi-Chain &amp; Conversational LLM Launch</a:t>
            </a:r>
            <a:br/>
            <a:r>
              <a:t>    Expand tracker to Solana &amp; Arbitrum; launch conversational 'Everything just a prompt away' interface; scale $10/mo individual subscriptions.</a:t>
            </a:r>
          </a:p>
          <a:p>
            <a:pPr>
              <a:spcAft>
                <a:spcPts val="1200"/>
              </a:spcAft>
              <a:defRPr sz="975">
                <a:solidFill>
                  <a:srgbClr val="475569"/>
                </a:solidFill>
                <a:latin typeface="Arial"/>
              </a:defRPr>
            </a:pPr>
            <a:r>
              <a:t>✔  Months 4 – 6: Institutional Prop Desk Pilot</a:t>
            </a:r>
            <a:br/>
            <a:r>
              <a:t>    Onboard 50+ global prop desks and quant funds on daVIRA Terminal; establish custom WebSocket feeds and team seats ($250–$1,000/mo).</a:t>
            </a:r>
          </a:p>
          <a:p>
            <a:pPr>
              <a:spcAft>
                <a:spcPts val="1200"/>
              </a:spcAft>
              <a:defRPr sz="975">
                <a:solidFill>
                  <a:srgbClr val="475569"/>
                </a:solidFill>
                <a:latin typeface="Arial"/>
              </a:defRPr>
            </a:pPr>
            <a:r>
              <a:t>✔  Months 7 – 12: daVIRA Capital (Prop Desk Launch)</a:t>
            </a:r>
            <a:br/>
            <a:r>
              <a:t>    Deploy internal systematic trading strategies exploiting proprietary flow leads and cross-venue funding rate basis arbitrage.</a:t>
            </a:r>
          </a:p>
          <a:p>
            <a:pPr>
              <a:spcAft>
                <a:spcPts val="1200"/>
              </a:spcAft>
              <a:defRPr sz="975">
                <a:solidFill>
                  <a:srgbClr val="475569"/>
                </a:solidFill>
                <a:latin typeface="Arial"/>
              </a:defRPr>
            </a:pPr>
            <a:r>
              <a:t>✔  Months 13 – 18: Algorithmic Market Making Rollout</a:t>
            </a:r>
            <a:br/>
            <a:r>
              <a:t>    Launch automated two-sided quoting engine across Hyperliquid &amp; top DEXs ('Wintermute of India') with institutional risk controls.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