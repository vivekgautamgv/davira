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4dd2ebd17045cb" /><Relationship Type="http://schemas.openxmlformats.org/officeDocument/2006/relationships/extended-properties" Target="/docProps/app.xml" Id="R9cd22e2d954e4e24" /><Relationship Type="http://schemas.openxmlformats.org/officeDocument/2006/relationships/officeDocument" Target="/ppt/presentation.xml" Id="Re7df176aa1074d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d27cce9eca46fd"/>
  </p:sldMasterIdLst>
  <p:notesMasterIdLst>
    <p:notesMasterId xmlns:r="http://schemas.openxmlformats.org/officeDocument/2006/relationships" r:id="Re112668695fc4a72"/>
  </p:notesMasterIdLst>
  <p:sldIdLst>
    <p:sldId xmlns:r="http://schemas.openxmlformats.org/officeDocument/2006/relationships" id="256" r:id="Ra9fa0dc89fbe437a"/>
    <p:sldId xmlns:r="http://schemas.openxmlformats.org/officeDocument/2006/relationships" id="257" r:id="Rc5ae4131a3b14f7f"/>
    <p:sldId xmlns:r="http://schemas.openxmlformats.org/officeDocument/2006/relationships" id="258" r:id="R99c0ca3c0ad643c6"/>
    <p:sldId xmlns:r="http://schemas.openxmlformats.org/officeDocument/2006/relationships" id="259" r:id="R283a6cb33c884231"/>
    <p:sldId xmlns:r="http://schemas.openxmlformats.org/officeDocument/2006/relationships" id="260" r:id="Ra436b619c852456a"/>
    <p:sldId xmlns:r="http://schemas.openxmlformats.org/officeDocument/2006/relationships" id="261" r:id="Raeedee746b8b4b35"/>
    <p:sldId xmlns:r="http://schemas.openxmlformats.org/officeDocument/2006/relationships" id="262" r:id="R3e997bdfdc6a4370"/>
    <p:sldId xmlns:r="http://schemas.openxmlformats.org/officeDocument/2006/relationships" id="263" r:id="Re23c5c242f2b485e"/>
    <p:sldId xmlns:r="http://schemas.openxmlformats.org/officeDocument/2006/relationships" id="264" r:id="R875806ac08cd4158"/>
    <p:sldId xmlns:r="http://schemas.openxmlformats.org/officeDocument/2006/relationships" id="265" r:id="Ra7e1d9216ae54bd1"/>
    <p:sldId xmlns:r="http://schemas.openxmlformats.org/officeDocument/2006/relationships" id="266" r:id="Raf5fb459c1584534"/>
    <p:sldId xmlns:r="http://schemas.openxmlformats.org/officeDocument/2006/relationships" id="267" r:id="R6ca33a4f13334868"/>
    <p:sldId xmlns:r="http://schemas.openxmlformats.org/officeDocument/2006/relationships" id="268" r:id="Ra16a07c955ab41b3"/>
    <p:sldId xmlns:r="http://schemas.openxmlformats.org/officeDocument/2006/relationships" id="269" r:id="Raeac20ccbb7d4dcf"/>
    <p:sldId xmlns:r="http://schemas.openxmlformats.org/officeDocument/2006/relationships" id="270" r:id="Ref710c1852d14bbb"/>
    <p:sldId xmlns:r="http://schemas.openxmlformats.org/officeDocument/2006/relationships" id="271" r:id="R938e6bad3d2b4144"/>
    <p:sldId xmlns:r="http://schemas.openxmlformats.org/officeDocument/2006/relationships" id="272" r:id="Rf8b516a2e29c43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fb56d9feb543a2" /><Relationship Type="http://schemas.openxmlformats.org/officeDocument/2006/relationships/slideMaster" Target="/ppt/slideMasters/slideMaster1.xml" Id="R4ed27cce9eca46fd" /><Relationship Type="http://schemas.openxmlformats.org/officeDocument/2006/relationships/notesMaster" Target="/ppt/notesMasters/notesMaster1.xml" Id="Re112668695fc4a72" /><Relationship Type="http://schemas.openxmlformats.org/officeDocument/2006/relationships/presProps" Target="/ppt/presProps.xml" Id="Rf35981a3a81f4454" /><Relationship Type="http://schemas.openxmlformats.org/officeDocument/2006/relationships/tableStyles" Target="/ppt/tableStyles.xml" Id="R8ad80c76ef2a46de" /><Relationship Type="http://schemas.openxmlformats.org/officeDocument/2006/relationships/slide" Target="/ppt/slides/slide1.xml" Id="Ra9fa0dc89fbe437a" /><Relationship Type="http://schemas.openxmlformats.org/officeDocument/2006/relationships/slide" Target="/ppt/slides/slide2.xml" Id="Rc5ae4131a3b14f7f" /><Relationship Type="http://schemas.openxmlformats.org/officeDocument/2006/relationships/slide" Target="/ppt/slides/slide3.xml" Id="R99c0ca3c0ad643c6" /><Relationship Type="http://schemas.openxmlformats.org/officeDocument/2006/relationships/slide" Target="/ppt/slides/slide4.xml" Id="R283a6cb33c884231" /><Relationship Type="http://schemas.openxmlformats.org/officeDocument/2006/relationships/slide" Target="/ppt/slides/slide5.xml" Id="Ra436b619c852456a" /><Relationship Type="http://schemas.openxmlformats.org/officeDocument/2006/relationships/slide" Target="/ppt/slides/slide6.xml" Id="Raeedee746b8b4b35" /><Relationship Type="http://schemas.openxmlformats.org/officeDocument/2006/relationships/slide" Target="/ppt/slides/slide7.xml" Id="R3e997bdfdc6a4370" /><Relationship Type="http://schemas.openxmlformats.org/officeDocument/2006/relationships/slide" Target="/ppt/slides/slide8.xml" Id="Re23c5c242f2b485e" /><Relationship Type="http://schemas.openxmlformats.org/officeDocument/2006/relationships/slide" Target="/ppt/slides/slide9.xml" Id="R875806ac08cd4158" /><Relationship Type="http://schemas.openxmlformats.org/officeDocument/2006/relationships/slide" Target="/ppt/slides/slide10.xml" Id="Ra7e1d9216ae54bd1" /><Relationship Type="http://schemas.openxmlformats.org/officeDocument/2006/relationships/slide" Target="/ppt/slides/slide11.xml" Id="Raf5fb459c1584534" /><Relationship Type="http://schemas.openxmlformats.org/officeDocument/2006/relationships/slide" Target="/ppt/slides/slide12.xml" Id="R6ca33a4f13334868" /><Relationship Type="http://schemas.openxmlformats.org/officeDocument/2006/relationships/slide" Target="/ppt/slides/slide13.xml" Id="Ra16a07c955ab41b3" /><Relationship Type="http://schemas.openxmlformats.org/officeDocument/2006/relationships/slide" Target="/ppt/slides/slide14.xml" Id="Raeac20ccbb7d4dcf" /><Relationship Type="http://schemas.openxmlformats.org/officeDocument/2006/relationships/slide" Target="/ppt/slides/slide15.xml" Id="Ref710c1852d14bbb" /><Relationship Type="http://schemas.openxmlformats.org/officeDocument/2006/relationships/slide" Target="/ppt/slides/slide16.xml" Id="R938e6bad3d2b4144" /><Relationship Type="http://schemas.openxmlformats.org/officeDocument/2006/relationships/slide" Target="/ppt/slides/slide17.xml" Id="Rf8b516a2e29c43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fa4798ae6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1b9ba3d9fb4da5" /><Relationship Type="http://schemas.openxmlformats.org/officeDocument/2006/relationships/notesMaster" Target="/ppt/notesMasters/notesMaster1.xml" Id="R19afc2894a994b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a492794c264912" /><Relationship Type="http://schemas.openxmlformats.org/officeDocument/2006/relationships/notesMaster" Target="/ppt/notesMasters/notesMaster1.xml" Id="R2f8aa2ed12424a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40d3d025d64975" /><Relationship Type="http://schemas.openxmlformats.org/officeDocument/2006/relationships/notesMaster" Target="/ppt/notesMasters/notesMaster1.xml" Id="Rafad2d6d72d54b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8636b6fac140a9" /><Relationship Type="http://schemas.openxmlformats.org/officeDocument/2006/relationships/notesMaster" Target="/ppt/notesMasters/notesMaster1.xml" Id="R061a65724710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dac2c91d2f4e58" /><Relationship Type="http://schemas.openxmlformats.org/officeDocument/2006/relationships/notesMaster" Target="/ppt/notesMasters/notesMaster1.xml" Id="R1ebebd8b5b3845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1c958239f04d87" /><Relationship Type="http://schemas.openxmlformats.org/officeDocument/2006/relationships/notesMaster" Target="/ppt/notesMasters/notesMaster1.xml" Id="R6e2fd35c873f4e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7d14515e0a4998" /><Relationship Type="http://schemas.openxmlformats.org/officeDocument/2006/relationships/notesMaster" Target="/ppt/notesMasters/notesMaster1.xml" Id="Rca695a7e6ab04c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aa021c60f5470a" /><Relationship Type="http://schemas.openxmlformats.org/officeDocument/2006/relationships/notesMaster" Target="/ppt/notesMasters/notesMaster1.xml" Id="Rc97b554a81ef42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ff8f849ce6450d" /><Relationship Type="http://schemas.openxmlformats.org/officeDocument/2006/relationships/notesMaster" Target="/ppt/notesMasters/notesMaster1.xml" Id="R933c2668aa4847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c86e94fec14bf5" /><Relationship Type="http://schemas.openxmlformats.org/officeDocument/2006/relationships/notesMaster" Target="/ppt/notesMasters/notesMaster1.xml" Id="R3cd7d8205be64e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e47959478d4892" /><Relationship Type="http://schemas.openxmlformats.org/officeDocument/2006/relationships/notesMaster" Target="/ppt/notesMasters/notesMaster1.xml" Id="Rc31f5141e28742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43cb93bab2431b" /><Relationship Type="http://schemas.openxmlformats.org/officeDocument/2006/relationships/notesMaster" Target="/ppt/notesMasters/notesMaster1.xml" Id="Rc9ef2bda1e214d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3fa512f0214db0" /><Relationship Type="http://schemas.openxmlformats.org/officeDocument/2006/relationships/notesMaster" Target="/ppt/notesMasters/notesMaster1.xml" Id="Re6088839ebeb40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ccaea896734d7a" /><Relationship Type="http://schemas.openxmlformats.org/officeDocument/2006/relationships/notesMaster" Target="/ppt/notesMasters/notesMaster1.xml" Id="R28e84305f42f46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950b521a044944" /><Relationship Type="http://schemas.openxmlformats.org/officeDocument/2006/relationships/notesMaster" Target="/ppt/notesMasters/notesMaster1.xml" Id="R33868b0b459c40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5fd77b61fc493e" /><Relationship Type="http://schemas.openxmlformats.org/officeDocument/2006/relationships/notesMaster" Target="/ppt/notesMasters/notesMaster1.xml" Id="R999c5e4c8ccc45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ee5dca23864c4d" /><Relationship Type="http://schemas.openxmlformats.org/officeDocument/2006/relationships/notesMaster" Target="/ppt/notesMasters/notesMaster1.xml" Id="Re40801d176b84e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b698053764d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3f3e96468d422b" /><Relationship Type="http://schemas.openxmlformats.org/officeDocument/2006/relationships/slideLayout" Target="/ppt/slideLayouts/slideLayout1.xml" Id="Rd818059babc842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18059babc842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2509e397c4dd6" /><Relationship Type="http://schemas.openxmlformats.org/officeDocument/2006/relationships/notesSlide" Target="/ppt/notesSlides/notesSlide1.xml" Id="Rfdcd4f5895d844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ec5c41ac24411" /><Relationship Type="http://schemas.openxmlformats.org/officeDocument/2006/relationships/notesSlide" Target="/ppt/notesSlides/notesSlide2.xml" Id="Rd2da280a147c43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61fb7d84347e5" /><Relationship Type="http://schemas.openxmlformats.org/officeDocument/2006/relationships/notesSlide" Target="/ppt/notesSlides/notesSlide3.xml" Id="Rd92fa74c25e14d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b21d4dc4443fe" /><Relationship Type="http://schemas.openxmlformats.org/officeDocument/2006/relationships/notesSlide" Target="/ppt/notesSlides/notesSlide4.xml" Id="R7bb8c4a0453445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0438d14974f6c" /><Relationship Type="http://schemas.openxmlformats.org/officeDocument/2006/relationships/notesSlide" Target="/ppt/notesSlides/notesSlide5.xml" Id="Rb2f3b713e39543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94dcceab34e9c" /><Relationship Type="http://schemas.openxmlformats.org/officeDocument/2006/relationships/notesSlide" Target="/ppt/notesSlides/notesSlide6.xml" Id="Ra02b4a4ecfe044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27a01ea8949df" /><Relationship Type="http://schemas.openxmlformats.org/officeDocument/2006/relationships/notesSlide" Target="/ppt/notesSlides/notesSlide7.xml" Id="R2ce65126be8d43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cb95b03c44799" /><Relationship Type="http://schemas.openxmlformats.org/officeDocument/2006/relationships/notesSlide" Target="/ppt/notesSlides/notesSlide8.xml" Id="R9451cbd3e2f841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fb920a5404d48" /><Relationship Type="http://schemas.openxmlformats.org/officeDocument/2006/relationships/notesSlide" Target="/ppt/notesSlides/notesSlide9.xml" Id="R9c198d8d03d440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2c82f7de14519" /><Relationship Type="http://schemas.openxmlformats.org/officeDocument/2006/relationships/notesSlide" Target="/ppt/notesSlides/notesSlide10.xml" Id="R44237a1551044f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1d5952a014119" /><Relationship Type="http://schemas.openxmlformats.org/officeDocument/2006/relationships/notesSlide" Target="/ppt/notesSlides/notesSlide11.xml" Id="Rf796b8e8f87446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1b742bb0d40ad" /><Relationship Type="http://schemas.openxmlformats.org/officeDocument/2006/relationships/notesSlide" Target="/ppt/notesSlides/notesSlide12.xml" Id="R90385c7e3dff47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b63eadc69472a" /><Relationship Type="http://schemas.openxmlformats.org/officeDocument/2006/relationships/notesSlide" Target="/ppt/notesSlides/notesSlide13.xml" Id="R34a4bf3fb0134a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82db147ed42a9" /><Relationship Type="http://schemas.openxmlformats.org/officeDocument/2006/relationships/notesSlide" Target="/ppt/notesSlides/notesSlide14.xml" Id="R77d5b6306bdd4f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1446447fd40ab" /><Relationship Type="http://schemas.openxmlformats.org/officeDocument/2006/relationships/notesSlide" Target="/ppt/notesSlides/notesSlide15.xml" Id="R07abcd46e00244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789f697724142" /><Relationship Type="http://schemas.openxmlformats.org/officeDocument/2006/relationships/notesSlide" Target="/ppt/notesSlides/notesSlide16.xml" Id="R35e508a41d3d49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43c5e6f97470d" /><Relationship Type="http://schemas.openxmlformats.org/officeDocument/2006/relationships/notesSlide" Target="/ppt/notesSlides/notesSlide17.xml" Id="R8e38e598896d4b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7BA59-8BC8-42A3-BB12-F5C7332B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C66E6-6F13-4022-BEC5-D21C3895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182DC-13EB-4AED-A93D-56AE9909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PRODUCT &amp; COMPANY 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EB466-5C51-478D-90C8-74E0A56E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On-chain intelligence</a:t>
            </a:r>
          </a:p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for global crypto markets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B02C0-EA10-44AD-B5AD-417E40F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Built in India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DB9C-C849-4A53-952A-0B8FDF20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001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Wallet research today. Proprietary trading and market making as the long-term direction.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CE49C-DC7B-45D3-8A4F-5F92865F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Vivek Gautam   /   Founder</a:t>
            </a:r>
          </a:p>
        </p:txBody>
      </p:sp>
    </p:spTree>
    <p:extLst>
      <p:ext uri="{BB962C8B-B14F-4D97-AF65-F5344CB8AC3E}">
        <p14:creationId xmlns:p14="http://schemas.microsoft.com/office/powerpoint/2010/main" val="1245461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886AE-C12A-4EB6-AE2B-CB6399EB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6D338-A2F9-4F4F-81E0-5C0D6179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A9DE8-3A68-4C2B-B924-1148A6B1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EXECUTIVE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9037B-307C-4BB8-85E9-1FF817EF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The business begins with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3216A-FC0B-4411-BC26-C8F846F4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EC9D8-D000-4448-B855-5000C42C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Explain wallet activity, position flows and token-specific trading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A5A7B-4865-4A97-9B42-BBB7B878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The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70E5-D94C-45B8-BDD0-718B990B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Independent traders, research teams and proprietary trading firms.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BA042-2C41-4857-BFD6-28B74575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The 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0F920-4F75-48AE-A9FF-FB4A3B25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Validate a subscription product before expanding into trading with firm capital.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CD1F4-EF1D-4088-9498-E008FEDA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Working local prototype. Commercial demand and predictive performance remain to be validated.</a:t>
            </a:r>
          </a:p>
        </p:txBody>
      </p:sp>
    </p:spTree>
    <p:extLst>
      <p:ext uri="{BB962C8B-B14F-4D97-AF65-F5344CB8AC3E}">
        <p14:creationId xmlns:p14="http://schemas.microsoft.com/office/powerpoint/2010/main" val="1690437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A815E-00E2-4B3C-9AED-2F4C7C0B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D5170-880D-49A7-9474-35544991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E1233-A7B2-4128-B2D4-E3451E91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CUSTOMER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26B73-E24A-4CF8-8B51-BFEE034E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Different users. A common research burden.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03447-25B7-4634-8600-A311972C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Traders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DC975-138C-4603-877D-4F7B5D74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Find relevant wallets without confusing headline PnL with repeatable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64D06-E96B-43F8-8C4A-31A446C4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Quant researchers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91630-616D-4EAA-8EC7-5A056174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Inspect complete trade samples and test sensitivity to execution costs.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DC70A-A8AF-43AA-8622-993C5670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Trading desks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08563-0DA6-49B7-B2CF-127E2898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Trace positioning changes to source wallets and understand concentration.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6FC2F-E529-48EC-B4C8-89614764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Customer needs are product hypotheses for pilot validation.</a:t>
            </a:r>
          </a:p>
        </p:txBody>
      </p:sp>
    </p:spTree>
    <p:extLst>
      <p:ext uri="{BB962C8B-B14F-4D97-AF65-F5344CB8AC3E}">
        <p14:creationId xmlns:p14="http://schemas.microsoft.com/office/powerpoint/2010/main" val="2086858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06639-6CF8-40A1-9350-53B91A49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43571-4C6F-4F62-96DE-EA303A1D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B707D-8EC8-4129-AC3E-6D6BC165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POSITION-FLOW ATTRIBUTION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48EB0-82DD-4205-BB59-EF2F4472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A buy can open a long or close a short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6FEBC-3143-4C9A-94B4-676E3B8A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Long inflow / outflow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EA239-BD79-4A24-8C4D-4F864571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Separate new long exposure from closed longs.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4113A-52E2-4DB8-8491-39E1C15C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Short inflow / outflow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EECC1-FD2D-43A5-A6C5-C534295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Separate new short exposure from short covering.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C480F-801D-496B-8196-1B268A2F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Wallet attribution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910EB-43D2-4D80-9895-E34227C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Inspect the addresses behind each coin’s flow and test the largest contributor’s influence.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AC19F-82E4-4DE8-9BAC-F5E2B541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Perpetual position notional measures trading exposure, not collateral deposits or spot demand.</a:t>
            </a:r>
          </a:p>
        </p:txBody>
      </p:sp>
    </p:spTree>
    <p:extLst>
      <p:ext uri="{BB962C8B-B14F-4D97-AF65-F5344CB8AC3E}">
        <p14:creationId xmlns:p14="http://schemas.microsoft.com/office/powerpoint/2010/main" val="360398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84890-486F-47CA-B034-8D5101E2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C2FE8-4FCF-48B3-9201-C8683A44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37669-8C5D-4270-937A-10E580E7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WALLET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1E8D7-9C2F-48F8-879F-3DCA50C4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A relevant record for each token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C86A8-E2B2-42F7-B17D-1DFB3C3D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Wallet screening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87758-B1CE-4671-9255-3821CB0A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Address lookup, reported PnL, account coverage and reconstructed trading quality.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83F07-4D86-4361-B8A4-F34B28CB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Token specialists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B20A4-49BC-4CBD-85BA-1E7D2B5C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Coin-level win rate, profit factor, drawdown and complete trade 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1E28C-FDC9-42FE-8BE3-D222463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Observed history can be incomplete. Current account status and historical skill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349089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42F69-CE6F-4CDD-BB05-FC3C9DCF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E1304-DC9D-499D-8CFA-297DAF2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1EA75-88C0-4C69-83FF-34C4B5E2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EXECUTION REALISM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48902-1E91-4D29-90FC-6C717547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Copy research starts with eligibility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730BF-87D8-468D-A0CD-CB09CA3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66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0 / 5 / 10 / 25 bps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9987E-8E2B-4E2B-B982-B182CDB2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Additional execution-cost scenarios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DFCED-618D-4A41-A560-F1C83B81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Performance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14AF1-BE95-4BE6-A954-04B2A6F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Positive reported 30-day and all-time PnL, sufficient history and consistency.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E811F-7621-43F4-83B0-F18ACC0F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00575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Execution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866DC-5D03-45F4-8EF0-269FFE88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581650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Recent activity, funded accounts, holding periods and cost resilience.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8357B-00D3-41D2-A072-B3461FFA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Paper copying only. Cost scenarios do not establish real-world replicability.</a:t>
            </a:r>
          </a:p>
        </p:txBody>
      </p:sp>
    </p:spTree>
    <p:extLst>
      <p:ext uri="{BB962C8B-B14F-4D97-AF65-F5344CB8AC3E}">
        <p14:creationId xmlns:p14="http://schemas.microsoft.com/office/powerpoint/2010/main" val="1723168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3C4DB-CB98-49CE-A461-13513511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6DF26-5323-4B0B-8A95-C45274D2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08D51-BE0D-48A9-B360-69FC5484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CURRENT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6ED28-90AE-433A-A86E-6E3BD896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Cross-asset research within covered venues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BA7AD-44DA-4A59-833D-0597C10C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Crypto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4F05E-5426-4289-B945-66CF9C84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Major and smaller perpetual markets with source-linked wallet activity.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52DC3-5F0D-403A-A930-449B6802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Equity and index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72C63-64CD-4841-ABE3-A9D3FB61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Covered builder-DEX derivatives alongside main-DEX positions.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7F8AE-263C-410E-A142-7C7A587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Commodities and FX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3A538-A0DB-40A5-A151-EB6EC50E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Classified instruments and RWA activity in the indexed sample.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21A8C-49F7-4973-BD72-2C592280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Derivative exposure does not imply ownership of stocks or commodities. Coverage is not the whole market.</a:t>
            </a:r>
          </a:p>
        </p:txBody>
      </p:sp>
    </p:spTree>
    <p:extLst>
      <p:ext uri="{BB962C8B-B14F-4D97-AF65-F5344CB8AC3E}">
        <p14:creationId xmlns:p14="http://schemas.microsoft.com/office/powerpoint/2010/main" val="646224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EB07D-ED83-47B3-9ED3-F705854B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AB860-5ABB-44E2-982F-0C529E75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A3360-BEC7-4874-9557-7C386BC8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POSITIONING COMPASS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FB56F-12B1-435F-ABE0-4F18764F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Direction and evidence are separate scores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FE241-6D45-445B-9697-9EE54D15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45%</a:t>
            </a:r>
          </a:p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New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681DE-C283-42E0-9D4A-A08972BF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Opening balance between long and short positions.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AB4D5-4108-4A06-A700-85D91DE0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35%</a:t>
            </a:r>
          </a:p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Token specialists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3D76E-8E02-41C0-8DB9-15E6EFA9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Bounded wallet votes backed by relevant token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CA4E3-7370-46F7-85AE-BC1275EB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20%</a:t>
            </a:r>
          </a:p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Execution 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6116E-38A8-4D20-A5E9-55FD84F6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Buy and sell activity, including position closures.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4197E-387E-4240-816B-3A47B2B0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Long bias, short bias, neutral or wait. Weak or conflicting evidence forces wait. Heuristic, not proven alpha.</a:t>
            </a:r>
          </a:p>
        </p:txBody>
      </p:sp>
    </p:spTree>
    <p:extLst>
      <p:ext uri="{BB962C8B-B14F-4D97-AF65-F5344CB8AC3E}">
        <p14:creationId xmlns:p14="http://schemas.microsoft.com/office/powerpoint/2010/main" val="36789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C595A-1146-43A8-86BC-C405F70D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DDE4E-C19A-4C16-8E6E-7D82577F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78D3B-288F-44ED-9203-BD6AC54E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IMPLEMENTATION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E858C-9778-4560-9F2C-4D8272E6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A local product with explicit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3EB56-1097-4323-ABCF-4A8FDA47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430B5-39A0-42E3-9112-461D0E8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Wallet and token research, flows, market briefs, event context, reports and alerts.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1E209-3DD6-49A0-9794-A1A47589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Data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8718C-68E9-4AA6-84A8-B60DF715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Direct Hyperliquid APIs, selected live streams and a bounded local execution archive.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4AD9E-189E-4F2F-9B62-924567B5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Not yet launched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B936A-D8D6-49F7-ADE4-140655D5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Hosted subscriptions, live copy execution, multi-chain collection and the LLM copilot.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25BD1-0497-4E47-B823-F389D496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The discovery leaderboard and fully analysed wallets are different populations. No latency guarantee is claimed.</a:t>
            </a:r>
          </a:p>
        </p:txBody>
      </p:sp>
    </p:spTree>
    <p:extLst>
      <p:ext uri="{BB962C8B-B14F-4D97-AF65-F5344CB8AC3E}">
        <p14:creationId xmlns:p14="http://schemas.microsoft.com/office/powerpoint/2010/main" val="291826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5CA02-C876-4DAD-AD4C-B4845441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BAB2C-35E4-453C-BCDD-F3BB9C5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5195A-ABAB-4B3D-B22C-99AED8C5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INTELLIGENCE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FA1A7-70D3-4ABC-A6DA-78921235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Planned research into wallet behaviour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F120C-BE49-4876-8AB9-5656095A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Pre-move positioning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73D1A-EB46-4BA7-A95B-9982BA9B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Study wallets that repeatedly build positions before large market moves.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976A9-1AB3-4042-998D-AA85923A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Wallet continuity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A45F0-CC73-448E-B44E-262FF77E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Investigate possible destination addresses after observable capital movements.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2861D-37E8-4705-84B6-1EF46603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Evidence first: timing does not prove privileged information, and a transfer does not prove common ownership.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5BC84-EB41-4F54-9EA4-A8510987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Both capabilities are planned research. No front-running execution or identity claim.</a:t>
            </a:r>
          </a:p>
        </p:txBody>
      </p:sp>
    </p:spTree>
    <p:extLst>
      <p:ext uri="{BB962C8B-B14F-4D97-AF65-F5344CB8AC3E}">
        <p14:creationId xmlns:p14="http://schemas.microsoft.com/office/powerpoint/2010/main" val="11841691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DF61B-3FC1-43F0-8557-A71B5DEF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6A92-6032-437A-83CB-C9922424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CEAD0-B9D7-4C7D-9893-02790F36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PLANNED LLM COPILOT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A1474-20B4-42EE-B521-CA9548CD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Research, one prompt 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81804-5D14-4876-A278-0E0682E6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763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“Which ETH specialists opened new longs</a:t>
            </a:r>
          </a:p>
          <a:p xmlns:a="http://schemas.openxmlformats.org/drawingml/2006/main">
            <a:pPr>
              <a:defRPr sz="3075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and still have a strong record after costs?”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289DF-D624-45B3-898D-DCD83A84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Structured 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3A559-5197-4FA9-B9ED-2BACBB22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Translate the request into validated filters over permitted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16338-1FCB-469D-98A0-789417CA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Traceable answers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2BCF2-4AAA-4C3E-90F8-6FAA6BF3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864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Return source wallets, timestamps, calculations and missing-data warnings.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1864B-AAF9-411C-A8CA-9FF77114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Read-only research first. No invented metrics or automatic trade execution.</a:t>
            </a:r>
          </a:p>
        </p:txBody>
      </p:sp>
    </p:spTree>
    <p:extLst>
      <p:ext uri="{BB962C8B-B14F-4D97-AF65-F5344CB8AC3E}">
        <p14:creationId xmlns:p14="http://schemas.microsoft.com/office/powerpoint/2010/main" val="11011336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D2D76-AFF8-44B1-ADC8-EF30C266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D7A65-BF4B-4B70-92AC-F3A2E39B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23084-4EB1-4E3B-9AB4-1E121647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PLANNED EXPANSION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6F9AE-6E1C-4E58-89D5-472FA709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Broader on-chain activity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6EFF2-4880-4C44-B831-CD44E6DC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More venues and chains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0E7C6-D544-46EF-A8C7-9789F55D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Prioritise supported public data based on pilot demand and collection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1AAF0-B91F-40F4-936F-A6B96481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More activity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EC59E-37FA-4FED-BEE6-F6752C6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Extend research into transfers, liquidity changes and positions with clear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0343C-0033-48DE-82E5-A72650CB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Comparable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FA948-3542-4E46-8AAC-1408EDE7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Normalise instruments, timestamps and coverage without hiding data gaps.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D5107-880F-431F-89C3-DC200281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Whole-chain visibility is a long-term objective, not a current completeness claim.</a:t>
            </a:r>
          </a:p>
        </p:txBody>
      </p:sp>
    </p:spTree>
    <p:extLst>
      <p:ext uri="{BB962C8B-B14F-4D97-AF65-F5344CB8AC3E}">
        <p14:creationId xmlns:p14="http://schemas.microsoft.com/office/powerpoint/2010/main" val="10314950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F0AB3-CC1D-4966-83B8-F44B74E4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32212-BC42-4C14-B2D1-CCF7C10F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6AFDF-A3F2-4C5F-AAB1-4A1E8AB8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COMMERCIAL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378C6-84AE-4E52-8C5F-4840FDA2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A focused subscription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07AE6-BE54-45F5-885A-E5B0B7E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953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90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$10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97AD1-01AA-4802-9EFE-8073C1B6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per month</a:t>
            </a:r>
          </a:p>
          <a:p xmlns:a="http://schemas.openxmlformats.org/drawingml/2006/main">
            <a:pPr>
              <a:defRPr sz="22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Target individual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95515-0BE7-4A34-A282-C748BF65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80CAB-0EAE-46B5-B25A-4DF9BD28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39C63-1EA6-4F21-933C-C4CBB939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19425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Team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9180A-36AD-4AA6-9660-9B8A889A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00500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Shared research, exports and API access are potential extensions after pilot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809A9-EF34-47C3-B1FF-7BF1DA0C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Target pricing. Billing, paying-customer traction and enterprise pricing are not established.</a:t>
            </a:r>
          </a:p>
        </p:txBody>
      </p:sp>
    </p:spTree>
    <p:extLst>
      <p:ext uri="{BB962C8B-B14F-4D97-AF65-F5344CB8AC3E}">
        <p14:creationId xmlns:p14="http://schemas.microsoft.com/office/powerpoint/2010/main" val="13052596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3D951-6103-4AC4-9464-2FB055C1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75F63-8BC7-40A9-B901-72D99977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FEB93-89F2-43BF-B8EF-385BDC5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COMPANY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BDB3B-0EBB-45B3-85C5-15569B02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Three phases. Clear launch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B25FF-82BD-4AE8-A3F8-2723C55D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01  Intelligence software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AE013-CEE4-4FD0-9589-CAF4A107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Prove usefulness, repeat usage and sustainable delivery costs.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45794-2D7C-4186-8950-961A57D2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02  Proprietary trading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4C95C-3325-4A08-BA22-C73C83F9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Validate strategies after costs and introduce controlled firm-capital exposure.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7FF17-1160-4115-980B-3BA7FF7F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03  Market making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7DE34-5747-4089-8F1F-2B5CB908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Build resilient quoting, inventory management and venue relationships.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3C03F-F441-4AEC-BDAA-DC637FBF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No separate infrastructure-provider phase. Progress depends on evidence, capability and capital.</a:t>
            </a:r>
          </a:p>
        </p:txBody>
      </p:sp>
    </p:spTree>
    <p:extLst>
      <p:ext uri="{BB962C8B-B14F-4D97-AF65-F5344CB8AC3E}">
        <p14:creationId xmlns:p14="http://schemas.microsoft.com/office/powerpoint/2010/main" val="18438078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6642C-C450-45F1-9D28-A713322B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5A4BB-CC63-4C68-8881-12646F3C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C5229-62D6-46D2-A0B5-ED20A53B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PHASES 2 AND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EC574-BCEB-4419-9D71-E452F85F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Trading businesses require their own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CEB2F-4762-415A-8434-37D1BFD0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Proprietary trading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85552-D35F-46CC-9793-B6591A42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Research patterns and inefficiencies. Forward-test strategies and apply exposure and loss limits.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52BCF-217F-40BC-BC52-C19A8583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Market making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AB2CD-92E0-4B65-8AF5-22270708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Develop two-sided quoting and inventory controls. Evaluate adverse selection, hedging and venue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C3370-81E1-45F3-8AB3-66B07208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The ambition draws inspiration from Wintermute. No affiliation, comparable scale or guaranteed returns is claimed.</a:t>
            </a:r>
          </a:p>
        </p:txBody>
      </p:sp>
    </p:spTree>
    <p:extLst>
      <p:ext uri="{BB962C8B-B14F-4D97-AF65-F5344CB8AC3E}">
        <p14:creationId xmlns:p14="http://schemas.microsoft.com/office/powerpoint/2010/main" val="6688814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0E104-1F76-4847-ACB7-D93FB409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5AD83-4953-422C-A21A-2BA285AD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34E9B-0B77-472C-80EC-139C2B54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PRODUCT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79A87-7BFB-43E3-A6D6-B55586F2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The next measurable milestones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221C5-C15C-43D6-BAB5-3512F400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Coverage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8A481-1EE9-41D1-AC27-3DF8C0DC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Measure freshness, data gaps, complete histories and cost per active user.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234C9-5366-4D8A-892A-69517FAB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Research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4DECD-F215-4B63-A12B-8DE0450D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Record forward results, false signals and execution-cost sensitivity.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F3F5F-6F90-4BD3-9C73-D74B6FAC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Customer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3D533-B2A5-4246-A2BE-478D3BD5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Run a trader and prop-desk pilot. Measure repeated use and willingness to pay.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4A781-D788-493B-8E99-0C0DA336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Hosted readiness also requires security, user isolation and recovery testing.</a:t>
            </a:r>
          </a:p>
        </p:txBody>
      </p:sp>
    </p:spTree>
    <p:extLst>
      <p:ext uri="{BB962C8B-B14F-4D97-AF65-F5344CB8AC3E}">
        <p14:creationId xmlns:p14="http://schemas.microsoft.com/office/powerpoint/2010/main" val="6072467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BD137-A3A7-45C1-8E5A-2CD3E313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8F492-B8B9-4359-9477-A698646D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A567B-293F-4475-97CB-8C3C6E85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AFDF9-9D3E-4A2E-86C3-3DDB1A48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Vivek Gautam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C452A-4A6D-446F-BE18-19AE24BF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66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Formerly at GoQuant</a:t>
            </a:r>
          </a:p>
          <a:p xmlns:a="http://schemas.openxmlformats.org/drawingml/2006/main">
            <a:pPr>
              <a:defRPr sz="24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Former intern at QuantInsti</a:t>
            </a:r>
          </a:p>
          <a:p xmlns:a="http://schemas.openxmlformats.org/drawingml/2006/main">
            <a:pPr>
              <a:defRPr sz="24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Currently an analyst at a crypto firm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3ED52-EDEA-489F-9E4E-0453F416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763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Transparent crypto research,</a:t>
            </a:r>
          </a:p>
          <a:p xmlns:a="http://schemas.openxmlformats.org/drawingml/2006/main">
            <a:pPr>
              <a:defRPr sz="30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built in India for global users.</a:t>
            </a:r>
          </a:p>
        </p:txBody>
      </p:sp>
    </p:spTree>
    <p:extLst>
      <p:ext uri="{BB962C8B-B14F-4D97-AF65-F5344CB8AC3E}">
        <p14:creationId xmlns:p14="http://schemas.microsoft.com/office/powerpoint/2010/main" val="1349065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2026-09-17T19:22:17.0310000Z</dcterms:created>
  <dcterms:modified xsi:type="dcterms:W3CDTF">2026-09-17T19:22:17.0310000Z</dcterms:modified>
</coreProperties>
</file>