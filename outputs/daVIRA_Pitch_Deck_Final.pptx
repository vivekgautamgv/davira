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3c0e0fe147413d" /><Relationship Type="http://schemas.openxmlformats.org/officeDocument/2006/relationships/extended-properties" Target="/docProps/app.xml" Id="R0d57d706979840e4" /><Relationship Type="http://schemas.openxmlformats.org/officeDocument/2006/relationships/officeDocument" Target="/ppt/presentation.xml" Id="Ra7a9f0ab02f744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1adad813442b6"/>
  </p:sldMasterIdLst>
  <p:notesMasterIdLst>
    <p:notesMasterId xmlns:r="http://schemas.openxmlformats.org/officeDocument/2006/relationships" r:id="Rfe63af6d2f174f08"/>
  </p:notesMasterIdLst>
  <p:sldIdLst>
    <p:sldId xmlns:r="http://schemas.openxmlformats.org/officeDocument/2006/relationships" id="256" r:id="R02336e14c40b459c"/>
    <p:sldId xmlns:r="http://schemas.openxmlformats.org/officeDocument/2006/relationships" id="257" r:id="R20524ca6498a4ce1"/>
    <p:sldId xmlns:r="http://schemas.openxmlformats.org/officeDocument/2006/relationships" id="258" r:id="Rf4a4d8cdd7814cf4"/>
    <p:sldId xmlns:r="http://schemas.openxmlformats.org/officeDocument/2006/relationships" id="259" r:id="R25c44995582b4093"/>
    <p:sldId xmlns:r="http://schemas.openxmlformats.org/officeDocument/2006/relationships" id="260" r:id="Rc2fb1c9932a24927"/>
    <p:sldId xmlns:r="http://schemas.openxmlformats.org/officeDocument/2006/relationships" id="261" r:id="Rbf71bc6599ce4d87"/>
    <p:sldId xmlns:r="http://schemas.openxmlformats.org/officeDocument/2006/relationships" id="262" r:id="R445b035fd5224bee"/>
    <p:sldId xmlns:r="http://schemas.openxmlformats.org/officeDocument/2006/relationships" id="263" r:id="R1a499f51a4b94975"/>
    <p:sldId xmlns:r="http://schemas.openxmlformats.org/officeDocument/2006/relationships" id="264" r:id="R3ee9f27e82b843cd"/>
    <p:sldId xmlns:r="http://schemas.openxmlformats.org/officeDocument/2006/relationships" id="265" r:id="Rba98481418064e9f"/>
    <p:sldId xmlns:r="http://schemas.openxmlformats.org/officeDocument/2006/relationships" id="266" r:id="R7d4073276f6b49b8"/>
    <p:sldId xmlns:r="http://schemas.openxmlformats.org/officeDocument/2006/relationships" id="267" r:id="Ra89a8f8db067448d"/>
    <p:sldId xmlns:r="http://schemas.openxmlformats.org/officeDocument/2006/relationships" id="268" r:id="R3527e0ecc19e40b5"/>
    <p:sldId xmlns:r="http://schemas.openxmlformats.org/officeDocument/2006/relationships" id="269" r:id="Rf9cbea549eb0438a"/>
    <p:sldId xmlns:r="http://schemas.openxmlformats.org/officeDocument/2006/relationships" id="270" r:id="Rda932cfdd74e472e"/>
    <p:sldId xmlns:r="http://schemas.openxmlformats.org/officeDocument/2006/relationships" id="271" r:id="R1c38f2d36f7d477d"/>
    <p:sldId xmlns:r="http://schemas.openxmlformats.org/officeDocument/2006/relationships" id="272" r:id="R6cfbedace76a4d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9eb3be683c414d" /><Relationship Type="http://schemas.openxmlformats.org/officeDocument/2006/relationships/slideMaster" Target="/ppt/slideMasters/slideMaster1.xml" Id="R4a51adad813442b6" /><Relationship Type="http://schemas.openxmlformats.org/officeDocument/2006/relationships/notesMaster" Target="/ppt/notesMasters/notesMaster1.xml" Id="Rfe63af6d2f174f08" /><Relationship Type="http://schemas.openxmlformats.org/officeDocument/2006/relationships/presProps" Target="/ppt/presProps.xml" Id="Rf35522b79b8e45d1" /><Relationship Type="http://schemas.openxmlformats.org/officeDocument/2006/relationships/tableStyles" Target="/ppt/tableStyles.xml" Id="R71e2484f6195480d" /><Relationship Type="http://schemas.openxmlformats.org/officeDocument/2006/relationships/slide" Target="/ppt/slides/slide1.xml" Id="R02336e14c40b459c" /><Relationship Type="http://schemas.openxmlformats.org/officeDocument/2006/relationships/slide" Target="/ppt/slides/slide2.xml" Id="R20524ca6498a4ce1" /><Relationship Type="http://schemas.openxmlformats.org/officeDocument/2006/relationships/slide" Target="/ppt/slides/slide3.xml" Id="Rf4a4d8cdd7814cf4" /><Relationship Type="http://schemas.openxmlformats.org/officeDocument/2006/relationships/slide" Target="/ppt/slides/slide4.xml" Id="R25c44995582b4093" /><Relationship Type="http://schemas.openxmlformats.org/officeDocument/2006/relationships/slide" Target="/ppt/slides/slide5.xml" Id="Rc2fb1c9932a24927" /><Relationship Type="http://schemas.openxmlformats.org/officeDocument/2006/relationships/slide" Target="/ppt/slides/slide6.xml" Id="Rbf71bc6599ce4d87" /><Relationship Type="http://schemas.openxmlformats.org/officeDocument/2006/relationships/slide" Target="/ppt/slides/slide7.xml" Id="R445b035fd5224bee" /><Relationship Type="http://schemas.openxmlformats.org/officeDocument/2006/relationships/slide" Target="/ppt/slides/slide8.xml" Id="R1a499f51a4b94975" /><Relationship Type="http://schemas.openxmlformats.org/officeDocument/2006/relationships/slide" Target="/ppt/slides/slide9.xml" Id="R3ee9f27e82b843cd" /><Relationship Type="http://schemas.openxmlformats.org/officeDocument/2006/relationships/slide" Target="/ppt/slides/slide10.xml" Id="Rba98481418064e9f" /><Relationship Type="http://schemas.openxmlformats.org/officeDocument/2006/relationships/slide" Target="/ppt/slides/slide11.xml" Id="R7d4073276f6b49b8" /><Relationship Type="http://schemas.openxmlformats.org/officeDocument/2006/relationships/slide" Target="/ppt/slides/slide12.xml" Id="Ra89a8f8db067448d" /><Relationship Type="http://schemas.openxmlformats.org/officeDocument/2006/relationships/slide" Target="/ppt/slides/slide13.xml" Id="R3527e0ecc19e40b5" /><Relationship Type="http://schemas.openxmlformats.org/officeDocument/2006/relationships/slide" Target="/ppt/slides/slide14.xml" Id="Rf9cbea549eb0438a" /><Relationship Type="http://schemas.openxmlformats.org/officeDocument/2006/relationships/slide" Target="/ppt/slides/slide15.xml" Id="Rda932cfdd74e472e" /><Relationship Type="http://schemas.openxmlformats.org/officeDocument/2006/relationships/slide" Target="/ppt/slides/slide16.xml" Id="R1c38f2d36f7d477d" /><Relationship Type="http://schemas.openxmlformats.org/officeDocument/2006/relationships/slide" Target="/ppt/slides/slide17.xml" Id="R6cfbedace76a4d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0b8e618e4346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48fd5f5dd4f9b" /><Relationship Type="http://schemas.openxmlformats.org/officeDocument/2006/relationships/notesMaster" Target="/ppt/notesMasters/notesMaster1.xml" Id="R0500500b537f41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86966595104006" /><Relationship Type="http://schemas.openxmlformats.org/officeDocument/2006/relationships/notesMaster" Target="/ppt/notesMasters/notesMaster1.xml" Id="R1cc61a307f3f4b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14f3b5e1134a90" /><Relationship Type="http://schemas.openxmlformats.org/officeDocument/2006/relationships/notesMaster" Target="/ppt/notesMasters/notesMaster1.xml" Id="Rd309f1cf249f42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fe700da5a40f5" /><Relationship Type="http://schemas.openxmlformats.org/officeDocument/2006/relationships/notesMaster" Target="/ppt/notesMasters/notesMaster1.xml" Id="R3669f4c0df8240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d233d6b7f843bf" /><Relationship Type="http://schemas.openxmlformats.org/officeDocument/2006/relationships/notesMaster" Target="/ppt/notesMasters/notesMaster1.xml" Id="Rfbbaf42e0c1a45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bf877f967f4fa8" /><Relationship Type="http://schemas.openxmlformats.org/officeDocument/2006/relationships/notesMaster" Target="/ppt/notesMasters/notesMaster1.xml" Id="R639459fcef8e4b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2d1a48d6444b06" /><Relationship Type="http://schemas.openxmlformats.org/officeDocument/2006/relationships/notesMaster" Target="/ppt/notesMasters/notesMaster1.xml" Id="R4a11d824f82148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9fdf52991748bd" /><Relationship Type="http://schemas.openxmlformats.org/officeDocument/2006/relationships/notesMaster" Target="/ppt/notesMasters/notesMaster1.xml" Id="Ra7e5cc85fba34e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a1fe4de9e741a8" /><Relationship Type="http://schemas.openxmlformats.org/officeDocument/2006/relationships/notesMaster" Target="/ppt/notesMasters/notesMaster1.xml" Id="R91e82c9205604f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ae881505634476" /><Relationship Type="http://schemas.openxmlformats.org/officeDocument/2006/relationships/notesMaster" Target="/ppt/notesMasters/notesMaster1.xml" Id="R70432868737145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4b874c5d784324" /><Relationship Type="http://schemas.openxmlformats.org/officeDocument/2006/relationships/notesMaster" Target="/ppt/notesMasters/notesMaster1.xml" Id="Re47ca6fac88644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e33172c5084182" /><Relationship Type="http://schemas.openxmlformats.org/officeDocument/2006/relationships/notesMaster" Target="/ppt/notesMasters/notesMaster1.xml" Id="R20079eec39cf47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4b0df2849640ea" /><Relationship Type="http://schemas.openxmlformats.org/officeDocument/2006/relationships/notesMaster" Target="/ppt/notesMasters/notesMaster1.xml" Id="R769a05bd48ec47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c20621b8dd4a28" /><Relationship Type="http://schemas.openxmlformats.org/officeDocument/2006/relationships/notesMaster" Target="/ppt/notesMasters/notesMaster1.xml" Id="R052e8b3adf7444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194fa0105f4c32" /><Relationship Type="http://schemas.openxmlformats.org/officeDocument/2006/relationships/notesMaster" Target="/ppt/notesMasters/notesMaster1.xml" Id="R55ea9c8dc68a40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85b815c6314b60" /><Relationship Type="http://schemas.openxmlformats.org/officeDocument/2006/relationships/notesMaster" Target="/ppt/notesMasters/notesMaster1.xml" Id="Rc12976b4b32d41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943648d8a340c8" /><Relationship Type="http://schemas.openxmlformats.org/officeDocument/2006/relationships/notesMaster" Target="/ppt/notesMasters/notesMaster1.xml" Id="R73bd2000371540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founder-supplied daVIRA_Pitch_Deck.pdf (17 pages), current local project and founder clarification on 18 September 2026. Latest scope: intelligence software, proprietary trading, market making. Target price $10/month. QuantInsti role: internship. No funding ask.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4995aa2c146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7629041540408c" /><Relationship Type="http://schemas.openxmlformats.org/officeDocument/2006/relationships/slideLayout" Target="/ppt/slideLayouts/slideLayout1.xml" Id="Re0743b85aeba45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743b85aeba45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3a15ee4134a07" /><Relationship Type="http://schemas.openxmlformats.org/officeDocument/2006/relationships/notesSlide" Target="/ppt/notesSlides/notesSlide1.xml" Id="R142aaa5bad5b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7103c66c343b6" /><Relationship Type="http://schemas.openxmlformats.org/officeDocument/2006/relationships/notesSlide" Target="/ppt/notesSlides/notesSlide2.xml" Id="R998bd90f3b814c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4c2f436514993" /><Relationship Type="http://schemas.openxmlformats.org/officeDocument/2006/relationships/notesSlide" Target="/ppt/notesSlides/notesSlide3.xml" Id="R82436edfeaa0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6589fdf62419d" /><Relationship Type="http://schemas.openxmlformats.org/officeDocument/2006/relationships/notesSlide" Target="/ppt/notesSlides/notesSlide4.xml" Id="Ra9387fd0cadc47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1d95b26e24ad0" /><Relationship Type="http://schemas.openxmlformats.org/officeDocument/2006/relationships/notesSlide" Target="/ppt/notesSlides/notesSlide5.xml" Id="Ra3bea8821a9540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c3a749ef44128" /><Relationship Type="http://schemas.openxmlformats.org/officeDocument/2006/relationships/notesSlide" Target="/ppt/notesSlides/notesSlide6.xml" Id="R38d5c9e1cd3e4a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61bea2e1d4163" /><Relationship Type="http://schemas.openxmlformats.org/officeDocument/2006/relationships/notesSlide" Target="/ppt/notesSlides/notesSlide7.xml" Id="R0c0aa54f925146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62941219a43ad" /><Relationship Type="http://schemas.openxmlformats.org/officeDocument/2006/relationships/notesSlide" Target="/ppt/notesSlides/notesSlide8.xml" Id="R2444ab9e81fd46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c76f07f084da6" /><Relationship Type="http://schemas.openxmlformats.org/officeDocument/2006/relationships/notesSlide" Target="/ppt/notesSlides/notesSlide9.xml" Id="Rb2bf9e63399542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9ff6253af405d" /><Relationship Type="http://schemas.openxmlformats.org/officeDocument/2006/relationships/notesSlide" Target="/ppt/notesSlides/notesSlide10.xml" Id="Rd26c7e22f9c547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f92e7d56b48a0" /><Relationship Type="http://schemas.openxmlformats.org/officeDocument/2006/relationships/notesSlide" Target="/ppt/notesSlides/notesSlide11.xml" Id="R7c0fe478ef1a43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3b88947344279" /><Relationship Type="http://schemas.openxmlformats.org/officeDocument/2006/relationships/notesSlide" Target="/ppt/notesSlides/notesSlide12.xml" Id="R89be36f04a0647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d394fcd1d4521" /><Relationship Type="http://schemas.openxmlformats.org/officeDocument/2006/relationships/notesSlide" Target="/ppt/notesSlides/notesSlide13.xml" Id="R4a2396cf57304d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65b0c2fc24af1" /><Relationship Type="http://schemas.openxmlformats.org/officeDocument/2006/relationships/notesSlide" Target="/ppt/notesSlides/notesSlide14.xml" Id="R116ff73c798644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2eee6d0b245d6" /><Relationship Type="http://schemas.openxmlformats.org/officeDocument/2006/relationships/notesSlide" Target="/ppt/notesSlides/notesSlide15.xml" Id="Rf0ef2a9f2e7446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316ba6a2b4c53" /><Relationship Type="http://schemas.openxmlformats.org/officeDocument/2006/relationships/notesSlide" Target="/ppt/notesSlides/notesSlide16.xml" Id="R293b6424c25e49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36e53501e45d0" /><Relationship Type="http://schemas.openxmlformats.org/officeDocument/2006/relationships/notesSlide" Target="/ppt/notesSlides/notesSlide17.xml" Id="Rdb2518cd4f884c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F69E6-F0B9-4E5C-9F01-04039F17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5CBFC-B112-48B6-8EA0-6457393D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83DB9-0793-4F68-AAEF-197BF2BE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PRODUCT &amp; COMPANY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0E9D-1035-4D67-94FA-02780FE0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On-chain intelligence</a:t>
            </a:r>
          </a:p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for global crypto markets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52603-C1D9-4068-B43E-B218E4A7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Built in India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814BA-61F5-48BC-90D3-5A0D8BCF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001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Wallet research today. Proprietary trading and market making as the long-term direction.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1C46B-383C-46CB-A711-A05C7FA4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Vivek Gautam   /   Founder</a:t>
            </a:r>
          </a:p>
        </p:txBody>
      </p:sp>
    </p:spTree>
    <p:extLst>
      <p:ext uri="{BB962C8B-B14F-4D97-AF65-F5344CB8AC3E}">
        <p14:creationId xmlns:p14="http://schemas.microsoft.com/office/powerpoint/2010/main" val="940957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629C0-6E3B-4A1B-8BDB-AA39F2D2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629FA-24B8-4089-A50F-6C792906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40DB5-D421-49C7-A3CD-8F2A8C55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EXECUTIVE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A798C-17D3-43BE-9071-ED3ED64B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business begins with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9644-EA23-4B03-B19D-D7E9C11E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D9451-FFCD-430C-9CAA-C678B1A8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Explain wallet activity, position flows and token-specific trading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7CC77-A81C-4552-BF57-0F7054B4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AF229-D80D-4F6B-AF15-608F51D9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Independent traders, research teams and proprietary trading firms.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AD4EC-22A7-4E42-A47A-2920BD26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5F701-1EC9-43D1-9ACF-7290930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Validate a subscription product before expanding into trading with firm capital.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142C1-A376-467D-8551-AE42AD2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Working local prototype. Commercial demand and predictive performance remain to be validated.</a:t>
            </a:r>
          </a:p>
        </p:txBody>
      </p:sp>
    </p:spTree>
    <p:extLst>
      <p:ext uri="{BB962C8B-B14F-4D97-AF65-F5344CB8AC3E}">
        <p14:creationId xmlns:p14="http://schemas.microsoft.com/office/powerpoint/2010/main" val="857648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FC83C-A9F8-4736-B8D1-C400048D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D6FBB-188E-40D2-BA07-747941D1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686C8-3289-4DEC-A44F-F516CE0B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CUSTOMER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26256-1AD6-4C63-9BEE-EAB6A46E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Different users. A common research burden.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973C3-C95B-4818-93B3-01F39F47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Traders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FC480-9D9A-437A-BA21-8A97A175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Find relevant wallets without confusing headline PnL with repeatable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E2C60-5A69-43A0-953C-7271BDAE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Quant researchers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CBCEF-BB21-4B15-B913-1FD632EB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Inspect complete trade samples and test sensitivity to execution costs.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F736C-2166-4279-B9EE-1F3589AE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Trading desks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871A5-2C99-4B6E-B94E-21AB2CD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Trace positioning changes to source wallets and understand concentration.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88BE1-9CBA-4E24-B062-2C8BA560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Customer needs are product hypotheses for pilot validation.</a:t>
            </a:r>
          </a:p>
        </p:txBody>
      </p:sp>
    </p:spTree>
    <p:extLst>
      <p:ext uri="{BB962C8B-B14F-4D97-AF65-F5344CB8AC3E}">
        <p14:creationId xmlns:p14="http://schemas.microsoft.com/office/powerpoint/2010/main" val="18225573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7C5D5-CA11-47B6-AD35-B7D943A7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CAA26-322D-4BE4-B6BF-FC9D29E7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45A53-03BC-4D04-B270-92B321D7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POSITION-FLOW ATTRIBUTION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839F0-7D4D-41F9-849C-92AC39FD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A buy can open a long or close a short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26FDB-9F85-4673-965D-233C58C3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Long inflow / outflow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F3945-F5C9-47F8-BC0A-CFAE7FD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Separate new long exposure from closed longs.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8B01E-AC41-4F75-B6C3-AE08C8F3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Short inflow / outflow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38BEA-8513-49DB-965F-27512B7B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Separate new short exposure from short covering.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7DD57-BCC1-483F-90C0-8A7C265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Wallet attribution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FCCB1-D74E-4DCE-96E2-E96F0553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Inspect the addresses behind each coin’s flow and test the largest contributor’s influence.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DF90F-7C52-4B1D-AF45-F4E2D14C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Perpetual position notional measures trading exposure, not collateral deposits or spot demand.</a:t>
            </a:r>
          </a:p>
        </p:txBody>
      </p:sp>
    </p:spTree>
    <p:extLst>
      <p:ext uri="{BB962C8B-B14F-4D97-AF65-F5344CB8AC3E}">
        <p14:creationId xmlns:p14="http://schemas.microsoft.com/office/powerpoint/2010/main" val="1627220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DCD50-4CFD-4BA3-9BAF-F520F2D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E9AFB-7146-4E58-ADC1-F9B836A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36AB6-16FA-484F-B554-72512574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WALLET 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C3F39-D05A-4616-A826-044537D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A relevant record for each token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14266-D3E1-4556-954C-DB86676E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Wallet screening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42AB5-2749-4711-A559-4E7DBC76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Address lookup, reported PnL, account coverage and reconstructed trading 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1DA9E-E8FC-402B-B38D-BCD1F252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Token specialists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032BE-E5AC-49F7-8E75-6CADC491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Coin-level win rate, profit factor, drawdown and complete trade 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8CF19-13BB-4ED2-BD75-18CF8A46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Observed history can be incomplete. Current account status and historical skill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7861001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97CEE-1E18-4A32-8427-7761AA41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1DC30-DBF5-473D-A136-7E057FA5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2C47A-BF84-47D2-8DCF-29F6625A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EXECUTION REALISM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4C0A4-CE13-45F1-83CB-DD32659A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Copy research starts with eligibility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0F384-FA8F-46C5-815F-C239169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66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0 / 5 / 10 / 25 bps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6E621-C02F-48D3-B0FC-13389E29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Additional execution-cost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3C69E-0454-4249-BDC0-E0CA8512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Performance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F9250-FC45-40DD-B28F-10B755E3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000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Positive reported 30-day and all-time PnL, sufficient history and consistency.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417BB-EBCF-490E-BAD1-6A82F3EB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00575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Execution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DF1CD-136D-48D1-A7E6-91810EF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67300"/>
            <a:ext cx="5000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Recent activity, funded accounts, holding periods and cost resilience.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B0041-3FD3-46FD-89B3-FE9F1B4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Paper copying only. Cost scenarios do not establish real-world replicability.</a:t>
            </a:r>
          </a:p>
        </p:txBody>
      </p:sp>
    </p:spTree>
    <p:extLst>
      <p:ext uri="{BB962C8B-B14F-4D97-AF65-F5344CB8AC3E}">
        <p14:creationId xmlns:p14="http://schemas.microsoft.com/office/powerpoint/2010/main" val="335683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353DA-EAD7-4931-8DAB-7D761289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3DE7A-0A85-4316-82FA-C8D2E09E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B2CB6-DCAB-4879-8DDA-73193A0B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CURRENT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562EB-2EE4-4254-BE7F-4423D7C8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Cross-asset research within covered venues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36A1A-6B89-4E9C-8E50-554E0C7F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Crypto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13ABE-2F4B-47BD-8480-1821C966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Major and smaller perpetual markets with source-linked wallet activity.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09EB1-EBA5-43B6-8F8F-42EAF062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Equity and index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8AC7C-B993-45EA-8CC2-7742600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Covered builder-DEX derivatives alongside main-DEX positions.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FAD07-448F-43F6-8B45-4BC67BFE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Commodities and FX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C7F9B-3A35-4FEF-B0EC-49F4AC4E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Classified instruments and RWA activity in the indexed sample.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BAA33-3EA8-42FC-BC3A-E293CF2C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Derivative exposure does not imply ownership of stocks or commodities. Coverage is not the whole market.</a:t>
            </a:r>
          </a:p>
        </p:txBody>
      </p:sp>
    </p:spTree>
    <p:extLst>
      <p:ext uri="{BB962C8B-B14F-4D97-AF65-F5344CB8AC3E}">
        <p14:creationId xmlns:p14="http://schemas.microsoft.com/office/powerpoint/2010/main" val="899036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13852-DA33-4B42-B3FC-1D1B46F2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1D47C-E503-4C3A-AB9A-0DFB1DDA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4475-33A7-435E-97C5-9787FD3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POSITIONING COMPASS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C272B-E388-46CF-9B10-01360C98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Direction and evidence are separate scores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F46AE-8CB9-4E77-941A-380E55A5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45%</a:t>
            </a:r>
          </a:p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New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7F6C9-0142-4EE0-801E-6C3D2062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Opening balance between long and short positions.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B863F-1067-49C3-9D5F-927F9075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35%</a:t>
            </a:r>
          </a:p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Token specialists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067FA-E81C-436E-9F52-8709BC4D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Bounded wallet votes backed by relevant token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CBD28-9673-4EFD-8830-CAE0A04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286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20%</a:t>
            </a:r>
          </a:p>
          <a:p xmlns:a="http://schemas.openxmlformats.org/drawingml/2006/main">
            <a:pPr>
              <a:defRPr sz="24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Execution 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85E90-7D18-4751-AFDF-F8F9269A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90975"/>
            <a:ext cx="3286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Buy and sell activity, including position closures.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25334-5FC9-4716-A4EC-75473E28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Long bias, short bias, neutral or wait. Weak or conflicting evidence forces wait. Heuristic, not proven alpha.</a:t>
            </a:r>
          </a:p>
        </p:txBody>
      </p:sp>
    </p:spTree>
    <p:extLst>
      <p:ext uri="{BB962C8B-B14F-4D97-AF65-F5344CB8AC3E}">
        <p14:creationId xmlns:p14="http://schemas.microsoft.com/office/powerpoint/2010/main" val="211573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11A65-F06D-439D-A201-D67F9918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85CBA-D6E4-4165-B705-21E6DB21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8AEE9-6115-4B0A-841A-42C24DE1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IMPLEMENTATION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8B4E1-EC16-4266-BE9A-9D41E471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A local product with explicit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19412-058D-410A-AFD4-711CC0E5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C97A2-D37F-427F-A3BF-17B64E3A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Wallet and token research, flows, market briefs, event context, reports and alerts.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B367F-34F5-4499-A8CA-84D14BBA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Data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EFD24-F768-4648-8EA6-9084AF8C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Direct Hyperliquid APIs, selected live streams and a bounded local execution archive.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E10FF-A733-4CEA-B2B6-32A8F26A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Not yet launched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B8D79-5711-4E77-869B-D0B097A6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Hosted subscriptions, live copy execution, multi-chain collection and the LLM copilot.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F2826-1B7A-4D27-9BD9-0E5F151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The discovery leaderboard and fully analysed wallets are different populations. No latency guarantee is claimed.</a:t>
            </a:r>
          </a:p>
        </p:txBody>
      </p:sp>
    </p:spTree>
    <p:extLst>
      <p:ext uri="{BB962C8B-B14F-4D97-AF65-F5344CB8AC3E}">
        <p14:creationId xmlns:p14="http://schemas.microsoft.com/office/powerpoint/2010/main" val="390088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27CB4-D96F-4371-B389-E6F946CD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CF273-E39F-404F-97C3-CBAA499E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DAA11-EA31-4640-846C-C85A67D1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INTELLIGENCE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DB621-04FE-4D60-8C0E-EF62AEDF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Planned research into wallet behaviour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410A2-B8CD-4A8B-905F-47E1B33C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Pre-move positioning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C3353-8E9F-49A6-95D6-50DDF56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Study wallets that repeatedly build positions before large market moves.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34DE7-1254-4C6A-A63D-235C8576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Wallet continuity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7E768-905E-4CC0-AFD5-D8FDCC92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Investigate possible destination addresses after observable capital movements.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823FF-2E74-478C-B67F-B99A996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Evidence first: timing does not prove privileged information, and a transfer does not prove common ownership.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9BF6B-A7EA-4E31-AC30-BBED59E9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Both capabilities are planned research. No front-running execution or identity claim.</a:t>
            </a:r>
          </a:p>
        </p:txBody>
      </p:sp>
    </p:spTree>
    <p:extLst>
      <p:ext uri="{BB962C8B-B14F-4D97-AF65-F5344CB8AC3E}">
        <p14:creationId xmlns:p14="http://schemas.microsoft.com/office/powerpoint/2010/main" val="514578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F02F7-0F31-45FB-A5C4-14FB302E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DEF87-308D-44AE-96FB-3739D5D0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95E0F-5ADD-416C-BF31-5A73084B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PLANNED LLM COPILOT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04EF6-EA70-4CA3-B0B4-6D16E2C6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Research, one prompt 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6CDB8-F9A9-4DE5-926B-E79D391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763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“Which ETH specialists opened new longs</a:t>
            </a:r>
          </a:p>
          <a:p xmlns:a="http://schemas.openxmlformats.org/drawingml/2006/main">
            <a:pPr>
              <a:defRPr sz="3075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and still have a strong record after costs?”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22635-2377-4A9F-8D48-31B51A88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Structured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31F3B-D0FD-43D3-9E14-9B599DC3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Translate the request into validated filters over permitted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59508-32A6-4F51-8824-5BD86B5F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Traceable answers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99FFB-A08D-49CC-97BE-2D5FD438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864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Return source wallets, timestamps, calculations and missing-data warnings.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46DD7-1170-4D67-B609-3A454643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Read-only research first. No invented metrics or automatic trade execution.</a:t>
            </a:r>
          </a:p>
        </p:txBody>
      </p:sp>
    </p:spTree>
    <p:extLst>
      <p:ext uri="{BB962C8B-B14F-4D97-AF65-F5344CB8AC3E}">
        <p14:creationId xmlns:p14="http://schemas.microsoft.com/office/powerpoint/2010/main" val="259357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4427F-33DC-437D-907C-AF15928E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634FC-D0EA-43E7-8EDF-BD89B7E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4FC2A-A20E-4AC3-A1B9-7C652162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PLANNED EXPANSION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08602-43C4-4807-956A-E7F2D49B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Broader on-chain activity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4A31F-0AD4-4035-B3FA-4DAA042B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More venues and chains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83209-4B47-42E1-A220-5338DEC5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Prioritise supported public data based on pilot demand and collection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CCF1C-9057-4488-A136-28437D5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More activity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E0567-9840-405F-A539-05C4A17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Extend research into transfers, liquidity changes and positions with clear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478F6-E3B8-476F-8E4D-5F9BE9F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Comparable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EFCEC-CF3B-4A05-8D04-360226A6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Normalise instruments, timestamps and coverage without hiding data gaps.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71B21-FB23-4B06-898C-A74E8A6B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Whole-chain visibility is a long-term objective, not a current completeness claim.</a:t>
            </a:r>
          </a:p>
        </p:txBody>
      </p:sp>
    </p:spTree>
    <p:extLst>
      <p:ext uri="{BB962C8B-B14F-4D97-AF65-F5344CB8AC3E}">
        <p14:creationId xmlns:p14="http://schemas.microsoft.com/office/powerpoint/2010/main" val="1196961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68549-75C2-4BB0-8121-9BD2E042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C8B2D-9255-43AE-870C-28D2B2D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86E55-DC08-4EF6-B6AC-BFC89660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COMMERCIAL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84723-81F9-425D-B110-2DB49E5F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A focused subscription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1B25C-EA2E-4E94-B35B-84DB52F2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90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2998B-BEE4-446F-8784-F3B7DAD1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per month</a:t>
            </a:r>
          </a:p>
          <a:p xmlns:a="http://schemas.openxmlformats.org/drawingml/2006/main">
            <a:pPr>
              <a:defRPr sz="22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Target individual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636D8-3FC6-4F84-B209-E89B4FAD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CB8B4-B607-48BA-BF3E-BD960A3E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41D69-2AE9-4A62-B918-EBCD517D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19425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Team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DF318-F657-43E6-AFE7-FB1BB4E9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0050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Shared research, exports and API access are potential extensions after pilot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F03B5-A4F2-4C03-B438-CEA962EE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Target pricing. Billing, paying-customer traction and enterprise pricing are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2853270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97EBA-920E-44DD-BDD9-E1CD3E5C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0D4E1-E016-43F3-9551-5F464902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9EFA0-9A06-488A-8B0E-A787FD13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COMPANY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EAE0F-0E76-4B5A-8980-250BF8CA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Three phases. Clear launch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36E71-E5DD-4D60-8D21-ADD6E089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01  Intelligence 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6AFB0-8593-4AC4-9FFE-3E566186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Prove usefulness, repeat usage and sustainable delivery costs.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82923-6C50-4EDB-9E25-A1797614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02  Proprietary trading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9199C-801A-47FD-A247-FE6471C9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Validate strategies after costs and introduce controlled firm-capital exposure.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70691-CF72-44D4-9A3C-C680780A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03  Market making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1F186-2E60-49FB-87D3-5732A806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Build resilient quoting, inventory management and venue relationships.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D196C-D936-47AA-90D2-90879BC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No separate infrastructure-provider phase. Progress depends on evidence, capability and capital.</a:t>
            </a:r>
          </a:p>
        </p:txBody>
      </p:sp>
    </p:spTree>
    <p:extLst>
      <p:ext uri="{BB962C8B-B14F-4D97-AF65-F5344CB8AC3E}">
        <p14:creationId xmlns:p14="http://schemas.microsoft.com/office/powerpoint/2010/main" val="20132009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76470-298C-459F-8D68-DA12200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27C91-FECD-4E29-B4B5-08372238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96DDB-0019-4C4A-917C-2E5B12FE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PHASES 2 AND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C3BBC-E830-48B5-8E18-746EC03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Trading businesses require their own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27ABA-CA6A-4DEC-B1DF-889F2A4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Proprietary trading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AE3C7-A568-495C-9344-845A623A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Research patterns and inefficiencies. Forward-test strategies and apply exposure and loss limits.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B1DCD-6660-48DF-907E-68EA670D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099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Market making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4FE41-CBCC-41FB-A3BE-17ECD834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9097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Develop two-sided quoting and inventory controls. Evaluate adverse selection, hedging and venue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121BD-0035-46CF-BD82-7213056B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The ambition draws inspiration from Wintermute. No affiliation, comparable scale or guaranteed returns is claimed.</a:t>
            </a:r>
          </a:p>
        </p:txBody>
      </p:sp>
    </p:spTree>
    <p:extLst>
      <p:ext uri="{BB962C8B-B14F-4D97-AF65-F5344CB8AC3E}">
        <p14:creationId xmlns:p14="http://schemas.microsoft.com/office/powerpoint/2010/main" val="14090061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B2CC2-0957-45DF-ACD9-D7A323C7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64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2F825-CEF2-46E5-94CF-F863AAA0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D0715-120A-4B85-9CC3-0503A8D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76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764F"/>
                </a:solidFill>
                <a:latin typeface="Arial"/>
                <a:ea typeface="Arial"/>
                <a:cs typeface="Arial"/>
              </a:rPr>
              <a:t>PRODUCT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BE609-F475-4D6A-A6A3-B2CCBADE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The next measurable milestones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D09CD-8A47-4096-A1A1-A8D6586E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Coverage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DEEFD-B092-4318-BE07-98C9A22A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Measure freshness, data gaps, complete histories and cost per active user.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9F193-1A3B-40EC-B02F-4AD24A4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Research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D86ED-628A-410A-A569-5B93AF4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Record forward results, false signals and execution-cost sensitivity.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514F1-0876-4597-B8F8-39A2DED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C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C2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5F662-CE69-4A28-8CC5-57D034A7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701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Run a trader and prop-desk pilot. Measure repeated use and willingness to pay.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D61C7-C32F-4191-8623-DDBA08B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5B"/>
                </a:solidFill>
                <a:latin typeface="Arial"/>
                <a:ea typeface="Arial"/>
                <a:cs typeface="Arial"/>
              </a:rPr>
              <a:t>Hosted readiness also requires security, user isolation and recovery testing.</a:t>
            </a:r>
          </a:p>
        </p:txBody>
      </p:sp>
    </p:spTree>
    <p:extLst>
      <p:ext uri="{BB962C8B-B14F-4D97-AF65-F5344CB8AC3E}">
        <p14:creationId xmlns:p14="http://schemas.microsoft.com/office/powerpoint/2010/main" val="6390000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7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14F27-5582-423E-823B-E252A43C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daVIRA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856DF-E0B8-46B0-A068-FB1D8872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44F00-929C-4BDC-AA30-BE3F1306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E89F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37ABF-571E-49F5-AE7B-16FF0E50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1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E7F0E6"/>
                </a:solidFill>
                <a:latin typeface="Arial"/>
                <a:ea typeface="Arial"/>
                <a:cs typeface="Arial"/>
              </a:rPr>
              <a:t>Vivek Gautam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A68CD-C9BE-4A95-ABDA-53094CCD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66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Formerly at GoQuant</a:t>
            </a:r>
          </a:p>
          <a:p xmlns:a="http://schemas.openxmlformats.org/drawingml/2006/main">
            <a:pPr>
              <a:defRPr sz="24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Former intern at QuantInsti</a:t>
            </a:r>
          </a:p>
          <a:p xmlns:a="http://schemas.openxmlformats.org/drawingml/2006/main">
            <a:pPr>
              <a:defRPr sz="2475" b="0">
                <a:solidFill>
                  <a:srgbClr val="E7F0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7F0E6"/>
                </a:solidFill>
                <a:latin typeface="Arial"/>
                <a:ea typeface="Arial"/>
                <a:cs typeface="Arial"/>
              </a:rPr>
              <a:t>Currently an analyst at a crypto firm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7B789-758C-4473-9933-781087A8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763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Transparent crypto research,</a:t>
            </a:r>
          </a:p>
          <a:p xmlns:a="http://schemas.openxmlformats.org/drawingml/2006/main">
            <a:pPr>
              <a:defRPr sz="3000" b="1">
                <a:solidFill>
                  <a:srgbClr val="C5E89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5E89F"/>
                </a:solidFill>
                <a:latin typeface="Arial"/>
                <a:ea typeface="Arial"/>
                <a:cs typeface="Arial"/>
              </a:rPr>
              <a:t>built in India for global users.</a:t>
            </a:r>
          </a:p>
        </p:txBody>
      </p:sp>
    </p:spTree>
    <p:extLst>
      <p:ext uri="{BB962C8B-B14F-4D97-AF65-F5344CB8AC3E}">
        <p14:creationId xmlns:p14="http://schemas.microsoft.com/office/powerpoint/2010/main" val="255118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2026-09-17T19:25:29.7660000Z</dcterms:created>
  <dcterms:modified xsi:type="dcterms:W3CDTF">2026-09-17T19:25:29.7660000Z</dcterms:modified>
</coreProperties>
</file>